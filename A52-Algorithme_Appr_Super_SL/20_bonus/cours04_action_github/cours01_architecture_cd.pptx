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sldIdLst>
    <p:sldId id="256" r:id="rId2"/>
    <p:sldId id="284" r:id="rId3"/>
    <p:sldId id="299" r:id="rId4"/>
    <p:sldId id="300" r:id="rId5"/>
    <p:sldId id="301" r:id="rId6"/>
    <p:sldId id="302" r:id="rId7"/>
    <p:sldId id="303" r:id="rId8"/>
    <p:sldId id="287" r:id="rId9"/>
    <p:sldId id="258" r:id="rId10"/>
    <p:sldId id="261" r:id="rId11"/>
    <p:sldId id="288" r:id="rId12"/>
    <p:sldId id="289" r:id="rId13"/>
    <p:sldId id="291" r:id="rId14"/>
    <p:sldId id="259" r:id="rId15"/>
    <p:sldId id="290" r:id="rId16"/>
    <p:sldId id="260" r:id="rId17"/>
    <p:sldId id="293" r:id="rId18"/>
    <p:sldId id="262" r:id="rId19"/>
    <p:sldId id="263" r:id="rId20"/>
    <p:sldId id="264" r:id="rId21"/>
    <p:sldId id="265" r:id="rId22"/>
    <p:sldId id="281" r:id="rId23"/>
    <p:sldId id="297" r:id="rId24"/>
    <p:sldId id="266" r:id="rId25"/>
    <p:sldId id="282" r:id="rId26"/>
    <p:sldId id="283" r:id="rId27"/>
    <p:sldId id="298" r:id="rId28"/>
    <p:sldId id="285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0000"/>
                </a:solidFill>
                <a:latin typeface="Segoe UI Semibold" panose="020B07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Semibold" panose="020B0702040204020203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9218" name="AutoShape 2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0" name="AutoShape 4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2" name="AutoShape 6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4" name="AutoShape 8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915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173" y="152400"/>
            <a:ext cx="11800113" cy="849086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rgbClr val="FF0000"/>
                </a:solidFill>
                <a:latin typeface="Segoe UI Semibold" panose="020B07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3200" y="1132115"/>
            <a:ext cx="11785600" cy="499404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FontTx/>
              <a:buBlip>
                <a:blip r:embed="rId2"/>
              </a:buBlip>
              <a:defRPr sz="2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8747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1" y="6496050"/>
            <a:ext cx="12192000" cy="363538"/>
          </a:xfrm>
          <a:prstGeom prst="rect">
            <a:avLst/>
          </a:prstGeom>
          <a:solidFill>
            <a:srgbClr val="02298A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r" defTabSz="762000">
              <a:defRPr/>
            </a:pPr>
            <a:endParaRPr lang="fr-FR" sz="1800">
              <a:solidFill>
                <a:schemeClr val="bg1"/>
              </a:solidFill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1" y="6524625"/>
            <a:ext cx="706967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 defTabSz="762000">
              <a:defRPr/>
            </a:pPr>
            <a:fld id="{97861B19-198E-4651-B084-5D19FA2DF438}" type="slidenum">
              <a:rPr lang="fr-FR" sz="1600">
                <a:solidFill>
                  <a:schemeClr val="bg1"/>
                </a:solidFill>
                <a:cs typeface="Arial" pitchFamily="34" charset="0"/>
              </a:rPr>
              <a:pPr algn="l" defTabSz="762000">
                <a:defRPr/>
              </a:pPr>
              <a:t>‹#›</a:t>
            </a:fld>
            <a:endParaRPr lang="fr-FR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641350" y="6464301"/>
            <a:ext cx="11550649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6BB16-E908-4DFD-9624-BF128234D38D}" type="datetime1">
              <a:rPr lang="fr-FR" sz="1600">
                <a:solidFill>
                  <a:schemeClr val="bg1"/>
                </a:solidFill>
                <a:latin typeface="Segoe WP Semibold" panose="020B0702040204020203" pitchFamily="34" charset="0"/>
                <a:cs typeface="Segoe WP Semibold" panose="020B0702040204020203" pitchFamily="34" charset="0"/>
              </a:rPr>
              <a:pPr marL="0" marR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07/02/2021</a:t>
            </a:fld>
            <a:r>
              <a:rPr lang="fr-FR" sz="1600" dirty="0">
                <a:solidFill>
                  <a:schemeClr val="bg1"/>
                </a:solidFill>
                <a:latin typeface="Segoe WP Semibold" panose="020B0702040204020203" pitchFamily="34" charset="0"/>
                <a:cs typeface="Segoe WP Semibold" panose="020B0702040204020203" pitchFamily="34" charset="0"/>
              </a:rPr>
              <a:t>    </a:t>
            </a:r>
            <a:r>
              <a:rPr lang="fr-FR" sz="1600" dirty="0" err="1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Ecosysteme</a:t>
            </a:r>
            <a:r>
              <a:rPr lang="fr-FR" sz="160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ML 420-A57-BB</a:t>
            </a:r>
            <a:r>
              <a:rPr lang="fr-FR" sz="1600" b="1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</a:t>
            </a:r>
            <a:r>
              <a:rPr lang="fr-FR" sz="1600" b="1" dirty="0">
                <a:solidFill>
                  <a:schemeClr val="bg1"/>
                </a:solidFill>
                <a:latin typeface="Segoe WP Semibold" panose="020B0702040204020203" pitchFamily="34" charset="0"/>
                <a:cs typeface="Segoe WP Semibold" panose="020B0702040204020203" pitchFamily="34" charset="0"/>
              </a:rPr>
              <a:t>- Hafed Benteftifa</a:t>
            </a:r>
            <a:r>
              <a:rPr lang="fr-FR" sz="1600" b="1" dirty="0">
                <a:solidFill>
                  <a:schemeClr val="bg1"/>
                </a:solidFill>
                <a:latin typeface="Tw Cen MT Condensed" pitchFamily="34" charset="0"/>
              </a:rPr>
              <a:t> ©</a:t>
            </a:r>
          </a:p>
          <a:p>
            <a:pPr algn="r" defTabSz="762000">
              <a:defRPr/>
            </a:pPr>
            <a:endParaRPr lang="fr-FR" sz="1600" b="1" dirty="0">
              <a:solidFill>
                <a:schemeClr val="bg1"/>
              </a:solidFill>
              <a:latin typeface="Tw Cen MT Condensed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26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lflow.org/docs/latest/tutorial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oreillystatic.com/en/assets/1/event/292/Continuous%20intelligence_%20Moving%20machine%20learning%20into%20production%20reliably%20Presentation.pdf" TargetMode="External"/><Relationship Id="rId2" Type="http://schemas.openxmlformats.org/officeDocument/2006/relationships/hyperlink" Target="https://stacktoheap.com/blog/2018/11/19/mlflow-model-repository-ci-c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gurus.tech/posts/2019/06/mlflow-production-setup/" TargetMode="External"/><Relationship Id="rId4" Type="http://schemas.openxmlformats.org/officeDocument/2006/relationships/hyperlink" Target="http://blog.innodatalabs.com/automating-ml-training-with-jenkins-pipelines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Architecture </a:t>
            </a:r>
            <a:br>
              <a:rPr lang="en-CA" dirty="0"/>
            </a:br>
            <a:r>
              <a:rPr lang="en-CA" dirty="0" err="1"/>
              <a:t>Développement-Déploiement</a:t>
            </a:r>
            <a:r>
              <a:rPr lang="en-CA" dirty="0"/>
              <a:t> ML</a:t>
            </a:r>
            <a:endParaRPr lang="fr-CA" dirty="0"/>
          </a:p>
        </p:txBody>
      </p:sp>
      <p:sp>
        <p:nvSpPr>
          <p:cNvPr id="3" name="ZoneTexte 2"/>
          <p:cNvSpPr txBox="1"/>
          <p:nvPr/>
        </p:nvSpPr>
        <p:spPr>
          <a:xfrm>
            <a:off x="633046" y="5950634"/>
            <a:ext cx="174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Version oct 2021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0943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cette</a:t>
            </a:r>
            <a:r>
              <a:rPr lang="en-CA" dirty="0"/>
              <a:t> </a:t>
            </a:r>
            <a:r>
              <a:rPr lang="en-CA" dirty="0" err="1"/>
              <a:t>présentation</a:t>
            </a:r>
            <a:r>
              <a:rPr lang="en-CA" dirty="0"/>
              <a:t>, on </a:t>
            </a:r>
            <a:r>
              <a:rPr lang="en-CA" dirty="0" err="1"/>
              <a:t>passe</a:t>
            </a:r>
            <a:r>
              <a:rPr lang="en-CA" dirty="0"/>
              <a:t> en revue les points </a:t>
            </a:r>
            <a:r>
              <a:rPr lang="en-CA" dirty="0" err="1"/>
              <a:t>suivants</a:t>
            </a:r>
            <a:endParaRPr lang="en-CA" dirty="0"/>
          </a:p>
          <a:p>
            <a:pPr lvl="1"/>
            <a:r>
              <a:rPr lang="en-CA" dirty="0"/>
              <a:t>Principe de </a:t>
            </a:r>
            <a:r>
              <a:rPr lang="en-CA" dirty="0" err="1"/>
              <a:t>l’integration</a:t>
            </a:r>
            <a:r>
              <a:rPr lang="en-CA" dirty="0"/>
              <a:t> continue</a:t>
            </a:r>
          </a:p>
          <a:p>
            <a:pPr lvl="1"/>
            <a:r>
              <a:rPr lang="en-CA" dirty="0" err="1"/>
              <a:t>Principes</a:t>
            </a:r>
            <a:r>
              <a:rPr lang="en-CA" dirty="0"/>
              <a:t> de mise </a:t>
            </a:r>
            <a:r>
              <a:rPr lang="en-CA" dirty="0" err="1"/>
              <a:t>en</a:t>
            </a:r>
            <a:r>
              <a:rPr lang="en-CA" dirty="0"/>
              <a:t> production </a:t>
            </a:r>
            <a:r>
              <a:rPr lang="en-CA" dirty="0" err="1"/>
              <a:t>en</a:t>
            </a:r>
            <a:r>
              <a:rPr lang="en-CA" dirty="0"/>
              <a:t> continue</a:t>
            </a:r>
          </a:p>
          <a:p>
            <a:pPr lvl="1"/>
            <a:r>
              <a:rPr lang="en-CA" dirty="0" err="1"/>
              <a:t>Problèmes</a:t>
            </a:r>
            <a:endParaRPr lang="fr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 anchor="t"/>
          <a:lstStyle/>
          <a:p>
            <a:r>
              <a:rPr lang="fr-FR" altLang="fr-FR">
                <a:solidFill>
                  <a:srgbClr val="990000"/>
                </a:solidFill>
              </a:rPr>
              <a:t>Intégration continue: problèmes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olidFill>
            <a:srgbClr val="FFFFFF"/>
          </a:solidFill>
        </p:spPr>
        <p:txBody>
          <a:bodyPr/>
          <a:lstStyle/>
          <a:p>
            <a:pPr algn="l" eaLnBrk="1" hangingPunct="1">
              <a:buFont typeface="Arial" panose="020B0604020202020204" pitchFamily="34" charset="0"/>
              <a:buChar char="•"/>
            </a:pPr>
            <a:r>
              <a:rPr lang="fr-FR" altLang="fr-FR" b="1"/>
              <a:t>Cycles de développement traditionnels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fr-FR" altLang="fr-FR"/>
              <a:t>L’intégration est assez longue et difficile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fr-FR" altLang="fr-FR"/>
              <a:t>Progrès du projet est difficile en terme de visibilité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fr-FR" altLang="fr-FR"/>
              <a:t>Incidents ou bugs sont difficiles à cerner et régler</a:t>
            </a:r>
          </a:p>
          <a:p>
            <a:pPr algn="l"/>
            <a:endParaRPr lang="fr-FR" altLang="fr-FR"/>
          </a:p>
        </p:txBody>
      </p:sp>
      <p:sp>
        <p:nvSpPr>
          <p:cNvPr id="5124" name="Espace réservé du pied de page 3"/>
          <p:cNvSpPr>
            <a:spLocks noGrp="1"/>
          </p:cNvSpPr>
          <p:nvPr>
            <p:ph type="ft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A" altLang="fr-FR" sz="1200" dirty="0"/>
          </a:p>
        </p:txBody>
      </p:sp>
    </p:spTree>
    <p:extLst>
      <p:ext uri="{BB962C8B-B14F-4D97-AF65-F5344CB8AC3E}">
        <p14:creationId xmlns:p14="http://schemas.microsoft.com/office/powerpoint/2010/main" val="428532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>
                <a:solidFill>
                  <a:srgbClr val="990000"/>
                </a:solidFill>
              </a:rPr>
              <a:t>Intégration continue: les composantes</a:t>
            </a:r>
            <a:endParaRPr lang="fr-CA" altLang="fr-FR">
              <a:solidFill>
                <a:srgbClr val="990000"/>
              </a:solidFill>
            </a:endParaRPr>
          </a:p>
        </p:txBody>
      </p:sp>
      <p:sp>
        <p:nvSpPr>
          <p:cNvPr id="6148" name="Rectangle 3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Arial" panose="020B0604020202020204" pitchFamily="34" charset="0"/>
            </a:endParaRPr>
          </a:p>
        </p:txBody>
      </p:sp>
      <p:grpSp>
        <p:nvGrpSpPr>
          <p:cNvPr id="6149" name="Group 6"/>
          <p:cNvGrpSpPr>
            <a:grpSpLocks noChangeAspect="1"/>
          </p:cNvGrpSpPr>
          <p:nvPr/>
        </p:nvGrpSpPr>
        <p:grpSpPr bwMode="auto">
          <a:xfrm>
            <a:off x="2068513" y="1433513"/>
            <a:ext cx="8528050" cy="5046998"/>
            <a:chOff x="2265" y="8594"/>
            <a:chExt cx="9883" cy="5643"/>
          </a:xfrm>
        </p:grpSpPr>
        <p:sp>
          <p:nvSpPr>
            <p:cNvPr id="45" name="AutoShape 17">
              <a:extLst>
                <a:ext uri="{FF2B5EF4-FFF2-40B4-BE49-F238E27FC236}">
                  <a16:creationId xmlns:a16="http://schemas.microsoft.com/office/drawing/2014/main" id="{8D2DA3CE-B093-4F95-9346-06D6F16F2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0" y="13464"/>
              <a:ext cx="1177" cy="773"/>
            </a:xfrm>
            <a:prstGeom prst="flowChartPredefined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Arial" panose="020B0604020202020204" pitchFamily="34" charset="0"/>
              </a:endParaRPr>
            </a:p>
          </p:txBody>
        </p:sp>
        <p:sp>
          <p:nvSpPr>
            <p:cNvPr id="6150" name="Text Box 7"/>
            <p:cNvSpPr txBox="1">
              <a:spLocks noChangeArrowheads="1"/>
            </p:cNvSpPr>
            <p:nvPr/>
          </p:nvSpPr>
          <p:spPr bwMode="auto">
            <a:xfrm>
              <a:off x="9519" y="11465"/>
              <a:ext cx="1357" cy="5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Déploiement manuel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51" name="Text Box 36"/>
            <p:cNvSpPr txBox="1">
              <a:spLocks noChangeArrowheads="1"/>
            </p:cNvSpPr>
            <p:nvPr/>
          </p:nvSpPr>
          <p:spPr bwMode="auto">
            <a:xfrm>
              <a:off x="7497" y="8594"/>
              <a:ext cx="1575" cy="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Serveur d’intégration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52" name="Text Box 35"/>
            <p:cNvSpPr txBox="1">
              <a:spLocks noChangeArrowheads="1"/>
            </p:cNvSpPr>
            <p:nvPr/>
          </p:nvSpPr>
          <p:spPr bwMode="auto">
            <a:xfrm>
              <a:off x="6165" y="11926"/>
              <a:ext cx="871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>
                  <a:latin typeface="Arial" panose="020B0604020202020204" pitchFamily="34" charset="0"/>
                </a:rPr>
                <a:t>Poll</a:t>
              </a:r>
              <a:endParaRPr lang="fr-FR" altLang="fr-FR" sz="1800">
                <a:latin typeface="Arial" panose="020B0604020202020204" pitchFamily="34" charset="0"/>
              </a:endParaRPr>
            </a:p>
          </p:txBody>
        </p:sp>
        <p:sp>
          <p:nvSpPr>
            <p:cNvPr id="6153" name="Text Box 34"/>
            <p:cNvSpPr txBox="1">
              <a:spLocks noChangeArrowheads="1"/>
            </p:cNvSpPr>
            <p:nvPr/>
          </p:nvSpPr>
          <p:spPr bwMode="auto">
            <a:xfrm>
              <a:off x="2265" y="12453"/>
              <a:ext cx="915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>
                  <a:latin typeface="Arial" panose="020B0604020202020204" pitchFamily="34" charset="0"/>
                </a:rPr>
                <a:t>DEV</a:t>
              </a:r>
              <a:endParaRPr lang="fr-FR" altLang="fr-FR" sz="1800">
                <a:latin typeface="Arial" panose="020B0604020202020204" pitchFamily="34" charset="0"/>
              </a:endParaRPr>
            </a:p>
          </p:txBody>
        </p:sp>
        <p:cxnSp>
          <p:nvCxnSpPr>
            <p:cNvPr id="6154" name="AutoShape 33"/>
            <p:cNvCxnSpPr>
              <a:cxnSpLocks noChangeShapeType="1"/>
            </p:cNvCxnSpPr>
            <p:nvPr/>
          </p:nvCxnSpPr>
          <p:spPr bwMode="auto">
            <a:xfrm>
              <a:off x="3076" y="10778"/>
              <a:ext cx="1614" cy="10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6155" name="Picture 32" descr="j04247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7" y="9092"/>
              <a:ext cx="1199" cy="1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6" name="Picture 31" descr="j042479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6" y="11803"/>
              <a:ext cx="1348" cy="1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7" name="Picture 30" descr="j042479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6" y="11803"/>
              <a:ext cx="1348" cy="1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8" name="Picture 2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" y="10399"/>
              <a:ext cx="757" cy="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9" name="Picture 2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8" y="11695"/>
              <a:ext cx="758" cy="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60" name="Picture 2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8" y="12815"/>
              <a:ext cx="758" cy="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161" name="AutoShape 26"/>
            <p:cNvCxnSpPr>
              <a:cxnSpLocks noChangeShapeType="1"/>
            </p:cNvCxnSpPr>
            <p:nvPr/>
          </p:nvCxnSpPr>
          <p:spPr bwMode="auto">
            <a:xfrm flipV="1">
              <a:off x="3076" y="12331"/>
              <a:ext cx="1710" cy="8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2" name="AutoShape 25"/>
            <p:cNvCxnSpPr>
              <a:cxnSpLocks noChangeShapeType="1"/>
            </p:cNvCxnSpPr>
            <p:nvPr/>
          </p:nvCxnSpPr>
          <p:spPr bwMode="auto">
            <a:xfrm>
              <a:off x="3076" y="12074"/>
              <a:ext cx="161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3" name="AutoShape 24"/>
            <p:cNvCxnSpPr>
              <a:cxnSpLocks noChangeShapeType="1"/>
            </p:cNvCxnSpPr>
            <p:nvPr/>
          </p:nvCxnSpPr>
          <p:spPr bwMode="auto">
            <a:xfrm flipH="1">
              <a:off x="6211" y="12452"/>
              <a:ext cx="52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4" name="AutoShape 23"/>
            <p:cNvCxnSpPr>
              <a:cxnSpLocks noChangeShapeType="1"/>
            </p:cNvCxnSpPr>
            <p:nvPr/>
          </p:nvCxnSpPr>
          <p:spPr bwMode="auto">
            <a:xfrm>
              <a:off x="8416" y="12743"/>
              <a:ext cx="626" cy="3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5" name="AutoShape 22"/>
            <p:cNvCxnSpPr>
              <a:cxnSpLocks noChangeShapeType="1"/>
            </p:cNvCxnSpPr>
            <p:nvPr/>
          </p:nvCxnSpPr>
          <p:spPr bwMode="auto">
            <a:xfrm flipV="1">
              <a:off x="7635" y="9795"/>
              <a:ext cx="0" cy="17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6" name="AutoShape 21"/>
            <p:cNvCxnSpPr>
              <a:cxnSpLocks noChangeShapeType="1"/>
            </p:cNvCxnSpPr>
            <p:nvPr/>
          </p:nvCxnSpPr>
          <p:spPr bwMode="auto">
            <a:xfrm flipH="1">
              <a:off x="6855" y="9795"/>
              <a:ext cx="7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7" name="AutoShape 20"/>
            <p:cNvCxnSpPr>
              <a:cxnSpLocks noChangeShapeType="1"/>
            </p:cNvCxnSpPr>
            <p:nvPr/>
          </p:nvCxnSpPr>
          <p:spPr bwMode="auto">
            <a:xfrm flipV="1">
              <a:off x="2640" y="9270"/>
              <a:ext cx="0" cy="8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8" name="AutoShape 19"/>
            <p:cNvCxnSpPr>
              <a:cxnSpLocks noChangeShapeType="1"/>
            </p:cNvCxnSpPr>
            <p:nvPr/>
          </p:nvCxnSpPr>
          <p:spPr bwMode="auto">
            <a:xfrm>
              <a:off x="2640" y="9270"/>
              <a:ext cx="27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70" name="AutoShape 17"/>
            <p:cNvSpPr>
              <a:spLocks noChangeArrowheads="1"/>
            </p:cNvSpPr>
            <p:nvPr/>
          </p:nvSpPr>
          <p:spPr bwMode="auto">
            <a:xfrm>
              <a:off x="9177" y="12603"/>
              <a:ext cx="1177" cy="773"/>
            </a:xfrm>
            <a:prstGeom prst="flowChartPredefined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Arial" panose="020B0604020202020204" pitchFamily="34" charset="0"/>
              </a:endParaRPr>
            </a:p>
          </p:txBody>
        </p:sp>
        <p:sp>
          <p:nvSpPr>
            <p:cNvPr id="6171" name="Text Box 16"/>
            <p:cNvSpPr txBox="1">
              <a:spLocks noChangeArrowheads="1"/>
            </p:cNvSpPr>
            <p:nvPr/>
          </p:nvSpPr>
          <p:spPr bwMode="auto">
            <a:xfrm>
              <a:off x="3289" y="11610"/>
              <a:ext cx="1031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Commit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72" name="Text Box 15"/>
            <p:cNvSpPr txBox="1">
              <a:spLocks noChangeArrowheads="1"/>
            </p:cNvSpPr>
            <p:nvPr/>
          </p:nvSpPr>
          <p:spPr bwMode="auto">
            <a:xfrm>
              <a:off x="4786" y="13350"/>
              <a:ext cx="1425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Gestionnaire</a:t>
              </a:r>
              <a:br>
                <a:rPr lang="fr-FR" altLang="fr-FR" sz="1100" b="1" dirty="0">
                  <a:solidFill>
                    <a:srgbClr val="FF0000"/>
                  </a:solidFill>
                  <a:latin typeface="Arial" panose="020B0604020202020204" pitchFamily="34" charset="0"/>
                </a:rPr>
              </a:br>
              <a:r>
                <a:rPr lang="fr-FR" altLang="fr-FR" sz="11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de code source</a:t>
              </a:r>
              <a:endParaRPr lang="fr-FR" altLang="fr-FR" sz="18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73" name="Text Box 14"/>
            <p:cNvSpPr txBox="1">
              <a:spLocks noChangeArrowheads="1"/>
            </p:cNvSpPr>
            <p:nvPr/>
          </p:nvSpPr>
          <p:spPr bwMode="auto">
            <a:xfrm>
              <a:off x="6855" y="13350"/>
              <a:ext cx="1079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Serveur CI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74" name="Text Box 13"/>
            <p:cNvSpPr txBox="1">
              <a:spLocks noChangeArrowheads="1"/>
            </p:cNvSpPr>
            <p:nvPr/>
          </p:nvSpPr>
          <p:spPr bwMode="auto">
            <a:xfrm>
              <a:off x="5537" y="10455"/>
              <a:ext cx="1331" cy="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Système notification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75" name="Text Box 12"/>
            <p:cNvSpPr txBox="1">
              <a:spLocks noChangeArrowheads="1"/>
            </p:cNvSpPr>
            <p:nvPr/>
          </p:nvSpPr>
          <p:spPr bwMode="auto">
            <a:xfrm>
              <a:off x="9349" y="12678"/>
              <a:ext cx="751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dirty="0">
                  <a:latin typeface="Arial" panose="020B0604020202020204" pitchFamily="34" charset="0"/>
                </a:rPr>
                <a:t>Scripts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dirty="0" err="1">
                  <a:latin typeface="Arial" panose="020B0604020202020204" pitchFamily="34" charset="0"/>
                </a:rPr>
                <a:t>Build</a:t>
              </a:r>
              <a:endParaRPr lang="fr-FR" altLang="fr-FR" sz="1800" dirty="0">
                <a:latin typeface="Arial" panose="020B0604020202020204" pitchFamily="34" charset="0"/>
              </a:endParaRPr>
            </a:p>
          </p:txBody>
        </p:sp>
        <p:sp>
          <p:nvSpPr>
            <p:cNvPr id="6176" name="Text Box 11"/>
            <p:cNvSpPr txBox="1">
              <a:spLocks noChangeArrowheads="1"/>
            </p:cNvSpPr>
            <p:nvPr/>
          </p:nvSpPr>
          <p:spPr bwMode="auto">
            <a:xfrm>
              <a:off x="2265" y="11205"/>
              <a:ext cx="915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>
                  <a:latin typeface="Arial" panose="020B0604020202020204" pitchFamily="34" charset="0"/>
                </a:rPr>
                <a:t>DEV</a:t>
              </a:r>
              <a:endParaRPr lang="fr-FR" altLang="fr-FR" sz="1800">
                <a:latin typeface="Arial" panose="020B0604020202020204" pitchFamily="34" charset="0"/>
              </a:endParaRPr>
            </a:p>
          </p:txBody>
        </p:sp>
        <p:sp>
          <p:nvSpPr>
            <p:cNvPr id="6177" name="AutoShape 10"/>
            <p:cNvSpPr>
              <a:spLocks noChangeArrowheads="1"/>
            </p:cNvSpPr>
            <p:nvPr/>
          </p:nvSpPr>
          <p:spPr bwMode="auto">
            <a:xfrm rot="840000">
              <a:off x="4052" y="10107"/>
              <a:ext cx="1272" cy="1430"/>
            </a:xfrm>
            <a:prstGeom prst="curvedLeftArrow">
              <a:avLst>
                <a:gd name="adj1" fmla="val 22823"/>
                <a:gd name="adj2" fmla="val 42382"/>
                <a:gd name="adj3" fmla="val 47806"/>
              </a:avLst>
            </a:prstGeom>
            <a:solidFill>
              <a:srgbClr val="007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Arial" panose="020B0604020202020204" pitchFamily="34" charset="0"/>
              </a:endParaRPr>
            </a:p>
          </p:txBody>
        </p:sp>
        <p:pic>
          <p:nvPicPr>
            <p:cNvPr id="6178" name="Picture 9" descr="j042479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0" y="8739"/>
              <a:ext cx="1348" cy="1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179" name="AutoShape 8"/>
            <p:cNvCxnSpPr>
              <a:cxnSpLocks noChangeShapeType="1"/>
            </p:cNvCxnSpPr>
            <p:nvPr/>
          </p:nvCxnSpPr>
          <p:spPr bwMode="auto">
            <a:xfrm flipV="1">
              <a:off x="7905" y="9795"/>
              <a:ext cx="900" cy="17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80" name="Text Box 7"/>
            <p:cNvSpPr txBox="1">
              <a:spLocks noChangeArrowheads="1"/>
            </p:cNvSpPr>
            <p:nvPr/>
          </p:nvSpPr>
          <p:spPr bwMode="auto">
            <a:xfrm>
              <a:off x="8671" y="10186"/>
              <a:ext cx="1357" cy="5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Déploiement automatisé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6181" name="Picture 9" descr="j042479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7" y="10107"/>
              <a:ext cx="887" cy="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82" name="Picture 9" descr="j042479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61" y="11305"/>
              <a:ext cx="887" cy="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183" name="AutoShape 8"/>
            <p:cNvCxnSpPr>
              <a:cxnSpLocks noChangeShapeType="1"/>
            </p:cNvCxnSpPr>
            <p:nvPr/>
          </p:nvCxnSpPr>
          <p:spPr bwMode="auto">
            <a:xfrm flipV="1">
              <a:off x="8162" y="11225"/>
              <a:ext cx="2290" cy="6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84" name="Text Box 36"/>
            <p:cNvSpPr txBox="1">
              <a:spLocks noChangeArrowheads="1"/>
            </p:cNvSpPr>
            <p:nvPr/>
          </p:nvSpPr>
          <p:spPr bwMode="auto">
            <a:xfrm>
              <a:off x="10823" y="9707"/>
              <a:ext cx="947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Serveur </a:t>
              </a:r>
              <a:b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</a:b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test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85" name="Text Box 36"/>
            <p:cNvSpPr txBox="1">
              <a:spLocks noChangeArrowheads="1"/>
            </p:cNvSpPr>
            <p:nvPr/>
          </p:nvSpPr>
          <p:spPr bwMode="auto">
            <a:xfrm>
              <a:off x="10912" y="12343"/>
              <a:ext cx="1236" cy="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Serveur </a:t>
              </a:r>
              <a:b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</a:br>
              <a:r>
                <a:rPr lang="fr-FR" altLang="fr-FR" sz="1100" b="1">
                  <a:solidFill>
                    <a:srgbClr val="FF0000"/>
                  </a:solidFill>
                  <a:latin typeface="Arial" panose="020B0604020202020204" pitchFamily="34" charset="0"/>
                </a:rPr>
                <a:t>production</a:t>
              </a:r>
              <a:endParaRPr lang="fr-FR" altLang="fr-FR" sz="18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86" name="Text Box 12"/>
            <p:cNvSpPr txBox="1">
              <a:spLocks noChangeArrowheads="1"/>
            </p:cNvSpPr>
            <p:nvPr/>
          </p:nvSpPr>
          <p:spPr bwMode="auto">
            <a:xfrm>
              <a:off x="8213" y="13536"/>
              <a:ext cx="829" cy="4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100" dirty="0">
                  <a:latin typeface="Arial" panose="020B0604020202020204" pitchFamily="34" charset="0"/>
                </a:rPr>
                <a:t>Tests unitaires</a:t>
              </a:r>
              <a:endParaRPr lang="fr-FR" altLang="fr-FR" sz="1800" dirty="0">
                <a:latin typeface="Arial" panose="020B0604020202020204" pitchFamily="34" charset="0"/>
              </a:endParaRPr>
            </a:p>
          </p:txBody>
        </p:sp>
        <p:cxnSp>
          <p:nvCxnSpPr>
            <p:cNvPr id="6188" name="AutoShape 23"/>
            <p:cNvCxnSpPr>
              <a:cxnSpLocks noChangeShapeType="1"/>
            </p:cNvCxnSpPr>
            <p:nvPr/>
          </p:nvCxnSpPr>
          <p:spPr bwMode="auto">
            <a:xfrm>
              <a:off x="8268" y="13080"/>
              <a:ext cx="167" cy="4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4439C36-2253-4E60-8A45-F212D5AA1B2A}"/>
              </a:ext>
            </a:extLst>
          </p:cNvPr>
          <p:cNvCxnSpPr/>
          <p:nvPr/>
        </p:nvCxnSpPr>
        <p:spPr bwMode="auto">
          <a:xfrm>
            <a:off x="3072930" y="3107349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85376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/>
              <a:t>Intégration continue: bénéfices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altLang="fr-FR"/>
              <a:t>Processus d’intégration souple</a:t>
            </a:r>
          </a:p>
          <a:p>
            <a:r>
              <a:rPr lang="fr-CA" altLang="fr-FR"/>
              <a:t>Test de régression automatique</a:t>
            </a:r>
          </a:p>
          <a:p>
            <a:r>
              <a:rPr lang="fr-CA" altLang="fr-FR"/>
              <a:t>Release du produit régulière</a:t>
            </a:r>
          </a:p>
          <a:p>
            <a:r>
              <a:rPr lang="fr-CA" altLang="fr-FR"/>
              <a:t>Test fonctionnel assez tôt dans le cycle</a:t>
            </a:r>
          </a:p>
          <a:p>
            <a:r>
              <a:rPr lang="fr-CA" altLang="fr-FR"/>
              <a:t>Résolution des bugs rapide</a:t>
            </a:r>
          </a:p>
          <a:p>
            <a:r>
              <a:rPr lang="fr-CA" altLang="fr-FR"/>
              <a:t>Visibilité du projet </a:t>
            </a:r>
          </a:p>
        </p:txBody>
      </p:sp>
    </p:spTree>
    <p:extLst>
      <p:ext uri="{BB962C8B-B14F-4D97-AF65-F5344CB8AC3E}">
        <p14:creationId xmlns:p14="http://schemas.microsoft.com/office/powerpoint/2010/main" val="105465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/>
              <a:t>Pour démarrer en IC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altLang="fr-FR" dirty="0"/>
              <a:t>Processus de </a:t>
            </a:r>
            <a:r>
              <a:rPr lang="fr-CA" altLang="fr-FR" dirty="0" err="1"/>
              <a:t>build</a:t>
            </a:r>
            <a:r>
              <a:rPr lang="fr-CA" altLang="fr-FR" dirty="0"/>
              <a:t> automatique  </a:t>
            </a:r>
          </a:p>
          <a:p>
            <a:r>
              <a:rPr lang="fr-CA" altLang="fr-FR" dirty="0"/>
              <a:t>Tests automatiques  </a:t>
            </a:r>
          </a:p>
          <a:p>
            <a:r>
              <a:rPr lang="fr-CA" altLang="fr-FR" dirty="0"/>
              <a:t>Référentiel pour le code  / Gestionnaire de code source</a:t>
            </a:r>
          </a:p>
          <a:p>
            <a:r>
              <a:rPr lang="fr-CA" altLang="fr-FR" dirty="0"/>
              <a:t>Serveur d’intégration continue  </a:t>
            </a:r>
          </a:p>
        </p:txBody>
      </p:sp>
    </p:spTree>
    <p:extLst>
      <p:ext uri="{BB962C8B-B14F-4D97-AF65-F5344CB8AC3E}">
        <p14:creationId xmlns:p14="http://schemas.microsoft.com/office/powerpoint/2010/main" val="109365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/>
              <a:t>Intégration continue en quelques mots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altLang="fr-FR" dirty="0"/>
              <a:t>Suivi des problèmes d’intégration</a:t>
            </a:r>
          </a:p>
          <a:p>
            <a:r>
              <a:rPr lang="fr-CA" altLang="fr-FR" dirty="0"/>
              <a:t>Publication automatique des </a:t>
            </a:r>
            <a:r>
              <a:rPr lang="fr-CA" altLang="fr-FR" dirty="0" err="1"/>
              <a:t>artifacts</a:t>
            </a:r>
            <a:r>
              <a:rPr lang="fr-CA" altLang="fr-FR" dirty="0"/>
              <a:t>  </a:t>
            </a:r>
          </a:p>
          <a:p>
            <a:r>
              <a:rPr lang="fr-CA" altLang="fr-FR" dirty="0"/>
              <a:t>Suivi du processus de </a:t>
            </a:r>
            <a:r>
              <a:rPr lang="fr-CA" altLang="fr-FR" u="sng" dirty="0" err="1"/>
              <a:t>build</a:t>
            </a:r>
            <a:endParaRPr lang="fr-CA" altLang="fr-FR" u="sng" dirty="0"/>
          </a:p>
          <a:p>
            <a:r>
              <a:rPr lang="fr-CA" altLang="fr-FR" dirty="0"/>
              <a:t>Suivi et rapport sur la </a:t>
            </a:r>
            <a:r>
              <a:rPr lang="fr-CA" altLang="fr-FR" u="sng" dirty="0"/>
              <a:t>qualité du code</a:t>
            </a:r>
          </a:p>
        </p:txBody>
      </p:sp>
    </p:spTree>
    <p:extLst>
      <p:ext uri="{BB962C8B-B14F-4D97-AF65-F5344CB8AC3E}">
        <p14:creationId xmlns:p14="http://schemas.microsoft.com/office/powerpoint/2010/main" val="192955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Cycle de </a:t>
            </a:r>
            <a:r>
              <a:rPr lang="en-CA" dirty="0" err="1"/>
              <a:t>développement-déploiement</a:t>
            </a:r>
            <a:r>
              <a:rPr lang="en-CA" dirty="0"/>
              <a:t> ML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Collecte</a:t>
            </a:r>
            <a:r>
              <a:rPr lang="en-CA" dirty="0"/>
              <a:t>-Acquisition</a:t>
            </a:r>
          </a:p>
          <a:p>
            <a:r>
              <a:rPr lang="en-CA" dirty="0"/>
              <a:t>Exploration</a:t>
            </a:r>
          </a:p>
          <a:p>
            <a:r>
              <a:rPr lang="en-CA" dirty="0" err="1"/>
              <a:t>Pré-traitement</a:t>
            </a:r>
            <a:endParaRPr lang="en-CA" dirty="0"/>
          </a:p>
          <a:p>
            <a:r>
              <a:rPr lang="en-CA" dirty="0" err="1"/>
              <a:t>Modele</a:t>
            </a:r>
            <a:endParaRPr lang="en-CA" dirty="0"/>
          </a:p>
          <a:p>
            <a:r>
              <a:rPr lang="en-CA" dirty="0" err="1"/>
              <a:t>Mise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production</a:t>
            </a:r>
          </a:p>
          <a:p>
            <a:r>
              <a:rPr lang="en-CA" dirty="0"/>
              <a:t>Utilisation</a:t>
            </a:r>
          </a:p>
          <a:p>
            <a:endParaRPr lang="fr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Comparaison avec cycle du logiciel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Les modèles qu’on doit déployer doivent être:</a:t>
            </a:r>
          </a:p>
          <a:p>
            <a:pPr lvl="1"/>
            <a:r>
              <a:rPr lang="fr-CA" dirty="0"/>
              <a:t>Reproductible</a:t>
            </a:r>
          </a:p>
          <a:p>
            <a:pPr lvl="1"/>
            <a:r>
              <a:rPr lang="fr-CA" dirty="0"/>
              <a:t>Testable</a:t>
            </a:r>
          </a:p>
          <a:p>
            <a:pPr lvl="1"/>
            <a:r>
              <a:rPr lang="fr-CA" dirty="0"/>
              <a:t>Peuvent passer un audit</a:t>
            </a:r>
          </a:p>
          <a:p>
            <a:pPr lvl="1"/>
            <a:r>
              <a:rPr lang="fr-CA" dirty="0"/>
              <a:t>Surtout: capable d’</a:t>
            </a:r>
            <a:r>
              <a:rPr lang="fr-CA" dirty="0" err="1"/>
              <a:t>etre</a:t>
            </a:r>
            <a:r>
              <a:rPr lang="fr-CA" dirty="0"/>
              <a:t> continuellement amélioré</a:t>
            </a:r>
          </a:p>
        </p:txBody>
      </p:sp>
    </p:spTree>
    <p:extLst>
      <p:ext uri="{BB962C8B-B14F-4D97-AF65-F5344CB8AC3E}">
        <p14:creationId xmlns:p14="http://schemas.microsoft.com/office/powerpoint/2010/main" val="81307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Problèmes avec cette approche ML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Il </a:t>
            </a:r>
            <a:r>
              <a:rPr lang="en-CA" dirty="0" err="1"/>
              <a:t>n’y</a:t>
            </a:r>
            <a:r>
              <a:rPr lang="en-CA" dirty="0"/>
              <a:t> a pas de solutions standard</a:t>
            </a:r>
          </a:p>
          <a:p>
            <a:pPr lvl="1"/>
            <a:r>
              <a:rPr lang="en-CA" dirty="0" err="1"/>
              <a:t>Chaque</a:t>
            </a:r>
            <a:r>
              <a:rPr lang="en-CA" dirty="0"/>
              <a:t> </a:t>
            </a:r>
            <a:r>
              <a:rPr lang="en-CA" dirty="0" err="1"/>
              <a:t>projet</a:t>
            </a:r>
            <a:r>
              <a:rPr lang="en-CA" dirty="0"/>
              <a:t> a </a:t>
            </a:r>
            <a:r>
              <a:rPr lang="en-CA" dirty="0" err="1"/>
              <a:t>ses</a:t>
            </a:r>
            <a:r>
              <a:rPr lang="en-CA" dirty="0"/>
              <a:t> </a:t>
            </a:r>
            <a:r>
              <a:rPr lang="en-CA" dirty="0" err="1"/>
              <a:t>propres</a:t>
            </a:r>
            <a:r>
              <a:rPr lang="en-CA" dirty="0"/>
              <a:t> </a:t>
            </a:r>
            <a:r>
              <a:rPr lang="en-CA" dirty="0" err="1"/>
              <a:t>contraintes</a:t>
            </a:r>
            <a:endParaRPr lang="en-CA" dirty="0"/>
          </a:p>
          <a:p>
            <a:r>
              <a:rPr lang="en-CA" dirty="0" err="1"/>
              <a:t>Processus</a:t>
            </a:r>
            <a:r>
              <a:rPr lang="en-CA" dirty="0"/>
              <a:t> </a:t>
            </a:r>
            <a:r>
              <a:rPr lang="en-CA" dirty="0" err="1"/>
              <a:t>est</a:t>
            </a:r>
            <a:r>
              <a:rPr lang="en-CA" dirty="0"/>
              <a:t> difficile à tester</a:t>
            </a:r>
          </a:p>
          <a:p>
            <a:r>
              <a:rPr lang="en-CA" dirty="0" err="1"/>
              <a:t>Chaque</a:t>
            </a:r>
            <a:r>
              <a:rPr lang="en-CA" dirty="0"/>
              <a:t> </a:t>
            </a:r>
            <a:r>
              <a:rPr lang="en-CA" dirty="0" err="1"/>
              <a:t>étape</a:t>
            </a:r>
            <a:r>
              <a:rPr lang="en-CA" dirty="0"/>
              <a:t> </a:t>
            </a:r>
            <a:r>
              <a:rPr lang="en-CA" dirty="0" err="1"/>
              <a:t>demande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</a:t>
            </a:r>
            <a:r>
              <a:rPr lang="en-CA" dirty="0" err="1"/>
              <a:t>certaine</a:t>
            </a:r>
            <a:r>
              <a:rPr lang="en-CA" dirty="0"/>
              <a:t> expertise</a:t>
            </a:r>
          </a:p>
          <a:p>
            <a:pPr lvl="1"/>
            <a:r>
              <a:rPr lang="en-CA" dirty="0" err="1"/>
              <a:t>Collecte</a:t>
            </a:r>
            <a:r>
              <a:rPr lang="en-CA" dirty="0"/>
              <a:t>: Data engineer</a:t>
            </a:r>
          </a:p>
          <a:p>
            <a:pPr lvl="1"/>
            <a:r>
              <a:rPr lang="en-CA" dirty="0"/>
              <a:t>Exploration: Stats, </a:t>
            </a:r>
            <a:r>
              <a:rPr lang="en-CA" dirty="0" err="1"/>
              <a:t>Viz</a:t>
            </a:r>
            <a:endParaRPr lang="en-CA" dirty="0"/>
          </a:p>
          <a:p>
            <a:pPr lvl="1"/>
            <a:r>
              <a:rPr lang="en-CA" dirty="0"/>
              <a:t>Etc.</a:t>
            </a:r>
          </a:p>
          <a:p>
            <a:r>
              <a:rPr lang="en-CA" dirty="0" err="1"/>
              <a:t>Amélioration</a:t>
            </a:r>
            <a:r>
              <a:rPr lang="en-CA" dirty="0"/>
              <a:t> </a:t>
            </a:r>
            <a:r>
              <a:rPr lang="en-CA" dirty="0" err="1"/>
              <a:t>d’une</a:t>
            </a:r>
            <a:r>
              <a:rPr lang="en-CA" dirty="0"/>
              <a:t> solution </a:t>
            </a:r>
            <a:r>
              <a:rPr lang="en-CA" dirty="0" err="1"/>
              <a:t>est</a:t>
            </a:r>
            <a:r>
              <a:rPr lang="en-CA" dirty="0"/>
              <a:t> encore plus difficile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8959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Sources de </a:t>
            </a:r>
            <a:r>
              <a:rPr lang="en-CA" dirty="0" err="1"/>
              <a:t>changement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Données</a:t>
            </a:r>
            <a:endParaRPr lang="en-CA" dirty="0"/>
          </a:p>
          <a:p>
            <a:pPr lvl="1"/>
            <a:r>
              <a:rPr lang="en-CA" dirty="0" err="1"/>
              <a:t>Modèle</a:t>
            </a:r>
            <a:r>
              <a:rPr lang="en-CA" dirty="0"/>
              <a:t> de </a:t>
            </a:r>
            <a:r>
              <a:rPr lang="en-CA" dirty="0" err="1"/>
              <a:t>données</a:t>
            </a:r>
            <a:endParaRPr lang="en-CA" dirty="0"/>
          </a:p>
          <a:p>
            <a:pPr lvl="1"/>
            <a:r>
              <a:rPr lang="en-CA" dirty="0"/>
              <a:t>Sources de </a:t>
            </a:r>
            <a:r>
              <a:rPr lang="en-CA" dirty="0" err="1"/>
              <a:t>données</a:t>
            </a:r>
            <a:r>
              <a:rPr lang="en-CA" dirty="0"/>
              <a:t> </a:t>
            </a:r>
            <a:r>
              <a:rPr lang="en-CA" dirty="0" err="1"/>
              <a:t>peuvent</a:t>
            </a:r>
            <a:r>
              <a:rPr lang="en-CA" dirty="0"/>
              <a:t> </a:t>
            </a:r>
            <a:r>
              <a:rPr lang="en-CA" dirty="0" err="1"/>
              <a:t>varier</a:t>
            </a:r>
            <a:r>
              <a:rPr lang="en-CA" dirty="0"/>
              <a:t> </a:t>
            </a:r>
            <a:r>
              <a:rPr lang="en-CA" dirty="0" err="1"/>
              <a:t>dans</a:t>
            </a:r>
            <a:r>
              <a:rPr lang="en-CA" dirty="0"/>
              <a:t> le </a:t>
            </a:r>
            <a:r>
              <a:rPr lang="en-CA" dirty="0" err="1"/>
              <a:t>temos</a:t>
            </a:r>
            <a:endParaRPr lang="en-CA" dirty="0"/>
          </a:p>
          <a:p>
            <a:pPr lvl="1"/>
            <a:r>
              <a:rPr lang="en-CA" dirty="0"/>
              <a:t>Volume/</a:t>
            </a:r>
            <a:r>
              <a:rPr lang="en-CA" dirty="0" err="1"/>
              <a:t>Vitesse</a:t>
            </a:r>
            <a:endParaRPr lang="en-CA" dirty="0"/>
          </a:p>
          <a:p>
            <a:pPr lvl="1"/>
            <a:r>
              <a:rPr lang="en-CA" dirty="0" err="1"/>
              <a:t>etc</a:t>
            </a:r>
            <a:endParaRPr lang="fr-C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Sources de </a:t>
            </a:r>
            <a:r>
              <a:rPr lang="en-CA" dirty="0" err="1"/>
              <a:t>changement</a:t>
            </a:r>
            <a:r>
              <a:rPr lang="en-CA" dirty="0"/>
              <a:t> | suite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Modèle</a:t>
            </a:r>
          </a:p>
          <a:p>
            <a:pPr lvl="1"/>
            <a:r>
              <a:rPr lang="fr-CA" dirty="0"/>
              <a:t>État de l’art change très vite</a:t>
            </a:r>
          </a:p>
          <a:p>
            <a:pPr lvl="1"/>
            <a:r>
              <a:rPr lang="fr-CA" dirty="0"/>
              <a:t>Beaucoup de recherche dans le domaine</a:t>
            </a:r>
          </a:p>
          <a:p>
            <a:pPr lvl="1"/>
            <a:r>
              <a:rPr lang="fr-CA" dirty="0"/>
              <a:t>Performance bonne aujourd’hui n’est pas garantie pour demain!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Sources de </a:t>
            </a:r>
            <a:r>
              <a:rPr lang="en-CA" dirty="0" err="1"/>
              <a:t>changement</a:t>
            </a:r>
            <a:r>
              <a:rPr lang="en-CA" dirty="0"/>
              <a:t> | suite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Code et application pour consommer le </a:t>
            </a:r>
            <a:r>
              <a:rPr lang="fr-CA" dirty="0" err="1"/>
              <a:t>modele</a:t>
            </a:r>
            <a:endParaRPr lang="fr-CA" dirty="0"/>
          </a:p>
          <a:p>
            <a:pPr lvl="1"/>
            <a:r>
              <a:rPr lang="fr-CA" dirty="0"/>
              <a:t>Nouvelle demande de clients usagers</a:t>
            </a:r>
          </a:p>
          <a:p>
            <a:pPr lvl="1"/>
            <a:r>
              <a:rPr lang="fr-CA" dirty="0"/>
              <a:t>Bugs</a:t>
            </a:r>
          </a:p>
          <a:p>
            <a:pPr lvl="1"/>
            <a:r>
              <a:rPr lang="fr-CA" dirty="0"/>
              <a:t>Dépendances qui peuvent changer dans le temps</a:t>
            </a:r>
          </a:p>
          <a:p>
            <a:pPr lvl="1"/>
            <a:r>
              <a:rPr lang="fr-CA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274429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Mise en production continue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La mise en production en continue (</a:t>
            </a:r>
            <a:r>
              <a:rPr lang="fr-CA" dirty="0" err="1"/>
              <a:t>continuous</a:t>
            </a:r>
            <a:r>
              <a:rPr lang="fr-CA" dirty="0"/>
              <a:t> </a:t>
            </a:r>
            <a:r>
              <a:rPr lang="fr-CA" dirty="0" err="1"/>
              <a:t>delivery</a:t>
            </a:r>
            <a:r>
              <a:rPr lang="fr-CA" dirty="0"/>
              <a:t>) permet:</a:t>
            </a:r>
          </a:p>
          <a:p>
            <a:pPr lvl="1"/>
            <a:r>
              <a:rPr lang="fr-CA" dirty="0"/>
              <a:t>De prendre les changements tels que les nouvelles fonctionnalités</a:t>
            </a:r>
          </a:p>
          <a:p>
            <a:pPr lvl="1"/>
            <a:r>
              <a:rPr lang="fr-CA" dirty="0"/>
              <a:t>Bugs, </a:t>
            </a:r>
          </a:p>
          <a:p>
            <a:pPr lvl="1"/>
            <a:r>
              <a:rPr lang="fr-CA" dirty="0"/>
              <a:t>Nouveau data</a:t>
            </a:r>
          </a:p>
          <a:p>
            <a:pPr lvl="1"/>
            <a:r>
              <a:rPr lang="fr-CA" dirty="0"/>
              <a:t>Etc.</a:t>
            </a:r>
          </a:p>
          <a:p>
            <a:r>
              <a:rPr lang="fr-CA" dirty="0"/>
              <a:t>Et les met en production</a:t>
            </a:r>
          </a:p>
          <a:p>
            <a:pPr lvl="1"/>
            <a:r>
              <a:rPr lang="fr-CA" dirty="0"/>
              <a:t>De façon efficace</a:t>
            </a:r>
          </a:p>
          <a:p>
            <a:pPr lvl="1"/>
            <a:r>
              <a:rPr lang="fr-CA" dirty="0"/>
              <a:t>Rapide </a:t>
            </a:r>
          </a:p>
        </p:txBody>
      </p:sp>
    </p:spTree>
    <p:extLst>
      <p:ext uri="{BB962C8B-B14F-4D97-AF65-F5344CB8AC3E}">
        <p14:creationId xmlns:p14="http://schemas.microsoft.com/office/powerpoint/2010/main" val="2278558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Mise en production continue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Principe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Définir et créer un processus répétable et fiable pour la mise en production du modèle</a:t>
            </a:r>
          </a:p>
          <a:p>
            <a:r>
              <a:rPr lang="fr-CA" dirty="0"/>
              <a:t>Permettre d’automatiser la presque totalité du processus</a:t>
            </a:r>
          </a:p>
          <a:p>
            <a:r>
              <a:rPr lang="fr-CA" dirty="0"/>
              <a:t>Permettre de faire un suivi de changement (change control)</a:t>
            </a:r>
          </a:p>
          <a:p>
            <a:r>
              <a:rPr lang="fr-CA" dirty="0"/>
              <a:t>Permettre de garder tous les artefacts dans un gestionnaire d’artefacts</a:t>
            </a:r>
          </a:p>
          <a:p>
            <a:r>
              <a:rPr lang="fr-CA" dirty="0"/>
              <a:t>Suivre et gérer le cycle du modèle de manière </a:t>
            </a:r>
            <a:r>
              <a:rPr lang="fr-CA" dirty="0" err="1"/>
              <a:t>coninue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894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3200" y="5452533"/>
            <a:ext cx="11785600" cy="673631"/>
          </a:xfrm>
        </p:spPr>
        <p:txBody>
          <a:bodyPr/>
          <a:lstStyle/>
          <a:p>
            <a:pPr>
              <a:buNone/>
            </a:pPr>
            <a:r>
              <a:rPr lang="fr-CA" dirty="0"/>
              <a:t>Réf: </a:t>
            </a:r>
            <a:r>
              <a:rPr lang="fr-CA" dirty="0" err="1"/>
              <a:t>Thoughtworks</a:t>
            </a:r>
            <a:r>
              <a:rPr lang="fr-CA" dirty="0"/>
              <a:t> 2019 </a:t>
            </a:r>
            <a:r>
              <a:rPr lang="fr-CA" dirty="0" err="1"/>
              <a:t>Strata</a:t>
            </a:r>
            <a:r>
              <a:rPr lang="fr-CA" dirty="0"/>
              <a:t> data </a:t>
            </a:r>
            <a:r>
              <a:rPr lang="fr-CA" dirty="0" err="1"/>
              <a:t>conference</a:t>
            </a:r>
            <a:r>
              <a:rPr lang="fr-CA" dirty="0"/>
              <a:t> London 2019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42" y="1430337"/>
            <a:ext cx="7576134" cy="31585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Pipeline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3200" y="5554133"/>
            <a:ext cx="11785600" cy="572031"/>
          </a:xfrm>
        </p:spPr>
        <p:txBody>
          <a:bodyPr/>
          <a:lstStyle/>
          <a:p>
            <a:r>
              <a:rPr lang="fr-CA" dirty="0"/>
              <a:t>Réf: </a:t>
            </a:r>
            <a:r>
              <a:rPr lang="fr-CA" dirty="0" err="1"/>
              <a:t>Thoughtworks</a:t>
            </a:r>
            <a:r>
              <a:rPr lang="fr-CA" dirty="0"/>
              <a:t> 2019 </a:t>
            </a:r>
            <a:r>
              <a:rPr lang="fr-CA" dirty="0" err="1"/>
              <a:t>Strata</a:t>
            </a:r>
            <a:r>
              <a:rPr lang="fr-CA" dirty="0"/>
              <a:t> data </a:t>
            </a:r>
            <a:r>
              <a:rPr lang="fr-CA" dirty="0" err="1"/>
              <a:t>conference</a:t>
            </a:r>
            <a:r>
              <a:rPr lang="fr-CA" dirty="0"/>
              <a:t> London 2019</a:t>
            </a:r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1" y="1001486"/>
            <a:ext cx="10397066" cy="425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30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Outils (2019)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3200" y="5621867"/>
            <a:ext cx="11785600" cy="504297"/>
          </a:xfrm>
        </p:spPr>
        <p:txBody>
          <a:bodyPr/>
          <a:lstStyle/>
          <a:p>
            <a:r>
              <a:rPr lang="fr-CA" dirty="0"/>
              <a:t>Réf: </a:t>
            </a:r>
            <a:r>
              <a:rPr lang="fr-CA" dirty="0" err="1"/>
              <a:t>Thoughtworks</a:t>
            </a:r>
            <a:r>
              <a:rPr lang="fr-CA" dirty="0"/>
              <a:t> 2019 </a:t>
            </a:r>
            <a:r>
              <a:rPr lang="fr-CA" dirty="0" err="1"/>
              <a:t>Strata</a:t>
            </a:r>
            <a:r>
              <a:rPr lang="fr-CA" dirty="0"/>
              <a:t> data </a:t>
            </a:r>
            <a:r>
              <a:rPr lang="fr-CA" dirty="0" err="1"/>
              <a:t>conference</a:t>
            </a:r>
            <a:r>
              <a:rPr lang="fr-CA" dirty="0"/>
              <a:t> London 2019</a:t>
            </a:r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3646771"/>
            <a:ext cx="6296025" cy="20002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38" y="976332"/>
            <a:ext cx="6223474" cy="259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03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Outils | go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3200" y="1132115"/>
            <a:ext cx="6197600" cy="4994049"/>
          </a:xfrm>
        </p:spPr>
        <p:txBody>
          <a:bodyPr/>
          <a:lstStyle/>
          <a:p>
            <a:r>
              <a:rPr lang="en-US" i="1" dirty="0"/>
              <a:t>An Open Source Continuous Delivery server to model and </a:t>
            </a:r>
            <a:r>
              <a:rPr lang="en-US" i="1" dirty="0" err="1"/>
              <a:t>visualise</a:t>
            </a:r>
            <a:r>
              <a:rPr lang="en-US" i="1" dirty="0"/>
              <a:t> complex workflows</a:t>
            </a: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96" y="1132115"/>
            <a:ext cx="1409700" cy="7334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45" y="2579110"/>
            <a:ext cx="64198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6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Outil | </a:t>
            </a:r>
            <a:r>
              <a:rPr lang="fr-CA" dirty="0" err="1"/>
              <a:t>mlflow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3200" y="1132115"/>
            <a:ext cx="4209143" cy="4994049"/>
          </a:xfrm>
        </p:spPr>
        <p:txBody>
          <a:bodyPr/>
          <a:lstStyle/>
          <a:p>
            <a:r>
              <a:rPr lang="en-US" i="1" dirty="0"/>
              <a:t>An Open Source platform for managing end-to-end machine learning lifecycle</a:t>
            </a:r>
          </a:p>
          <a:p>
            <a:r>
              <a:rPr lang="en-US" i="1" dirty="0" err="1"/>
              <a:t>Tutoriel</a:t>
            </a:r>
            <a:r>
              <a:rPr lang="en-US" i="1" dirty="0"/>
              <a:t>: </a:t>
            </a:r>
            <a:r>
              <a:rPr lang="fr-CA" dirty="0">
                <a:hlinkClick r:id="rId2"/>
              </a:rPr>
              <a:t>https://mlflow.org/docs/latest/tutorial.html</a:t>
            </a:r>
            <a:endParaRPr lang="fr-CA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417" y="1001486"/>
            <a:ext cx="2324100" cy="8572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14" y="1850572"/>
            <a:ext cx="75723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40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Outil | </a:t>
            </a:r>
            <a:r>
              <a:rPr lang="fr-CA" dirty="0" err="1"/>
              <a:t>Kibana</a:t>
            </a:r>
            <a:endParaRPr lang="fr-CA" dirty="0"/>
          </a:p>
        </p:txBody>
      </p:sp>
      <p:sp>
        <p:nvSpPr>
          <p:cNvPr id="7" name="Espace réservé du contenu 2"/>
          <p:cNvSpPr>
            <a:spLocks noGrp="1"/>
          </p:cNvSpPr>
          <p:nvPr>
            <p:ph idx="1"/>
          </p:nvPr>
        </p:nvSpPr>
        <p:spPr>
          <a:xfrm>
            <a:off x="203200" y="1132115"/>
            <a:ext cx="4209143" cy="4994049"/>
          </a:xfrm>
        </p:spPr>
        <p:txBody>
          <a:bodyPr/>
          <a:lstStyle/>
          <a:p>
            <a:r>
              <a:rPr lang="fr-CA" dirty="0"/>
              <a:t>Open Source web UI to </a:t>
            </a:r>
            <a:r>
              <a:rPr lang="fr-CA" b="1" dirty="0"/>
              <a:t>explore and visualise data sur </a:t>
            </a:r>
            <a:r>
              <a:rPr lang="fr-CA" b="1" dirty="0" err="1"/>
              <a:t>Elasticsearch</a:t>
            </a:r>
            <a:endParaRPr lang="fr-CA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63" y="939688"/>
            <a:ext cx="1257300" cy="123825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682" y="2116139"/>
            <a:ext cx="45434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09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888341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Mise en production | Après 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Comment procéder à un nouveau apprentissage le plus fréquemment possible?</a:t>
            </a:r>
          </a:p>
          <a:p>
            <a:r>
              <a:rPr lang="fr-CA" dirty="0"/>
              <a:t>Comment éviter des problèmes de clash de version de déploiement?</a:t>
            </a:r>
          </a:p>
          <a:p>
            <a:r>
              <a:rPr lang="fr-CA" dirty="0"/>
              <a:t>Comment redéployer le modèle mis à jour?</a:t>
            </a:r>
          </a:p>
          <a:p>
            <a:r>
              <a:rPr lang="fr-CA" dirty="0"/>
              <a:t>Comment être sur que le processus de développement est toujours d’</a:t>
            </a:r>
            <a:r>
              <a:rPr lang="fr-CA" dirty="0" err="1"/>
              <a:t>acualité</a:t>
            </a:r>
            <a:r>
              <a:rPr lang="fr-CA" dirty="0"/>
              <a:t>?</a:t>
            </a:r>
          </a:p>
          <a:p>
            <a:r>
              <a:rPr lang="fr-CA" dirty="0"/>
              <a:t>Comment mesure la performance de notre modèle?</a:t>
            </a:r>
            <a:endParaRPr lang="en-US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774665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Suivi du développement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 ne </a:t>
            </a:r>
            <a:r>
              <a:rPr lang="en-US" dirty="0" err="1"/>
              <a:t>suffit</a:t>
            </a:r>
            <a:r>
              <a:rPr lang="en-US" dirty="0"/>
              <a:t> pas de </a:t>
            </a:r>
            <a:r>
              <a:rPr lang="en-US" dirty="0" err="1"/>
              <a:t>déployer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faut</a:t>
            </a:r>
            <a:r>
              <a:rPr lang="en-US" dirty="0"/>
              <a:t> </a:t>
            </a:r>
            <a:r>
              <a:rPr lang="en-US" dirty="0" err="1"/>
              <a:t>aussi</a:t>
            </a:r>
            <a:r>
              <a:rPr lang="en-US" dirty="0"/>
              <a:t> un </a:t>
            </a:r>
            <a:r>
              <a:rPr lang="en-US" dirty="0" err="1"/>
              <a:t>suivi</a:t>
            </a:r>
            <a:r>
              <a:rPr lang="en-US" dirty="0"/>
              <a:t> du </a:t>
            </a:r>
            <a:r>
              <a:rPr lang="en-US" dirty="0" err="1"/>
              <a:t>processus</a:t>
            </a:r>
            <a:r>
              <a:rPr lang="en-US" dirty="0"/>
              <a:t> de </a:t>
            </a:r>
            <a:r>
              <a:rPr lang="en-US" dirty="0" err="1"/>
              <a:t>développement</a:t>
            </a:r>
            <a:endParaRPr lang="en-US" dirty="0"/>
          </a:p>
          <a:p>
            <a:r>
              <a:rPr lang="en-US" dirty="0" err="1"/>
              <a:t>Quelles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hypotheses qui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train </a:t>
            </a:r>
            <a:r>
              <a:rPr lang="en-US" dirty="0" err="1"/>
              <a:t>d’etre</a:t>
            </a:r>
            <a:r>
              <a:rPr lang="en-US" dirty="0"/>
              <a:t> </a:t>
            </a:r>
            <a:r>
              <a:rPr lang="en-US" dirty="0" err="1"/>
              <a:t>explorées</a:t>
            </a:r>
            <a:r>
              <a:rPr lang="en-US" dirty="0"/>
              <a:t>?</a:t>
            </a:r>
          </a:p>
          <a:p>
            <a:r>
              <a:rPr lang="en-US" dirty="0" err="1"/>
              <a:t>Quelles</a:t>
            </a:r>
            <a:r>
              <a:rPr lang="en-US" dirty="0"/>
              <a:t> techniques de </a:t>
            </a:r>
            <a:r>
              <a:rPr lang="en-US" dirty="0" err="1"/>
              <a:t>pré-traitement</a:t>
            </a:r>
            <a:r>
              <a:rPr lang="en-US" dirty="0"/>
              <a:t> a t-on </a:t>
            </a:r>
            <a:r>
              <a:rPr lang="en-US" dirty="0" err="1"/>
              <a:t>essayées</a:t>
            </a:r>
            <a:r>
              <a:rPr lang="en-US" dirty="0"/>
              <a:t>?</a:t>
            </a:r>
          </a:p>
          <a:p>
            <a:r>
              <a:rPr lang="en-US" dirty="0" err="1"/>
              <a:t>Combien</a:t>
            </a:r>
            <a:r>
              <a:rPr lang="en-US" dirty="0"/>
              <a:t> de temps </a:t>
            </a:r>
            <a:r>
              <a:rPr lang="en-US" dirty="0" err="1"/>
              <a:t>prend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processus</a:t>
            </a:r>
            <a:r>
              <a:rPr lang="en-US" dirty="0"/>
              <a:t> pour </a:t>
            </a:r>
            <a:r>
              <a:rPr lang="en-US" dirty="0" err="1"/>
              <a:t>s’executer</a:t>
            </a:r>
            <a:r>
              <a:rPr lang="en-US" dirty="0"/>
              <a:t>?</a:t>
            </a:r>
          </a:p>
          <a:p>
            <a:r>
              <a:rPr lang="en-US" dirty="0" err="1"/>
              <a:t>Quels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dirty="0" err="1"/>
              <a:t>parametres</a:t>
            </a:r>
            <a:r>
              <a:rPr lang="en-US" dirty="0"/>
              <a:t> et </a:t>
            </a:r>
            <a:r>
              <a:rPr lang="en-US" dirty="0" err="1"/>
              <a:t>hyperparametres</a:t>
            </a:r>
            <a:r>
              <a:rPr lang="en-US" dirty="0"/>
              <a:t> </a:t>
            </a:r>
            <a:r>
              <a:rPr lang="en-US" dirty="0" err="1"/>
              <a:t>utilisées</a:t>
            </a:r>
            <a:r>
              <a:rPr lang="en-US" dirty="0"/>
              <a:t>?</a:t>
            </a:r>
          </a:p>
          <a:p>
            <a:r>
              <a:rPr lang="en-US" dirty="0" err="1"/>
              <a:t>Quels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dirty="0" err="1"/>
              <a:t>métriques</a:t>
            </a:r>
            <a:r>
              <a:rPr lang="en-US" dirty="0"/>
              <a:t> utilizes?</a:t>
            </a:r>
          </a:p>
          <a:p>
            <a:r>
              <a:rPr lang="en-US" dirty="0"/>
              <a:t>Etc.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20146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Amélioration continue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Une fois en production, on doit capturer des métriques de production afin d’améliorer nos modèles</a:t>
            </a:r>
          </a:p>
          <a:p>
            <a:pPr lvl="1"/>
            <a:r>
              <a:rPr lang="fr-CA" b="1" dirty="0"/>
              <a:t>Suivre comment le modèle est utilisé</a:t>
            </a:r>
          </a:p>
          <a:p>
            <a:pPr lvl="1"/>
            <a:r>
              <a:rPr lang="fr-CA" b="1" dirty="0"/>
              <a:t>Voir quel type de données on utilise sur le modèle</a:t>
            </a:r>
          </a:p>
          <a:p>
            <a:pPr lvl="1"/>
            <a:r>
              <a:rPr lang="fr-CA" b="1" dirty="0"/>
              <a:t>Évaluer la sortie du modèle pour voir son écart par rapport à la normale</a:t>
            </a:r>
          </a:p>
          <a:p>
            <a:pPr lvl="1"/>
            <a:r>
              <a:rPr lang="fr-CA" b="1" dirty="0"/>
              <a:t>Essayer de détecter s’il y’a un </a:t>
            </a:r>
            <a:r>
              <a:rPr lang="fr-CA" b="1" dirty="0" err="1"/>
              <a:t>overfit</a:t>
            </a:r>
            <a:endParaRPr lang="fr-CA" b="1" dirty="0"/>
          </a:p>
          <a:p>
            <a:pPr lvl="1"/>
            <a:r>
              <a:rPr lang="fr-CA" b="1" dirty="0"/>
              <a:t>Essayer de voir si le modèle n’a pas de biais</a:t>
            </a:r>
          </a:p>
          <a:p>
            <a:pPr lvl="1"/>
            <a:r>
              <a:rPr lang="fr-CA" b="1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04501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Références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>
                <a:hlinkClick r:id="rId2"/>
              </a:rPr>
              <a:t>https://stacktoheap.com/blog/2018/11/19/mlflow-model-repository-ci-cd/</a:t>
            </a:r>
            <a:endParaRPr lang="fr-CA" dirty="0"/>
          </a:p>
          <a:p>
            <a:r>
              <a:rPr lang="fr-CA" dirty="0">
                <a:hlinkClick r:id="rId3"/>
              </a:rPr>
              <a:t>https://cdn.oreillystatic.com/en/assets/1/event/292/Continuous%20intelligence_%20Moving%20machine%20learning%20into%20production%20reliably%20Presentation.pdf</a:t>
            </a:r>
            <a:endParaRPr lang="fr-CA" dirty="0"/>
          </a:p>
          <a:p>
            <a:r>
              <a:rPr lang="fr-CA" dirty="0">
                <a:hlinkClick r:id="rId4"/>
              </a:rPr>
              <a:t>http://blog.innodatalabs.com/automating-ml-training-with-jenkins-pipelines/</a:t>
            </a:r>
            <a:endParaRPr lang="fr-CA" dirty="0"/>
          </a:p>
          <a:p>
            <a:r>
              <a:rPr lang="fr-CA" dirty="0">
                <a:hlinkClick r:id="rId5"/>
              </a:rPr>
              <a:t>https://thegurus.tech/posts/2019/06/mlflow-production-setup/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23247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cette</a:t>
            </a:r>
            <a:r>
              <a:rPr lang="en-CA" dirty="0"/>
              <a:t> </a:t>
            </a:r>
            <a:r>
              <a:rPr lang="en-CA" dirty="0" err="1"/>
              <a:t>présentation</a:t>
            </a:r>
            <a:r>
              <a:rPr lang="en-CA" dirty="0"/>
              <a:t>, on a passé en revue les points </a:t>
            </a:r>
            <a:r>
              <a:rPr lang="en-CA" dirty="0" err="1"/>
              <a:t>suivants</a:t>
            </a:r>
            <a:endParaRPr lang="en-CA" dirty="0"/>
          </a:p>
          <a:p>
            <a:pPr lvl="1"/>
            <a:r>
              <a:rPr lang="en-CA" dirty="0" err="1"/>
              <a:t>Principes</a:t>
            </a:r>
            <a:r>
              <a:rPr lang="en-CA" dirty="0"/>
              <a:t> de </a:t>
            </a:r>
            <a:r>
              <a:rPr lang="en-CA" dirty="0" err="1"/>
              <a:t>mise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production </a:t>
            </a:r>
            <a:r>
              <a:rPr lang="en-CA" dirty="0" err="1"/>
              <a:t>en</a:t>
            </a:r>
            <a:r>
              <a:rPr lang="en-CA" dirty="0"/>
              <a:t> continue</a:t>
            </a:r>
          </a:p>
          <a:p>
            <a:pPr lvl="1"/>
            <a:r>
              <a:rPr lang="en-CA" dirty="0" err="1"/>
              <a:t>Problèmes</a:t>
            </a:r>
            <a:endParaRPr lang="fr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_jav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urs01_intro_django.pptx" id="{7E467FAD-8439-4BF8-A1E1-23F7A09FA63B}" vid="{C6368CB1-18DC-409F-AC5C-C024F14EB1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modele_django</Template>
  <TotalTime>589</TotalTime>
  <Words>799</Words>
  <Application>Microsoft Office PowerPoint</Application>
  <PresentationFormat>Widescreen</PresentationFormat>
  <Paragraphs>145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Calibri</vt:lpstr>
      <vt:lpstr>Frutiger 45</vt:lpstr>
      <vt:lpstr>Rockwell</vt:lpstr>
      <vt:lpstr>Segoe UI</vt:lpstr>
      <vt:lpstr>Segoe UI Semibold</vt:lpstr>
      <vt:lpstr>Segoe WP Semibold</vt:lpstr>
      <vt:lpstr>Times New Roman</vt:lpstr>
      <vt:lpstr>Tw Cen MT Condensed</vt:lpstr>
      <vt:lpstr>Wingdings</vt:lpstr>
      <vt:lpstr>template_java</vt:lpstr>
      <vt:lpstr>Architecture  Développement-Déploiement ML</vt:lpstr>
      <vt:lpstr>Agenda</vt:lpstr>
      <vt:lpstr>Intégration continue: problèmes</vt:lpstr>
      <vt:lpstr>Intégration continue: les composantes</vt:lpstr>
      <vt:lpstr>Intégration continue: bénéfices</vt:lpstr>
      <vt:lpstr>Pour démarrer en IC</vt:lpstr>
      <vt:lpstr>Intégration continue en quelques mots</vt:lpstr>
      <vt:lpstr>Cycle de développement-déploiement ML</vt:lpstr>
      <vt:lpstr>Comparaison avec cycle du logiciel</vt:lpstr>
      <vt:lpstr>Problèmes avec cette approche ML</vt:lpstr>
      <vt:lpstr>Sources de changement</vt:lpstr>
      <vt:lpstr>Sources de changement | suite</vt:lpstr>
      <vt:lpstr>Sources de changement | suite</vt:lpstr>
      <vt:lpstr>Mise en production continue</vt:lpstr>
      <vt:lpstr>Mise en production continue</vt:lpstr>
      <vt:lpstr>Principe</vt:lpstr>
      <vt:lpstr>Stack</vt:lpstr>
      <vt:lpstr>Pipeline</vt:lpstr>
      <vt:lpstr>Outils (2019)</vt:lpstr>
      <vt:lpstr>Outils | go</vt:lpstr>
      <vt:lpstr>Outil | mlflow</vt:lpstr>
      <vt:lpstr>Outil | Kibana</vt:lpstr>
      <vt:lpstr>Challenges</vt:lpstr>
      <vt:lpstr>Mise en production | Après !</vt:lpstr>
      <vt:lpstr>Suivi du développement</vt:lpstr>
      <vt:lpstr>Amélioration continue</vt:lpstr>
      <vt:lpstr>Références</vt:lpstr>
      <vt:lpstr>Conclusion</vt:lpstr>
    </vt:vector>
  </TitlesOfParts>
  <Company>Collège de Bois-de-Boulogne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HBenteftifa</dc:creator>
  <cp:lastModifiedBy>hafed benteftifa</cp:lastModifiedBy>
  <cp:revision>69</cp:revision>
  <dcterms:created xsi:type="dcterms:W3CDTF">2015-12-14T18:59:50Z</dcterms:created>
  <dcterms:modified xsi:type="dcterms:W3CDTF">2021-02-08T01:47:33Z</dcterms:modified>
</cp:coreProperties>
</file>