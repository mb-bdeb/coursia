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3"/>
  </p:notesMasterIdLst>
  <p:sldIdLst>
    <p:sldId id="256" r:id="rId2"/>
    <p:sldId id="257" r:id="rId3"/>
    <p:sldId id="272" r:id="rId4"/>
    <p:sldId id="268" r:id="rId5"/>
    <p:sldId id="279" r:id="rId6"/>
    <p:sldId id="258" r:id="rId7"/>
    <p:sldId id="261" r:id="rId8"/>
    <p:sldId id="273" r:id="rId9"/>
    <p:sldId id="274" r:id="rId10"/>
    <p:sldId id="286" r:id="rId11"/>
    <p:sldId id="284" r:id="rId12"/>
    <p:sldId id="287" r:id="rId13"/>
    <p:sldId id="281" r:id="rId14"/>
    <p:sldId id="275" r:id="rId15"/>
    <p:sldId id="276" r:id="rId16"/>
    <p:sldId id="277" r:id="rId17"/>
    <p:sldId id="278" r:id="rId18"/>
    <p:sldId id="282" r:id="rId19"/>
    <p:sldId id="283" r:id="rId20"/>
    <p:sldId id="288" r:id="rId21"/>
    <p:sldId id="267" r:id="rId22"/>
  </p:sldIdLst>
  <p:sldSz cx="9144000" cy="6858000" type="screen4x3"/>
  <p:notesSz cx="6858000" cy="91440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400"/>
    <a:srgbClr val="66FF33"/>
    <a:srgbClr val="FF99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0"/>
    <p:restoredTop sz="94621"/>
  </p:normalViewPr>
  <p:slideViewPr>
    <p:cSldViewPr>
      <p:cViewPr varScale="1">
        <p:scale>
          <a:sx n="94" d="100"/>
          <a:sy n="94" d="100"/>
        </p:scale>
        <p:origin x="474" y="120"/>
      </p:cViewPr>
      <p:guideLst>
        <p:guide orient="horz" pos="2160"/>
        <p:guide pos="384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B2C2A72-1591-4697-ABD1-E677A54A633C}" type="datetimeFigureOut">
              <a:rPr lang="fr-CA"/>
              <a:pPr>
                <a:defRPr/>
              </a:pPr>
              <a:t>2019-07-04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CA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5678F8E-E650-4758-BC96-C0B7FE131AE0}" type="slidenum">
              <a:rPr lang="fr-CA"/>
              <a:pPr>
                <a:defRPr/>
              </a:pPr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834987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6400"/>
                </a:solidFill>
                <a:latin typeface="Rockwell" pitchFamily="18" charset="0"/>
              </a:defRPr>
            </a:lvl1pPr>
          </a:lstStyle>
          <a:p>
            <a:r>
              <a:rPr lang="fr-FR"/>
              <a:t>Cliquez pour modifier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Segoe UI Semibold" panose="020B0702040204020203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  <a:endParaRPr lang="fr-CA"/>
          </a:p>
        </p:txBody>
      </p:sp>
      <p:sp>
        <p:nvSpPr>
          <p:cNvPr id="9218" name="AutoShape 2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9220" name="AutoShape 4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9222" name="AutoShape 6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9224" name="AutoShape 8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</p:spPr>
        <p:txBody>
          <a:bodyPr/>
          <a:lstStyle>
            <a:lvl1pPr algn="l">
              <a:defRPr sz="4000" b="0">
                <a:solidFill>
                  <a:srgbClr val="FF6400"/>
                </a:solidFill>
                <a:latin typeface="Rockwell" pitchFamily="18" charset="0"/>
              </a:defRPr>
            </a:lvl1pPr>
          </a:lstStyle>
          <a:p>
            <a:r>
              <a:rPr lang="fr-FR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buSzPct val="80000"/>
              <a:buFontTx/>
              <a:buBlip>
                <a:blip r:embed="rId2"/>
              </a:buBlip>
              <a:defRPr sz="2800" b="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Font typeface="Wingdings" pitchFamily="2" charset="2"/>
              <a:buChar char="Ø"/>
              <a:defRPr sz="24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20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8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8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ChangeArrowheads="1"/>
          </p:cNvSpPr>
          <p:nvPr/>
        </p:nvSpPr>
        <p:spPr bwMode="auto">
          <a:xfrm>
            <a:off x="1" y="6496050"/>
            <a:ext cx="9144000" cy="363538"/>
          </a:xfrm>
          <a:prstGeom prst="rect">
            <a:avLst/>
          </a:prstGeom>
          <a:solidFill>
            <a:srgbClr val="02298A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r" defTabSz="762000">
              <a:defRPr/>
            </a:pPr>
            <a:endParaRPr lang="fr-FR" sz="1800">
              <a:solidFill>
                <a:schemeClr val="bg1"/>
              </a:solidFill>
              <a:latin typeface="Frutiger 45" charset="0"/>
            </a:endParaRPr>
          </a:p>
        </p:txBody>
      </p:sp>
      <p:sp>
        <p:nvSpPr>
          <p:cNvPr id="275459" name="Rectangle 3"/>
          <p:cNvSpPr>
            <a:spLocks noChangeArrowheads="1"/>
          </p:cNvSpPr>
          <p:nvPr/>
        </p:nvSpPr>
        <p:spPr bwMode="auto">
          <a:xfrm>
            <a:off x="1" y="6524626"/>
            <a:ext cx="611559" cy="3359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l" defTabSz="762000">
              <a:defRPr/>
            </a:pPr>
            <a:fld id="{97861B19-198E-4651-B084-5D19FA2DF438}" type="slidenum">
              <a:rPr lang="fr-FR" sz="1600">
                <a:solidFill>
                  <a:schemeClr val="bg1"/>
                </a:solidFill>
                <a:cs typeface="Arial" pitchFamily="34" charset="0"/>
              </a:rPr>
              <a:pPr algn="l" defTabSz="762000">
                <a:defRPr/>
              </a:pPr>
              <a:t>‹N°›</a:t>
            </a:fld>
            <a:endParaRPr lang="fr-FR" sz="16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75460" name="Rectangle 4"/>
          <p:cNvSpPr>
            <a:spLocks noChangeArrowheads="1"/>
          </p:cNvSpPr>
          <p:nvPr/>
        </p:nvSpPr>
        <p:spPr bwMode="auto">
          <a:xfrm>
            <a:off x="481013" y="6464302"/>
            <a:ext cx="8662987" cy="5822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0" marR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6BB16-E908-4DFD-9624-BF128234D38D}" type="datetime1">
              <a:rPr lang="fr-FR" sz="160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pPr marL="0" marR="0" indent="0" algn="l" defTabSz="7620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04/07/2019</a:t>
            </a:fld>
            <a:r>
              <a:rPr lang="fr-FR" sz="1600" dirty="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t>    </a:t>
            </a:r>
            <a:r>
              <a:rPr lang="fr-FR" sz="1600" dirty="0" smtClean="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t>Apprentissage supervisé 420-A52-BB</a:t>
            </a:r>
            <a:r>
              <a:rPr lang="fr-FR" sz="1600" b="1" dirty="0" smtClean="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t> </a:t>
            </a:r>
            <a:r>
              <a:rPr lang="fr-FR" sz="1600" b="1" dirty="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t>- Hafed Benteftifa</a:t>
            </a:r>
            <a:r>
              <a:rPr lang="fr-FR" sz="1600" b="1" dirty="0">
                <a:solidFill>
                  <a:schemeClr val="bg1"/>
                </a:solidFill>
                <a:latin typeface="Rockwell" pitchFamily="18" charset="0"/>
              </a:rPr>
              <a:t> </a:t>
            </a:r>
            <a:r>
              <a:rPr lang="fr-FR" sz="1600" b="1" dirty="0">
                <a:solidFill>
                  <a:schemeClr val="bg1"/>
                </a:solidFill>
                <a:latin typeface="Tw Cen MT Condensed" pitchFamily="34" charset="0"/>
              </a:rPr>
              <a:t>©</a:t>
            </a:r>
          </a:p>
          <a:p>
            <a:pPr algn="r" defTabSz="762000">
              <a:defRPr/>
            </a:pPr>
            <a:endParaRPr lang="fr-FR" sz="1600" b="1" dirty="0">
              <a:solidFill>
                <a:schemeClr val="bg1"/>
              </a:solidFill>
              <a:latin typeface="Tw Cen MT Condensed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dt="0"/>
  <p:txStyles>
    <p:titleStyle>
      <a:lvl1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en.wikipedia.org/wiki/Eigenvalues_and_eigenvector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setosa.io/ev/principal-component-analysis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err="1"/>
              <a:t>Apprentissage</a:t>
            </a:r>
            <a:r>
              <a:rPr lang="en-CA"/>
              <a:t> </a:t>
            </a:r>
            <a:r>
              <a:rPr lang="en-CA" smtClean="0"/>
              <a:t>supervisé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Principal component analysis</a:t>
            </a:r>
            <a:endParaRPr lang="fr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Agenda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Dans</a:t>
            </a:r>
            <a:r>
              <a:rPr lang="en-CA" dirty="0"/>
              <a:t> </a:t>
            </a:r>
            <a:r>
              <a:rPr lang="en-CA" dirty="0" err="1"/>
              <a:t>cette</a:t>
            </a:r>
            <a:r>
              <a:rPr lang="en-CA" dirty="0"/>
              <a:t> </a:t>
            </a:r>
            <a:r>
              <a:rPr lang="en-CA" dirty="0" err="1"/>
              <a:t>leçon</a:t>
            </a:r>
            <a:r>
              <a:rPr lang="en-CA" dirty="0"/>
              <a:t>, on </a:t>
            </a:r>
            <a:r>
              <a:rPr lang="en-CA" dirty="0" err="1"/>
              <a:t>passe</a:t>
            </a:r>
            <a:r>
              <a:rPr lang="en-CA" dirty="0"/>
              <a:t> en revue les points </a:t>
            </a:r>
            <a:r>
              <a:rPr lang="en-CA" dirty="0" err="1"/>
              <a:t>suivants</a:t>
            </a:r>
            <a:r>
              <a:rPr lang="en-CA" dirty="0"/>
              <a:t>:</a:t>
            </a:r>
          </a:p>
          <a:p>
            <a:pPr lvl="1"/>
            <a:r>
              <a:rPr lang="en-CA" dirty="0" err="1"/>
              <a:t>Réduction</a:t>
            </a:r>
            <a:r>
              <a:rPr lang="en-CA" dirty="0"/>
              <a:t> de dimensions: </a:t>
            </a:r>
            <a:r>
              <a:rPr lang="en-CA" dirty="0" err="1"/>
              <a:t>contexte</a:t>
            </a:r>
            <a:endParaRPr lang="en-CA" dirty="0"/>
          </a:p>
          <a:p>
            <a:pPr lvl="1"/>
            <a:r>
              <a:rPr lang="en-CA" dirty="0"/>
              <a:t>Analyse de </a:t>
            </a:r>
            <a:r>
              <a:rPr lang="en-CA" dirty="0" err="1"/>
              <a:t>composantes</a:t>
            </a:r>
            <a:r>
              <a:rPr lang="en-CA" dirty="0"/>
              <a:t> </a:t>
            </a:r>
            <a:r>
              <a:rPr lang="en-CA" dirty="0" err="1"/>
              <a:t>principales</a:t>
            </a:r>
            <a:endParaRPr lang="fr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Réduction</a:t>
            </a:r>
            <a:r>
              <a:rPr lang="en-CA" dirty="0"/>
              <a:t> de dimension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400" y="908721"/>
            <a:ext cx="8839200" cy="4032447"/>
          </a:xfrm>
        </p:spPr>
        <p:txBody>
          <a:bodyPr/>
          <a:lstStyle/>
          <a:p>
            <a:r>
              <a:rPr lang="en-CA" dirty="0" err="1"/>
              <a:t>C'est</a:t>
            </a:r>
            <a:r>
              <a:rPr lang="en-CA" dirty="0"/>
              <a:t> quoi la </a:t>
            </a:r>
            <a:r>
              <a:rPr lang="en-CA" dirty="0" err="1"/>
              <a:t>réduction</a:t>
            </a:r>
            <a:r>
              <a:rPr lang="en-CA" dirty="0"/>
              <a:t> de dimension ?</a:t>
            </a:r>
          </a:p>
          <a:p>
            <a:pPr lvl="1"/>
            <a:r>
              <a:rPr lang="en-CA" dirty="0" err="1"/>
              <a:t>C'est</a:t>
            </a:r>
            <a:r>
              <a:rPr lang="en-CA" dirty="0"/>
              <a:t> un ensemble de techniques pour  </a:t>
            </a:r>
            <a:r>
              <a:rPr lang="en-CA" dirty="0" err="1"/>
              <a:t>réduire</a:t>
            </a:r>
            <a:r>
              <a:rPr lang="en-CA" dirty="0"/>
              <a:t> la </a:t>
            </a:r>
            <a:r>
              <a:rPr lang="en-CA" dirty="0" err="1"/>
              <a:t>taille</a:t>
            </a:r>
            <a:r>
              <a:rPr lang="en-CA" dirty="0"/>
              <a:t> d'un dataset</a:t>
            </a:r>
          </a:p>
          <a:p>
            <a:pPr lvl="1"/>
            <a:r>
              <a:rPr lang="en-CA" dirty="0"/>
              <a:t>On </a:t>
            </a:r>
            <a:r>
              <a:rPr lang="en-CA" dirty="0" err="1"/>
              <a:t>peut</a:t>
            </a:r>
            <a:r>
              <a:rPr lang="en-CA" dirty="0"/>
              <a:t> </a:t>
            </a:r>
            <a:r>
              <a:rPr lang="en-CA" dirty="0" err="1"/>
              <a:t>considérer</a:t>
            </a:r>
            <a:r>
              <a:rPr lang="en-CA" dirty="0"/>
              <a:t> les features, les </a:t>
            </a:r>
            <a:r>
              <a:rPr lang="en-CA" dirty="0" err="1"/>
              <a:t>enregistrements</a:t>
            </a:r>
            <a:r>
              <a:rPr lang="en-CA" dirty="0"/>
              <a:t> </a:t>
            </a:r>
            <a:r>
              <a:rPr lang="en-CA" dirty="0" err="1"/>
              <a:t>ou</a:t>
            </a:r>
            <a:r>
              <a:rPr lang="en-CA" dirty="0"/>
              <a:t> </a:t>
            </a:r>
            <a:r>
              <a:rPr lang="en-CA" dirty="0" err="1"/>
              <a:t>autre</a:t>
            </a:r>
            <a:r>
              <a:rPr lang="en-CA" dirty="0"/>
              <a:t> information pour la </a:t>
            </a:r>
            <a:r>
              <a:rPr lang="en-CA" dirty="0" err="1"/>
              <a:t>réduction</a:t>
            </a:r>
            <a:endParaRPr lang="en-CA" dirty="0"/>
          </a:p>
          <a:p>
            <a:pPr lvl="1"/>
            <a:r>
              <a:rPr lang="en-CA" dirty="0" err="1"/>
              <a:t>Peut</a:t>
            </a:r>
            <a:r>
              <a:rPr lang="en-CA" dirty="0"/>
              <a:t> </a:t>
            </a:r>
            <a:r>
              <a:rPr lang="en-CA" dirty="0" err="1"/>
              <a:t>etre</a:t>
            </a:r>
            <a:r>
              <a:rPr lang="en-CA" dirty="0"/>
              <a:t> vu </a:t>
            </a:r>
            <a:r>
              <a:rPr lang="en-CA" dirty="0" err="1"/>
              <a:t>comme</a:t>
            </a:r>
            <a:r>
              <a:rPr lang="en-CA" dirty="0"/>
              <a:t> </a:t>
            </a:r>
            <a:r>
              <a:rPr lang="en-CA" dirty="0" err="1"/>
              <a:t>une</a:t>
            </a:r>
            <a:r>
              <a:rPr lang="en-CA" dirty="0"/>
              <a:t> technique de compression</a:t>
            </a:r>
          </a:p>
          <a:p>
            <a:pPr lvl="1"/>
            <a:endParaRPr lang="en-CA" dirty="0"/>
          </a:p>
          <a:p>
            <a:r>
              <a:rPr lang="en-CA" dirty="0" err="1"/>
              <a:t>Souvent</a:t>
            </a:r>
            <a:r>
              <a:rPr lang="en-CA" dirty="0"/>
              <a:t> </a:t>
            </a:r>
            <a:r>
              <a:rPr lang="en-CA" dirty="0" err="1"/>
              <a:t>utilisé</a:t>
            </a:r>
            <a:r>
              <a:rPr lang="en-CA" dirty="0"/>
              <a:t> </a:t>
            </a:r>
            <a:r>
              <a:rPr lang="en-CA" dirty="0" err="1"/>
              <a:t>comme</a:t>
            </a:r>
            <a:r>
              <a:rPr lang="en-CA" dirty="0"/>
              <a:t> </a:t>
            </a:r>
            <a:r>
              <a:rPr lang="en-CA" dirty="0" err="1"/>
              <a:t>une</a:t>
            </a:r>
            <a:r>
              <a:rPr lang="en-CA" dirty="0"/>
              <a:t> </a:t>
            </a:r>
            <a:r>
              <a:rPr lang="en-CA" dirty="0" err="1"/>
              <a:t>étape</a:t>
            </a:r>
            <a:r>
              <a:rPr lang="en-CA" dirty="0"/>
              <a:t> </a:t>
            </a:r>
            <a:r>
              <a:rPr lang="en-CA" dirty="0" err="1"/>
              <a:t>préliminaire</a:t>
            </a:r>
            <a:r>
              <a:rPr lang="en-CA" dirty="0"/>
              <a:t> </a:t>
            </a:r>
            <a:r>
              <a:rPr lang="en-CA" dirty="0" err="1"/>
              <a:t>avant</a:t>
            </a:r>
            <a:r>
              <a:rPr lang="en-CA" dirty="0"/>
              <a:t> </a:t>
            </a:r>
            <a:r>
              <a:rPr lang="en-CA" dirty="0" err="1"/>
              <a:t>l'utilisation</a:t>
            </a:r>
            <a:r>
              <a:rPr lang="en-CA" dirty="0"/>
              <a:t> d'un </a:t>
            </a:r>
            <a:r>
              <a:rPr lang="en-CA" dirty="0" err="1"/>
              <a:t>algorithme</a:t>
            </a:r>
            <a:r>
              <a:rPr lang="en-CA" dirty="0"/>
              <a:t> ML</a:t>
            </a:r>
            <a:endParaRPr lang="fr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Cas</a:t>
            </a:r>
            <a:r>
              <a:rPr lang="en-CA" dirty="0"/>
              <a:t> </a:t>
            </a:r>
            <a:r>
              <a:rPr lang="en-CA" dirty="0" err="1"/>
              <a:t>d'utilisation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Présence</a:t>
            </a:r>
            <a:r>
              <a:rPr lang="en-CA" dirty="0"/>
              <a:t> d'un grand </a:t>
            </a:r>
            <a:r>
              <a:rPr lang="en-CA" dirty="0" err="1"/>
              <a:t>nombre</a:t>
            </a:r>
            <a:r>
              <a:rPr lang="en-CA" dirty="0"/>
              <a:t> de features </a:t>
            </a:r>
            <a:r>
              <a:rPr lang="en-CA" dirty="0" err="1"/>
              <a:t>dans</a:t>
            </a:r>
            <a:r>
              <a:rPr lang="en-CA" dirty="0"/>
              <a:t> le dataset</a:t>
            </a:r>
          </a:p>
          <a:p>
            <a:r>
              <a:rPr lang="en-CA" dirty="0"/>
              <a:t>Correlation entre un certain </a:t>
            </a:r>
            <a:r>
              <a:rPr lang="en-CA" dirty="0" err="1"/>
              <a:t>nombre</a:t>
            </a:r>
            <a:r>
              <a:rPr lang="en-CA" dirty="0"/>
              <a:t> de features</a:t>
            </a:r>
          </a:p>
          <a:p>
            <a:r>
              <a:rPr lang="en-CA" dirty="0"/>
              <a:t>Features non </a:t>
            </a:r>
            <a:r>
              <a:rPr lang="en-CA" dirty="0" err="1"/>
              <a:t>appropriées</a:t>
            </a:r>
            <a:r>
              <a:rPr lang="en-CA" dirty="0"/>
              <a:t> pour le </a:t>
            </a:r>
            <a:r>
              <a:rPr lang="en-CA" dirty="0" err="1"/>
              <a:t>problème</a:t>
            </a:r>
            <a:r>
              <a:rPr lang="en-CA" dirty="0"/>
              <a:t> à </a:t>
            </a:r>
            <a:r>
              <a:rPr lang="en-CA" dirty="0" err="1"/>
              <a:t>traiter</a:t>
            </a:r>
            <a:endParaRPr lang="en-CA" dirty="0"/>
          </a:p>
          <a:p>
            <a:r>
              <a:rPr lang="en-CA" dirty="0"/>
              <a:t>Visualisation: Beaucoup de features (&gt;3) et visualisation impossible</a:t>
            </a:r>
          </a:p>
          <a:p>
            <a:pPr lvl="1"/>
            <a:r>
              <a:rPr lang="en-CA" dirty="0"/>
              <a:t>Plus </a:t>
            </a:r>
            <a:r>
              <a:rPr lang="en-CA" dirty="0" err="1"/>
              <a:t>approprié</a:t>
            </a:r>
            <a:r>
              <a:rPr lang="en-CA" dirty="0"/>
              <a:t> </a:t>
            </a:r>
            <a:r>
              <a:rPr lang="en-CA" dirty="0" err="1"/>
              <a:t>dans</a:t>
            </a:r>
            <a:r>
              <a:rPr lang="en-CA" dirty="0"/>
              <a:t> </a:t>
            </a:r>
            <a:r>
              <a:rPr lang="en-CA" dirty="0" err="1"/>
              <a:t>ce</a:t>
            </a:r>
            <a:r>
              <a:rPr lang="en-CA" dirty="0"/>
              <a:t> </a:t>
            </a:r>
            <a:r>
              <a:rPr lang="en-CA" dirty="0" err="1"/>
              <a:t>cas</a:t>
            </a:r>
            <a:r>
              <a:rPr lang="en-CA" dirty="0"/>
              <a:t> </a:t>
            </a:r>
            <a:r>
              <a:rPr lang="en-CA" dirty="0" err="1"/>
              <a:t>d'effectuer</a:t>
            </a:r>
            <a:r>
              <a:rPr lang="en-CA" dirty="0"/>
              <a:t> </a:t>
            </a:r>
            <a:r>
              <a:rPr lang="en-CA" dirty="0" err="1"/>
              <a:t>une</a:t>
            </a:r>
            <a:r>
              <a:rPr lang="en-CA" dirty="0"/>
              <a:t> projection </a:t>
            </a:r>
            <a:r>
              <a:rPr lang="en-CA" dirty="0" err="1"/>
              <a:t>sur</a:t>
            </a:r>
            <a:r>
              <a:rPr lang="en-CA" dirty="0"/>
              <a:t> un plan 2D</a:t>
            </a:r>
            <a:endParaRPr lang="fr-CA" dirty="0"/>
          </a:p>
          <a:p>
            <a:pPr lvl="1"/>
            <a:endParaRPr lang="fr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On dispose d’un </a:t>
            </a:r>
            <a:r>
              <a:rPr lang="fr-CA" dirty="0" err="1"/>
              <a:t>dataset</a:t>
            </a:r>
            <a:r>
              <a:rPr lang="fr-CA" dirty="0"/>
              <a:t> portant sur un grand nombre d’usagers (id) mais pour chacun on a la liste des critiques qu’ils ont </a:t>
            </a:r>
            <a:r>
              <a:rPr lang="fr-CA" dirty="0" err="1"/>
              <a:t>emises</a:t>
            </a:r>
            <a:r>
              <a:rPr lang="fr-CA" dirty="0"/>
              <a:t> pour des films</a:t>
            </a:r>
          </a:p>
          <a:p>
            <a:pPr lvl="1"/>
            <a:r>
              <a:rPr lang="fr-CA" dirty="0"/>
              <a:t>Problème 1: les usagers peuvent avoir fait la critique d’un grand nombre de films  </a:t>
            </a:r>
            <a:r>
              <a:rPr lang="fr-CA" dirty="0">
                <a:sym typeface="Wingdings" panose="05000000000000000000" pitchFamily="2" charset="2"/>
              </a:rPr>
              <a:t>  doit-on considérer toutes ces critiques?</a:t>
            </a:r>
          </a:p>
          <a:p>
            <a:pPr lvl="1"/>
            <a:r>
              <a:rPr lang="fr-CA" dirty="0">
                <a:sym typeface="Wingdings" panose="05000000000000000000" pitchFamily="2" charset="2"/>
              </a:rPr>
              <a:t>Solution: peut être qu’il est plus intéressant de réduire à des dimensions plus limitées en prenant par exemple la catégorie de films (action, policier, comédie, etc…)</a:t>
            </a:r>
            <a:endParaRPr lang="fr-C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412" y="4293096"/>
            <a:ext cx="406717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13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Contrainte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La </a:t>
            </a:r>
            <a:r>
              <a:rPr lang="en-CA" dirty="0" err="1"/>
              <a:t>représentation</a:t>
            </a:r>
            <a:r>
              <a:rPr lang="en-CA" dirty="0"/>
              <a:t> des </a:t>
            </a:r>
            <a:r>
              <a:rPr lang="en-CA" dirty="0" err="1"/>
              <a:t>données</a:t>
            </a:r>
            <a:r>
              <a:rPr lang="en-CA" dirty="0"/>
              <a:t> change </a:t>
            </a:r>
            <a:r>
              <a:rPr lang="en-CA" dirty="0" err="1"/>
              <a:t>mais</a:t>
            </a:r>
            <a:r>
              <a:rPr lang="en-CA" dirty="0"/>
              <a:t> </a:t>
            </a:r>
            <a:r>
              <a:rPr lang="en-CA" dirty="0" err="1"/>
              <a:t>l'information</a:t>
            </a:r>
            <a:r>
              <a:rPr lang="en-CA" dirty="0"/>
              <a:t> </a:t>
            </a:r>
            <a:r>
              <a:rPr lang="en-CA" dirty="0" err="1"/>
              <a:t>contenue</a:t>
            </a:r>
            <a:r>
              <a:rPr lang="en-CA" dirty="0"/>
              <a:t> ne </a:t>
            </a:r>
            <a:r>
              <a:rPr lang="en-CA" dirty="0" err="1"/>
              <a:t>doit</a:t>
            </a:r>
            <a:r>
              <a:rPr lang="en-CA" dirty="0"/>
              <a:t> pas changer </a:t>
            </a:r>
            <a:r>
              <a:rPr lang="en-CA" dirty="0" err="1"/>
              <a:t>dramatiquement</a:t>
            </a:r>
            <a:r>
              <a:rPr lang="en-CA" dirty="0"/>
              <a:t> </a:t>
            </a:r>
            <a:endParaRPr lang="fr-CA" dirty="0"/>
          </a:p>
        </p:txBody>
      </p:sp>
      <p:sp>
        <p:nvSpPr>
          <p:cNvPr id="4" name="ZoneTexte 3"/>
          <p:cNvSpPr txBox="1"/>
          <p:nvPr/>
        </p:nvSpPr>
        <p:spPr>
          <a:xfrm>
            <a:off x="539552" y="2852936"/>
            <a:ext cx="7899231" cy="830997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2400" dirty="0" err="1">
                <a:solidFill>
                  <a:schemeClr val="tx1"/>
                </a:solidFill>
              </a:rPr>
              <a:t>Objectif</a:t>
            </a:r>
            <a:r>
              <a:rPr lang="en-CA" sz="2400" dirty="0">
                <a:solidFill>
                  <a:schemeClr val="tx1"/>
                </a:solidFill>
              </a:rPr>
              <a:t>: </a:t>
            </a:r>
            <a:r>
              <a:rPr lang="en-CA" sz="2400" dirty="0" err="1">
                <a:solidFill>
                  <a:schemeClr val="tx1"/>
                </a:solidFill>
              </a:rPr>
              <a:t>Décomplexer</a:t>
            </a:r>
            <a:r>
              <a:rPr lang="en-CA" sz="2400" dirty="0">
                <a:solidFill>
                  <a:schemeClr val="tx1"/>
                </a:solidFill>
              </a:rPr>
              <a:t> la </a:t>
            </a:r>
            <a:r>
              <a:rPr lang="en-CA" sz="2400" dirty="0" err="1">
                <a:solidFill>
                  <a:schemeClr val="tx1"/>
                </a:solidFill>
              </a:rPr>
              <a:t>représentation</a:t>
            </a:r>
            <a:r>
              <a:rPr lang="en-CA" sz="2400" dirty="0">
                <a:solidFill>
                  <a:schemeClr val="tx1"/>
                </a:solidFill>
              </a:rPr>
              <a:t> des </a:t>
            </a:r>
            <a:r>
              <a:rPr lang="en-CA" sz="2400" dirty="0" err="1">
                <a:solidFill>
                  <a:schemeClr val="tx1"/>
                </a:solidFill>
              </a:rPr>
              <a:t>données</a:t>
            </a:r>
            <a:r>
              <a:rPr lang="en-CA" sz="2400" dirty="0">
                <a:solidFill>
                  <a:schemeClr val="tx1"/>
                </a:solidFill>
              </a:rPr>
              <a:t> en </a:t>
            </a:r>
            <a:r>
              <a:rPr lang="en-CA" sz="2400" dirty="0" err="1">
                <a:solidFill>
                  <a:schemeClr val="tx1"/>
                </a:solidFill>
              </a:rPr>
              <a:t>gardant</a:t>
            </a:r>
            <a:r>
              <a:rPr lang="en-CA" sz="2400" dirty="0">
                <a:solidFill>
                  <a:schemeClr val="tx1"/>
                </a:solidFill>
              </a:rPr>
              <a:t> le maximum de </a:t>
            </a:r>
            <a:r>
              <a:rPr lang="en-CA" sz="2400" dirty="0" err="1">
                <a:solidFill>
                  <a:schemeClr val="tx1"/>
                </a:solidFill>
              </a:rPr>
              <a:t>l'information</a:t>
            </a:r>
            <a:r>
              <a:rPr lang="en-CA" sz="2400" dirty="0">
                <a:solidFill>
                  <a:schemeClr val="tx1"/>
                </a:solidFill>
              </a:rPr>
              <a:t> </a:t>
            </a:r>
            <a:endParaRPr lang="fr-CA" sz="2400" dirty="0">
              <a:solidFill>
                <a:schemeClr val="tx1"/>
              </a:solidFill>
            </a:endParaRPr>
          </a:p>
        </p:txBody>
      </p:sp>
      <p:sp>
        <p:nvSpPr>
          <p:cNvPr id="5" name="Soleil 4"/>
          <p:cNvSpPr/>
          <p:nvPr/>
        </p:nvSpPr>
        <p:spPr bwMode="auto">
          <a:xfrm>
            <a:off x="1403648" y="4581128"/>
            <a:ext cx="1368152" cy="1440160"/>
          </a:xfrm>
          <a:prstGeom prst="sun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CA" sz="20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p:sp>
        <p:nvSpPr>
          <p:cNvPr id="7" name="Flèche droite 6"/>
          <p:cNvSpPr/>
          <p:nvPr/>
        </p:nvSpPr>
        <p:spPr bwMode="auto">
          <a:xfrm>
            <a:off x="3419872" y="5085184"/>
            <a:ext cx="864096" cy="504056"/>
          </a:xfrm>
          <a:prstGeom prst="rightArrow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CA" sz="20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p:sp>
        <p:nvSpPr>
          <p:cNvPr id="8" name="Rectangle à coins arrondis 7"/>
          <p:cNvSpPr/>
          <p:nvPr/>
        </p:nvSpPr>
        <p:spPr bwMode="auto">
          <a:xfrm>
            <a:off x="4860032" y="4797152"/>
            <a:ext cx="2736304" cy="1080120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CA" sz="2000" b="0" i="0" u="none" strike="noStrike" cap="none" normalizeH="0" baseline="0" smtClean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p:cxnSp>
        <p:nvCxnSpPr>
          <p:cNvPr id="9" name="Connecteur droit avec flèche 8"/>
          <p:cNvCxnSpPr/>
          <p:nvPr/>
        </p:nvCxnSpPr>
        <p:spPr bwMode="auto">
          <a:xfrm>
            <a:off x="4644008" y="5301208"/>
            <a:ext cx="324036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 bwMode="auto">
          <a:xfrm flipV="1">
            <a:off x="6228184" y="4216102"/>
            <a:ext cx="0" cy="2115294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Reduction de dimension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Deux</a:t>
            </a:r>
            <a:r>
              <a:rPr lang="en-CA" dirty="0"/>
              <a:t> techniques</a:t>
            </a:r>
          </a:p>
          <a:p>
            <a:pPr lvl="1"/>
            <a:r>
              <a:rPr lang="en-CA" b="1" dirty="0" err="1"/>
              <a:t>Sélection</a:t>
            </a:r>
            <a:r>
              <a:rPr lang="en-CA" b="1" dirty="0"/>
              <a:t>  de features</a:t>
            </a:r>
            <a:r>
              <a:rPr lang="en-CA" dirty="0"/>
              <a:t>: </a:t>
            </a:r>
            <a:r>
              <a:rPr lang="en-CA" dirty="0" err="1"/>
              <a:t>Sélection</a:t>
            </a:r>
            <a:r>
              <a:rPr lang="en-CA" dirty="0"/>
              <a:t> d'un ensemble de features </a:t>
            </a:r>
            <a:r>
              <a:rPr lang="en-CA" dirty="0" err="1"/>
              <a:t>sur</a:t>
            </a:r>
            <a:r>
              <a:rPr lang="en-CA" dirty="0"/>
              <a:t> la base de </a:t>
            </a:r>
            <a:r>
              <a:rPr lang="en-CA" dirty="0" err="1"/>
              <a:t>critères</a:t>
            </a:r>
            <a:endParaRPr lang="en-CA" dirty="0"/>
          </a:p>
          <a:p>
            <a:pPr lvl="1"/>
            <a:r>
              <a:rPr lang="en-CA" b="1" dirty="0"/>
              <a:t>Extraction  de features</a:t>
            </a:r>
            <a:r>
              <a:rPr lang="en-CA" dirty="0"/>
              <a:t>: </a:t>
            </a:r>
            <a:r>
              <a:rPr lang="en-CA" dirty="0" err="1"/>
              <a:t>création</a:t>
            </a:r>
            <a:r>
              <a:rPr lang="en-CA" dirty="0"/>
              <a:t> d'un </a:t>
            </a:r>
            <a:r>
              <a:rPr lang="en-CA" dirty="0" err="1"/>
              <a:t>nouvel</a:t>
            </a:r>
            <a:r>
              <a:rPr lang="en-CA" dirty="0"/>
              <a:t> ensemble de </a:t>
            </a:r>
            <a:r>
              <a:rPr lang="en-CA" dirty="0" err="1"/>
              <a:t>coordonnées</a:t>
            </a:r>
            <a:r>
              <a:rPr lang="en-CA" dirty="0"/>
              <a:t> qui </a:t>
            </a:r>
            <a:r>
              <a:rPr lang="en-CA" dirty="0" err="1"/>
              <a:t>simplifient</a:t>
            </a:r>
            <a:r>
              <a:rPr lang="en-CA" dirty="0"/>
              <a:t> la </a:t>
            </a:r>
            <a:r>
              <a:rPr lang="en-CA" dirty="0" err="1"/>
              <a:t>représentation</a:t>
            </a:r>
            <a:r>
              <a:rPr lang="en-CA" dirty="0"/>
              <a:t> des </a:t>
            </a:r>
            <a:r>
              <a:rPr lang="en-CA" dirty="0" err="1"/>
              <a:t>données</a:t>
            </a:r>
            <a:endParaRPr lang="en-US" dirty="0"/>
          </a:p>
          <a:p>
            <a:endParaRPr lang="fr-CA" dirty="0"/>
          </a:p>
          <a:p>
            <a:endParaRPr lang="fr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Principal component analysis</a:t>
            </a:r>
            <a:endParaRPr lang="fr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PCA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Technique de </a:t>
            </a:r>
            <a:r>
              <a:rPr lang="en-CA" dirty="0" err="1"/>
              <a:t>réduction</a:t>
            </a:r>
            <a:r>
              <a:rPr lang="en-CA" dirty="0"/>
              <a:t> de dimension qui </a:t>
            </a:r>
            <a:r>
              <a:rPr lang="en-CA" dirty="0" err="1"/>
              <a:t>peut</a:t>
            </a:r>
            <a:r>
              <a:rPr lang="en-CA" dirty="0"/>
              <a:t> </a:t>
            </a:r>
            <a:r>
              <a:rPr lang="en-CA" dirty="0" err="1"/>
              <a:t>être</a:t>
            </a:r>
            <a:r>
              <a:rPr lang="en-CA" dirty="0"/>
              <a:t> </a:t>
            </a:r>
            <a:r>
              <a:rPr lang="en-CA" dirty="0" err="1"/>
              <a:t>utilisée</a:t>
            </a:r>
            <a:r>
              <a:rPr lang="en-CA" dirty="0"/>
              <a:t> </a:t>
            </a:r>
            <a:r>
              <a:rPr lang="en-CA" dirty="0" err="1"/>
              <a:t>sur</a:t>
            </a:r>
            <a:r>
              <a:rPr lang="en-CA" dirty="0"/>
              <a:t> </a:t>
            </a:r>
            <a:r>
              <a:rPr lang="en-CA" dirty="0" err="1"/>
              <a:t>une</a:t>
            </a:r>
            <a:r>
              <a:rPr lang="en-CA" dirty="0"/>
              <a:t> </a:t>
            </a:r>
            <a:r>
              <a:rPr lang="en-CA" dirty="0" err="1"/>
              <a:t>matrice</a:t>
            </a:r>
            <a:r>
              <a:rPr lang="en-CA" dirty="0"/>
              <a:t> de </a:t>
            </a:r>
            <a:r>
              <a:rPr lang="en-CA" dirty="0" err="1"/>
              <a:t>n'importe</a:t>
            </a:r>
            <a:r>
              <a:rPr lang="en-CA" dirty="0"/>
              <a:t> </a:t>
            </a:r>
            <a:r>
              <a:rPr lang="en-CA" dirty="0" err="1"/>
              <a:t>quelle</a:t>
            </a:r>
            <a:r>
              <a:rPr lang="en-CA" dirty="0"/>
              <a:t> dimension</a:t>
            </a:r>
          </a:p>
          <a:p>
            <a:endParaRPr lang="en-CA" dirty="0"/>
          </a:p>
          <a:p>
            <a:r>
              <a:rPr lang="en-CA" dirty="0"/>
              <a:t>PCA </a:t>
            </a:r>
            <a:r>
              <a:rPr lang="en-CA" dirty="0" err="1"/>
              <a:t>produit</a:t>
            </a:r>
            <a:r>
              <a:rPr lang="en-CA" dirty="0"/>
              <a:t> un nouveau </a:t>
            </a:r>
            <a:r>
              <a:rPr lang="en-CA" dirty="0" err="1"/>
              <a:t>système</a:t>
            </a:r>
            <a:r>
              <a:rPr lang="en-CA" dirty="0"/>
              <a:t> de </a:t>
            </a:r>
            <a:r>
              <a:rPr lang="en-CA" dirty="0" err="1"/>
              <a:t>coordonnées</a:t>
            </a:r>
            <a:r>
              <a:rPr lang="en-CA" dirty="0"/>
              <a:t> </a:t>
            </a:r>
            <a:r>
              <a:rPr lang="en-CA" dirty="0" err="1"/>
              <a:t>dans</a:t>
            </a:r>
            <a:r>
              <a:rPr lang="en-CA" dirty="0"/>
              <a:t> </a:t>
            </a:r>
            <a:r>
              <a:rPr lang="en-CA" dirty="0" err="1"/>
              <a:t>lequel</a:t>
            </a:r>
            <a:r>
              <a:rPr lang="en-CA" dirty="0"/>
              <a:t> </a:t>
            </a:r>
            <a:r>
              <a:rPr lang="en-CA" dirty="0" err="1"/>
              <a:t>chaque</a:t>
            </a:r>
            <a:r>
              <a:rPr lang="en-CA" dirty="0"/>
              <a:t> </a:t>
            </a:r>
            <a:r>
              <a:rPr lang="en-CA" dirty="0" err="1"/>
              <a:t>composante</a:t>
            </a:r>
            <a:r>
              <a:rPr lang="en-CA" dirty="0"/>
              <a:t> </a:t>
            </a:r>
            <a:r>
              <a:rPr lang="en-CA" dirty="0" err="1"/>
              <a:t>retient</a:t>
            </a:r>
            <a:r>
              <a:rPr lang="en-CA" dirty="0"/>
              <a:t> </a:t>
            </a:r>
            <a:r>
              <a:rPr lang="en-CA" dirty="0" err="1"/>
              <a:t>autant</a:t>
            </a:r>
            <a:r>
              <a:rPr lang="en-CA" dirty="0"/>
              <a:t> de variance </a:t>
            </a:r>
            <a:r>
              <a:rPr lang="en-CA" dirty="0" err="1"/>
              <a:t>que</a:t>
            </a:r>
            <a:r>
              <a:rPr lang="en-CA" dirty="0"/>
              <a:t> </a:t>
            </a:r>
            <a:r>
              <a:rPr lang="en-CA" dirty="0" err="1"/>
              <a:t>dans</a:t>
            </a:r>
            <a:r>
              <a:rPr lang="en-CA" dirty="0"/>
              <a:t> les </a:t>
            </a:r>
            <a:r>
              <a:rPr lang="en-CA" dirty="0" err="1"/>
              <a:t>données</a:t>
            </a:r>
            <a:r>
              <a:rPr lang="en-CA" dirty="0"/>
              <a:t> </a:t>
            </a:r>
            <a:r>
              <a:rPr lang="en-CA" dirty="0" err="1"/>
              <a:t>originelles</a:t>
            </a:r>
            <a:r>
              <a:rPr lang="en-CA" dirty="0"/>
              <a:t>.</a:t>
            </a:r>
            <a:endParaRPr lang="fr-CA" dirty="0"/>
          </a:p>
        </p:txBody>
      </p:sp>
      <p:sp>
        <p:nvSpPr>
          <p:cNvPr id="4" name="ZoneTexte 3"/>
          <p:cNvSpPr txBox="1"/>
          <p:nvPr/>
        </p:nvSpPr>
        <p:spPr>
          <a:xfrm>
            <a:off x="467544" y="4221088"/>
            <a:ext cx="7899231" cy="830997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PCA </a:t>
            </a:r>
            <a:r>
              <a:rPr lang="en-CA" sz="2400" dirty="0" err="1">
                <a:solidFill>
                  <a:schemeClr val="tx1"/>
                </a:solidFill>
              </a:rPr>
              <a:t>d'une</a:t>
            </a:r>
            <a:r>
              <a:rPr lang="en-CA" sz="2400" dirty="0">
                <a:solidFill>
                  <a:schemeClr val="tx1"/>
                </a:solidFill>
              </a:rPr>
              <a:t> </a:t>
            </a:r>
            <a:r>
              <a:rPr lang="en-CA" sz="2400" dirty="0" err="1">
                <a:solidFill>
                  <a:schemeClr val="tx1"/>
                </a:solidFill>
              </a:rPr>
              <a:t>matrice</a:t>
            </a:r>
            <a:r>
              <a:rPr lang="en-CA" sz="2400" dirty="0">
                <a:solidFill>
                  <a:schemeClr val="tx1"/>
                </a:solidFill>
              </a:rPr>
              <a:t> A </a:t>
            </a:r>
            <a:r>
              <a:rPr lang="en-CA" sz="2400" dirty="0" err="1">
                <a:solidFill>
                  <a:schemeClr val="tx1"/>
                </a:solidFill>
              </a:rPr>
              <a:t>est</a:t>
            </a:r>
            <a:r>
              <a:rPr lang="en-CA" sz="2400" dirty="0">
                <a:solidFill>
                  <a:schemeClr val="tx1"/>
                </a:solidFill>
              </a:rPr>
              <a:t> la </a:t>
            </a:r>
            <a:r>
              <a:rPr lang="en-CA" sz="2400" dirty="0" err="1">
                <a:solidFill>
                  <a:schemeClr val="tx1"/>
                </a:solidFill>
              </a:rPr>
              <a:t>décomposition</a:t>
            </a:r>
            <a:r>
              <a:rPr lang="en-CA" sz="2400" dirty="0">
                <a:solidFill>
                  <a:schemeClr val="tx1"/>
                </a:solidFill>
              </a:rPr>
              <a:t> en </a:t>
            </a:r>
            <a:r>
              <a:rPr lang="en-CA" sz="2400" dirty="0" err="1">
                <a:solidFill>
                  <a:schemeClr val="tx1"/>
                </a:solidFill>
              </a:rPr>
              <a:t>eigenvalues</a:t>
            </a:r>
            <a:r>
              <a:rPr lang="en-CA" sz="2400" dirty="0">
                <a:solidFill>
                  <a:schemeClr val="tx1"/>
                </a:solidFill>
              </a:rPr>
              <a:t> de la </a:t>
            </a:r>
            <a:r>
              <a:rPr lang="en-CA" sz="2400" dirty="0" err="1">
                <a:solidFill>
                  <a:schemeClr val="tx1"/>
                </a:solidFill>
              </a:rPr>
              <a:t>matrice</a:t>
            </a:r>
            <a:r>
              <a:rPr lang="en-CA" sz="2400" dirty="0">
                <a:solidFill>
                  <a:schemeClr val="tx1"/>
                </a:solidFill>
              </a:rPr>
              <a:t> </a:t>
            </a:r>
            <a:r>
              <a:rPr lang="en-CA" sz="2400">
                <a:solidFill>
                  <a:schemeClr val="tx1"/>
                </a:solidFill>
              </a:rPr>
              <a:t>de covariance de A</a:t>
            </a:r>
            <a:endParaRPr lang="fr-CA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PCA en plus clair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 smtClean="0"/>
              <a:t>C’est la direction où il y’a le plus de variance, là où il y’a le plus de dispersion de données</a:t>
            </a:r>
            <a:endParaRPr lang="fr-CA" dirty="0"/>
          </a:p>
        </p:txBody>
      </p:sp>
      <p:pic>
        <p:nvPicPr>
          <p:cNvPr id="4" name="Espace réservé du contenu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0" y="2060848"/>
            <a:ext cx="8839200" cy="353568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30630" y="6170172"/>
            <a:ext cx="8376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1200" dirty="0"/>
              <a:t>http://stats.stackexchange.com/questions/2691/making-sense-of-principal-component-analysis-eigenvectors-eigenvalues</a:t>
            </a:r>
          </a:p>
        </p:txBody>
      </p:sp>
    </p:spTree>
    <p:extLst>
      <p:ext uri="{BB962C8B-B14F-4D97-AF65-F5344CB8AC3E}">
        <p14:creationId xmlns:p14="http://schemas.microsoft.com/office/powerpoint/2010/main" val="1993092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 smtClean="0"/>
              <a:t>Eigenvector</a:t>
            </a:r>
            <a:r>
              <a:rPr lang="fr-CA" dirty="0" smtClean="0"/>
              <a:t> et </a:t>
            </a:r>
            <a:r>
              <a:rPr lang="fr-CA" dirty="0" err="1" smtClean="0"/>
              <a:t>Eigenvalue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400" y="5733255"/>
            <a:ext cx="8839200" cy="392909"/>
          </a:xfrm>
        </p:spPr>
        <p:txBody>
          <a:bodyPr/>
          <a:lstStyle/>
          <a:p>
            <a:r>
              <a:rPr lang="fr-CA" sz="1800" dirty="0" err="1" smtClean="0"/>
              <a:t>Ref</a:t>
            </a:r>
            <a:r>
              <a:rPr lang="fr-CA" sz="1800" dirty="0" smtClean="0"/>
              <a:t>: </a:t>
            </a:r>
            <a:r>
              <a:rPr lang="fr-CA" sz="1800" dirty="0">
                <a:hlinkClick r:id="rId2"/>
              </a:rPr>
              <a:t>https://en.wikipedia.org/wiki/Eigenvalues_and_eigenvectors</a:t>
            </a:r>
            <a:r>
              <a:rPr lang="fr-CA" sz="1800" dirty="0" smtClean="0"/>
              <a:t> </a:t>
            </a:r>
            <a:endParaRPr lang="fr-CA" sz="1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5" y="1052736"/>
            <a:ext cx="4174023" cy="144016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5" y="2924944"/>
            <a:ext cx="3514725" cy="60007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8706" y="3957067"/>
            <a:ext cx="1304925" cy="30480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539552" y="3645024"/>
            <a:ext cx="4493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 smtClean="0"/>
              <a:t>Si v et w sont des scalaires multiples, soit:</a:t>
            </a:r>
            <a:endParaRPr lang="fr-CA" dirty="0"/>
          </a:p>
        </p:txBody>
      </p:sp>
      <p:sp>
        <p:nvSpPr>
          <p:cNvPr id="8" name="ZoneTexte 7"/>
          <p:cNvSpPr txBox="1"/>
          <p:nvPr/>
        </p:nvSpPr>
        <p:spPr>
          <a:xfrm>
            <a:off x="467786" y="2612609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 smtClean="0"/>
              <a:t>Pour chaque ligne, on a:</a:t>
            </a:r>
            <a:endParaRPr lang="fr-CA" dirty="0"/>
          </a:p>
        </p:txBody>
      </p:sp>
      <p:sp>
        <p:nvSpPr>
          <p:cNvPr id="9" name="ZoneTexte 8"/>
          <p:cNvSpPr txBox="1"/>
          <p:nvPr/>
        </p:nvSpPr>
        <p:spPr>
          <a:xfrm>
            <a:off x="683568" y="4677147"/>
            <a:ext cx="5763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 smtClean="0"/>
              <a:t>Alors v est le </a:t>
            </a:r>
            <a:r>
              <a:rPr lang="fr-CA" dirty="0" err="1" smtClean="0"/>
              <a:t>eigenvector</a:t>
            </a:r>
            <a:r>
              <a:rPr lang="fr-CA" dirty="0" smtClean="0"/>
              <a:t> </a:t>
            </a:r>
            <a:r>
              <a:rPr lang="fr-CA" dirty="0" smtClean="0"/>
              <a:t>et lambda est la </a:t>
            </a:r>
            <a:r>
              <a:rPr lang="fr-CA" dirty="0" err="1" smtClean="0"/>
              <a:t>eingenvalue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5827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Interprétation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 smtClean="0"/>
              <a:t>Les </a:t>
            </a:r>
            <a:r>
              <a:rPr lang="fr-CA" dirty="0" err="1" smtClean="0"/>
              <a:t>eigenvector</a:t>
            </a:r>
            <a:r>
              <a:rPr lang="fr-CA" dirty="0" smtClean="0"/>
              <a:t> et </a:t>
            </a:r>
            <a:r>
              <a:rPr lang="fr-CA" dirty="0" err="1" smtClean="0"/>
              <a:t>eigenvalue</a:t>
            </a:r>
            <a:r>
              <a:rPr lang="fr-CA" dirty="0" smtClean="0"/>
              <a:t> sont des paires: chaque </a:t>
            </a:r>
            <a:r>
              <a:rPr lang="fr-CA" dirty="0" err="1" smtClean="0"/>
              <a:t>eigenvector</a:t>
            </a:r>
            <a:r>
              <a:rPr lang="fr-CA" dirty="0" smtClean="0"/>
              <a:t> a une </a:t>
            </a:r>
            <a:r>
              <a:rPr lang="fr-CA" dirty="0" err="1" smtClean="0"/>
              <a:t>eigenvalue</a:t>
            </a:r>
            <a:endParaRPr lang="fr-CA" dirty="0" smtClean="0"/>
          </a:p>
          <a:p>
            <a:r>
              <a:rPr lang="fr-CA" dirty="0" err="1" smtClean="0"/>
              <a:t>Eigenvector</a:t>
            </a:r>
            <a:r>
              <a:rPr lang="fr-CA" dirty="0" smtClean="0"/>
              <a:t>: direction dans laquelle on a le maximum de dispersion</a:t>
            </a:r>
          </a:p>
          <a:p>
            <a:r>
              <a:rPr lang="fr-CA" dirty="0" err="1" smtClean="0"/>
              <a:t>Eigenvalue</a:t>
            </a:r>
            <a:r>
              <a:rPr lang="fr-CA" dirty="0" smtClean="0"/>
              <a:t>: La valeur de la dispersion dans la direction du </a:t>
            </a:r>
            <a:r>
              <a:rPr lang="fr-CA" dirty="0" err="1" smtClean="0"/>
              <a:t>eigenvector</a:t>
            </a:r>
            <a:endParaRPr lang="fr-CA" dirty="0" smtClean="0"/>
          </a:p>
          <a:p>
            <a:r>
              <a:rPr lang="fr-CA" dirty="0" smtClean="0"/>
              <a:t>Le nombre de </a:t>
            </a:r>
            <a:r>
              <a:rPr lang="fr-CA" dirty="0" err="1" smtClean="0"/>
              <a:t>eigenvector</a:t>
            </a:r>
            <a:r>
              <a:rPr lang="fr-CA" dirty="0" smtClean="0"/>
              <a:t>/</a:t>
            </a:r>
            <a:r>
              <a:rPr lang="fr-CA" dirty="0" err="1" smtClean="0"/>
              <a:t>eigenvalue</a:t>
            </a:r>
            <a:r>
              <a:rPr lang="fr-CA" dirty="0" smtClean="0"/>
              <a:t> est égal au nombre de dimensions du </a:t>
            </a:r>
            <a:r>
              <a:rPr lang="fr-CA" dirty="0" err="1" smtClean="0"/>
              <a:t>dataset</a:t>
            </a:r>
            <a:r>
              <a:rPr lang="fr-CA" dirty="0" smtClean="0"/>
              <a:t>. </a:t>
            </a:r>
          </a:p>
          <a:p>
            <a:pPr lvl="1"/>
            <a:r>
              <a:rPr lang="fr-CA" dirty="0" smtClean="0"/>
              <a:t>Si on a </a:t>
            </a:r>
            <a:r>
              <a:rPr lang="fr-CA" dirty="0" err="1" smtClean="0"/>
              <a:t>age</a:t>
            </a:r>
            <a:r>
              <a:rPr lang="fr-CA" dirty="0" smtClean="0"/>
              <a:t>, poids et taille, on aura donc 3 </a:t>
            </a:r>
            <a:r>
              <a:rPr lang="fr-CA" dirty="0" err="1" smtClean="0"/>
              <a:t>eigenvector</a:t>
            </a:r>
            <a:r>
              <a:rPr lang="fr-CA" dirty="0" smtClean="0"/>
              <a:t>/</a:t>
            </a:r>
            <a:r>
              <a:rPr lang="fr-CA" dirty="0" err="1" smtClean="0"/>
              <a:t>eigenvalue</a:t>
            </a:r>
            <a:endParaRPr lang="fr-CA" dirty="0" smtClean="0"/>
          </a:p>
          <a:p>
            <a:r>
              <a:rPr lang="fr-CA" dirty="0" smtClean="0"/>
              <a:t>La composante principale est le </a:t>
            </a:r>
            <a:r>
              <a:rPr lang="fr-CA" dirty="0" err="1" smtClean="0"/>
              <a:t>eigenvector</a:t>
            </a:r>
            <a:r>
              <a:rPr lang="fr-CA" dirty="0" smtClean="0"/>
              <a:t> pour lequel on a le maximum de </a:t>
            </a:r>
            <a:r>
              <a:rPr lang="fr-CA" dirty="0" err="1" smtClean="0"/>
              <a:t>eigenvalue</a:t>
            </a:r>
            <a:endParaRPr lang="fr-CA" dirty="0" smtClean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43530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Analyse de composantes principale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But: la PCA recherche les dimensions dans </a:t>
            </a:r>
            <a:r>
              <a:rPr lang="fr-CA" dirty="0" smtClean="0"/>
              <a:t>lesquelles </a:t>
            </a:r>
            <a:r>
              <a:rPr lang="fr-CA" dirty="0"/>
              <a:t>le maximum de variance se produit</a:t>
            </a:r>
          </a:p>
          <a:p>
            <a:r>
              <a:rPr lang="fr-CA" dirty="0"/>
              <a:t>C’est une transformation vers un autre système de bases ordonné par variance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40" y="3392646"/>
            <a:ext cx="2668116" cy="236970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3356992"/>
            <a:ext cx="2926524" cy="240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5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Rappel: Variance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C'est la distance moyenne entre la </a:t>
            </a:r>
            <a:r>
              <a:rPr lang="fr-CA" u="sng" dirty="0"/>
              <a:t>moyenne</a:t>
            </a:r>
            <a:r>
              <a:rPr lang="fr-CA" dirty="0"/>
              <a:t> d'un </a:t>
            </a:r>
            <a:r>
              <a:rPr lang="fr-CA" dirty="0" err="1"/>
              <a:t>dataset</a:t>
            </a:r>
            <a:r>
              <a:rPr lang="fr-CA" dirty="0"/>
              <a:t> à un </a:t>
            </a:r>
            <a:r>
              <a:rPr lang="fr-CA" u="sng" dirty="0"/>
              <a:t>point de ce </a:t>
            </a:r>
            <a:r>
              <a:rPr lang="fr-CA" u="sng" dirty="0" err="1"/>
              <a:t>dataset</a:t>
            </a:r>
            <a:r>
              <a:rPr lang="fr-CA" dirty="0"/>
              <a:t>.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Elle permet d'avoir une idée sur l'étalement des données</a:t>
            </a:r>
          </a:p>
          <a:p>
            <a:r>
              <a:rPr lang="fr-CA" dirty="0"/>
              <a:t>Note importante: la variance n'opère que dans une seule dimension indépendamment des autres dimensions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2276872"/>
            <a:ext cx="243840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1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Rappel: Covariance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Permet la mesure similaire à la variance mais dans le cadre de plusieurs dimensions</a:t>
            </a:r>
          </a:p>
          <a:p>
            <a:r>
              <a:rPr lang="fr-CA" dirty="0" err="1"/>
              <a:t>Evaluation</a:t>
            </a:r>
            <a:r>
              <a:rPr lang="fr-CA" dirty="0"/>
              <a:t> sur le changement de deux variables prises ensemble</a:t>
            </a:r>
          </a:p>
          <a:p>
            <a:pPr lvl="1"/>
            <a:r>
              <a:rPr lang="fr-CA" dirty="0"/>
              <a:t>Par rapport aux dimensions entre elles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3933056"/>
            <a:ext cx="6017192" cy="124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16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Matrice de covariance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Sachant la matrice </a:t>
            </a:r>
            <a:r>
              <a:rPr lang="fr-CA" b="1" dirty="0"/>
              <a:t>X</a:t>
            </a:r>
            <a:r>
              <a:rPr lang="fr-CA" dirty="0"/>
              <a:t>, on peut définir la matrice de covariance comme suit: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Noter que les éléments sur la diagonales sont les variances des Xi</a:t>
            </a:r>
          </a:p>
          <a:p>
            <a:r>
              <a:rPr lang="fr-CA" dirty="0"/>
              <a:t>La matrice de covariance est de dimension carrée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916832"/>
            <a:ext cx="6124734" cy="176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1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Decomposition</a:t>
            </a:r>
            <a:r>
              <a:rPr lang="fr-CA" dirty="0"/>
              <a:t> en </a:t>
            </a:r>
            <a:r>
              <a:rPr lang="fr-CA" dirty="0" err="1"/>
              <a:t>eigenvaleurs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Pour une matrice carrée A, on </a:t>
            </a:r>
            <a:r>
              <a:rPr lang="fr-CA" dirty="0" smtClean="0"/>
              <a:t>a</a:t>
            </a:r>
            <a:endParaRPr lang="fr-CA" dirty="0"/>
          </a:p>
          <a:p>
            <a:endParaRPr lang="fr-CA" dirty="0"/>
          </a:p>
          <a:p>
            <a:endParaRPr lang="fr-CA" dirty="0"/>
          </a:p>
          <a:p>
            <a:r>
              <a:rPr lang="fr-CA" dirty="0" smtClean="0"/>
              <a:t>Colonnes </a:t>
            </a:r>
            <a:r>
              <a:rPr lang="fr-CA" dirty="0"/>
              <a:t>de Q: </a:t>
            </a:r>
            <a:r>
              <a:rPr lang="fr-CA" dirty="0" err="1"/>
              <a:t>eigenvectors</a:t>
            </a:r>
            <a:r>
              <a:rPr lang="fr-CA" dirty="0"/>
              <a:t> de A</a:t>
            </a:r>
          </a:p>
          <a:p>
            <a:r>
              <a:rPr lang="fr-CA" dirty="0"/>
              <a:t>valeurs dans </a:t>
            </a:r>
            <a:r>
              <a:rPr lang="el-GR" dirty="0"/>
              <a:t>Λ</a:t>
            </a:r>
            <a:r>
              <a:rPr lang="fr-CA" dirty="0"/>
              <a:t> : </a:t>
            </a:r>
            <a:r>
              <a:rPr lang="fr-CA" dirty="0" err="1"/>
              <a:t>eigenvalues</a:t>
            </a:r>
            <a:r>
              <a:rPr lang="fr-CA" dirty="0"/>
              <a:t> de A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1628800"/>
            <a:ext cx="2773624" cy="59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31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PCA | changement de base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On cherche à transformer la base de représentation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132856"/>
            <a:ext cx="6467512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36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PCA | changement de base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On procède à l’ordonnancement selon la grandeur de la variance</a:t>
            </a:r>
          </a:p>
          <a:p>
            <a:r>
              <a:rPr lang="fr-CA" dirty="0"/>
              <a:t>Ici, on va s’intéresser beaucoup plus à PC#1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17" y="2298826"/>
            <a:ext cx="7861566" cy="243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1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Référence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 smtClean="0"/>
              <a:t>Voir </a:t>
            </a:r>
            <a:r>
              <a:rPr lang="fr-CA" dirty="0">
                <a:hlinkClick r:id="rId2"/>
              </a:rPr>
              <a:t>http://setosa.io/ev/principal-component-analysis/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8590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Dans</a:t>
            </a:r>
            <a:r>
              <a:rPr lang="en-CA" dirty="0"/>
              <a:t> </a:t>
            </a:r>
            <a:r>
              <a:rPr lang="en-CA" dirty="0" err="1"/>
              <a:t>cette</a:t>
            </a:r>
            <a:r>
              <a:rPr lang="en-CA" dirty="0"/>
              <a:t> </a:t>
            </a:r>
            <a:r>
              <a:rPr lang="en-CA" dirty="0" err="1"/>
              <a:t>leçon</a:t>
            </a:r>
            <a:r>
              <a:rPr lang="en-CA" dirty="0"/>
              <a:t>, on a passé en revue les points </a:t>
            </a:r>
            <a:r>
              <a:rPr lang="en-CA" dirty="0" err="1"/>
              <a:t>suivants</a:t>
            </a:r>
            <a:r>
              <a:rPr lang="en-CA" dirty="0"/>
              <a:t>:</a:t>
            </a:r>
          </a:p>
          <a:p>
            <a:pPr lvl="1"/>
            <a:r>
              <a:rPr lang="en-CA" dirty="0" err="1"/>
              <a:t>Réduction</a:t>
            </a:r>
            <a:r>
              <a:rPr lang="en-CA" dirty="0"/>
              <a:t> de dimensions: </a:t>
            </a:r>
            <a:r>
              <a:rPr lang="en-CA" dirty="0" err="1"/>
              <a:t>contexte</a:t>
            </a:r>
            <a:endParaRPr lang="en-CA" dirty="0"/>
          </a:p>
          <a:p>
            <a:pPr lvl="1"/>
            <a:r>
              <a:rPr lang="en-CA" dirty="0"/>
              <a:t>Analyse de </a:t>
            </a:r>
            <a:r>
              <a:rPr lang="en-CA" dirty="0" err="1"/>
              <a:t>composantes</a:t>
            </a:r>
            <a:r>
              <a:rPr lang="en-CA" dirty="0"/>
              <a:t> </a:t>
            </a:r>
            <a:r>
              <a:rPr lang="en-CA" dirty="0" err="1"/>
              <a:t>principales</a:t>
            </a:r>
            <a:endParaRPr lang="fr-CA" dirty="0"/>
          </a:p>
          <a:p>
            <a:endParaRPr lang="fr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d8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1_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CA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CA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Bd8_modele</Template>
  <TotalTime>377</TotalTime>
  <Words>709</Words>
  <Application>Microsoft Office PowerPoint</Application>
  <PresentationFormat>Affichage à l'écran (4:3)</PresentationFormat>
  <Paragraphs>90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33" baseType="lpstr">
      <vt:lpstr>Arial</vt:lpstr>
      <vt:lpstr>Calibri</vt:lpstr>
      <vt:lpstr>Corbel</vt:lpstr>
      <vt:lpstr>Frutiger 45</vt:lpstr>
      <vt:lpstr>Rockwell</vt:lpstr>
      <vt:lpstr>Segoe UI</vt:lpstr>
      <vt:lpstr>Segoe UI Semibold</vt:lpstr>
      <vt:lpstr>Segoe WP Semibold</vt:lpstr>
      <vt:lpstr>Times New Roman</vt:lpstr>
      <vt:lpstr>Tw Cen MT Condensed</vt:lpstr>
      <vt:lpstr>Wingdings</vt:lpstr>
      <vt:lpstr>Bd8_modele</vt:lpstr>
      <vt:lpstr>Apprentissage supervisé</vt:lpstr>
      <vt:lpstr>Agenda</vt:lpstr>
      <vt:lpstr>Réduction de dimension</vt:lpstr>
      <vt:lpstr>Cas d'utilisation</vt:lpstr>
      <vt:lpstr>Exemple</vt:lpstr>
      <vt:lpstr>Contrainte</vt:lpstr>
      <vt:lpstr>Reduction de dimension</vt:lpstr>
      <vt:lpstr>Principal component analysis</vt:lpstr>
      <vt:lpstr>PCA</vt:lpstr>
      <vt:lpstr>PCA en plus clair</vt:lpstr>
      <vt:lpstr>Eigenvector et Eigenvalue</vt:lpstr>
      <vt:lpstr>Interprétation</vt:lpstr>
      <vt:lpstr>Analyse de composantes principale</vt:lpstr>
      <vt:lpstr>Rappel: Variance</vt:lpstr>
      <vt:lpstr>Rappel: Covariance</vt:lpstr>
      <vt:lpstr>Matrice de covariance</vt:lpstr>
      <vt:lpstr>Decomposition en eigenvaleurs</vt:lpstr>
      <vt:lpstr>PCA | changement de base</vt:lpstr>
      <vt:lpstr>PCA | changement de base</vt:lpstr>
      <vt:lpstr>Référence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hafv72012</dc:creator>
  <cp:lastModifiedBy>HBenteftifa</cp:lastModifiedBy>
  <cp:revision>60</cp:revision>
  <dcterms:created xsi:type="dcterms:W3CDTF">2016-05-09T10:10:53Z</dcterms:created>
  <dcterms:modified xsi:type="dcterms:W3CDTF">2019-07-05T01:48:24Z</dcterms:modified>
</cp:coreProperties>
</file>