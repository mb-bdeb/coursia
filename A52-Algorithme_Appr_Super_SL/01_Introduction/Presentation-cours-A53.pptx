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256" r:id="rId2"/>
    <p:sldId id="280" r:id="rId3"/>
    <p:sldId id="281" r:id="rId4"/>
    <p:sldId id="282" r:id="rId5"/>
    <p:sldId id="284" r:id="rId6"/>
    <p:sldId id="286" r:id="rId7"/>
  </p:sldIdLst>
  <p:sldSz cx="9144000" cy="6858000" type="screen4x3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D6FF"/>
    <a:srgbClr val="76D6FF"/>
    <a:srgbClr val="FF9900"/>
    <a:srgbClr val="687FFF"/>
    <a:srgbClr val="7A81FF"/>
    <a:srgbClr val="C6BFF2"/>
    <a:srgbClr val="9546F2"/>
    <a:srgbClr val="FF6400"/>
    <a:srgbClr val="66FF33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9"/>
    <p:restoredTop sz="94268" autoAdjust="0"/>
  </p:normalViewPr>
  <p:slideViewPr>
    <p:cSldViewPr>
      <p:cViewPr varScale="1">
        <p:scale>
          <a:sx n="85" d="100"/>
          <a:sy n="85" d="100"/>
        </p:scale>
        <p:origin x="1698" y="78"/>
      </p:cViewPr>
      <p:guideLst>
        <p:guide orient="horz" pos="2160"/>
        <p:guide pos="38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56" d="100"/>
          <a:sy n="156" d="100"/>
        </p:scale>
        <p:origin x="1664" y="-18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B2C2A72-1591-4697-ABD1-E677A54A633C}" type="datetimeFigureOut">
              <a:rPr lang="fr-CA"/>
              <a:pPr>
                <a:defRPr/>
              </a:pPr>
              <a:t>2020-05-05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CA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678F8E-E650-4758-BC96-C0B7FE131AE0}" type="slidenum">
              <a:rPr lang="fr-CA"/>
              <a:pPr>
                <a:defRPr/>
              </a:pPr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3498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70C0"/>
                </a:solidFill>
                <a:latin typeface="Rockwell" pitchFamily="18" charset="0"/>
              </a:defRPr>
            </a:lvl1pPr>
          </a:lstStyle>
          <a:p>
            <a:r>
              <a:rPr lang="fr-FR" dirty="0"/>
              <a:t>Cliquez et modifiez le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Semibold" panose="020B0702040204020203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CA"/>
          </a:p>
        </p:txBody>
      </p:sp>
      <p:sp>
        <p:nvSpPr>
          <p:cNvPr id="9218" name="AutoShape 2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0" name="AutoShape 4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2" name="AutoShape 6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4" name="AutoShape 8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0" y="-1"/>
            <a:ext cx="9144000" cy="2130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</p:spPr>
        <p:txBody>
          <a:bodyPr/>
          <a:lstStyle>
            <a:lvl1pPr algn="l">
              <a:defRPr sz="4000" b="0">
                <a:solidFill>
                  <a:srgbClr val="0070C0"/>
                </a:solidFill>
                <a:latin typeface="Rockwell" pitchFamily="18" charset="0"/>
              </a:defRPr>
            </a:lvl1pPr>
          </a:lstStyle>
          <a:p>
            <a:r>
              <a:rPr lang="fr-FR" dirty="0"/>
              <a:t>Cliquez et modifiez le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80000"/>
              <a:buFontTx/>
              <a:buBlip>
                <a:blip r:embed="rId2"/>
              </a:buBlip>
              <a:defRPr sz="2800" b="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1" y="6496050"/>
            <a:ext cx="9144000" cy="363538"/>
          </a:xfrm>
          <a:prstGeom prst="rect">
            <a:avLst/>
          </a:prstGeom>
          <a:solidFill>
            <a:srgbClr val="00B0F0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r" defTabSz="762000">
              <a:defRPr/>
            </a:pPr>
            <a:endParaRPr lang="fr-FR" sz="1800">
              <a:solidFill>
                <a:schemeClr val="bg1"/>
              </a:solidFill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1" y="6524626"/>
            <a:ext cx="530225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 defTabSz="762000">
              <a:defRPr/>
            </a:pPr>
            <a:fld id="{97861B19-198E-4651-B084-5D19FA2DF438}" type="slidenum">
              <a:rPr lang="fr-FR" sz="1600">
                <a:solidFill>
                  <a:schemeClr val="bg1"/>
                </a:solidFill>
                <a:cs typeface="Arial" pitchFamily="34" charset="0"/>
              </a:rPr>
              <a:pPr algn="l" defTabSz="762000">
                <a:defRPr/>
              </a:pPr>
              <a:t>‹N°›</a:t>
            </a:fld>
            <a:endParaRPr lang="fr-FR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481013" y="6464302"/>
            <a:ext cx="8662987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6BB16-E908-4DFD-9624-BF128234D38D}" type="datetime1">
              <a:rPr lang="fr-FR" sz="160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pPr marL="0" marR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05/05/2020</a:t>
            </a:fld>
            <a:r>
              <a:rPr lang="fr-FR" sz="160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   Collecte et stockage des données 420-A53-BB</a:t>
            </a:r>
            <a:r>
              <a:rPr lang="fr-FR" sz="1600" b="1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– Hafed Benteftifa</a:t>
            </a:r>
            <a:endParaRPr lang="fr-FR" sz="1600" b="1" dirty="0">
              <a:solidFill>
                <a:schemeClr val="bg1"/>
              </a:solidFill>
              <a:latin typeface="Tw Cen MT Condensed" pitchFamily="34" charset="0"/>
            </a:endParaRPr>
          </a:p>
          <a:p>
            <a:pPr algn="r" defTabSz="762000">
              <a:defRPr/>
            </a:pPr>
            <a:endParaRPr lang="fr-FR" sz="1600" b="1" dirty="0">
              <a:solidFill>
                <a:schemeClr val="bg1"/>
              </a:solidFill>
              <a:latin typeface="Tw Cen MT Condensed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dt="0"/>
  <p:txStyles>
    <p:titleStyle>
      <a:lvl1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hafed.benteftifa@bdeb.qc.c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hyperlink" Target="https://www.amazon.ca/s/ref=dp_byline_sr_book_1?ie=UTF8&amp;field-author=Wes+McKinney&amp;search-alias=books-c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420-A53</a:t>
            </a:r>
            <a:br>
              <a:rPr lang="fr-CA" dirty="0"/>
            </a:br>
            <a:r>
              <a:rPr lang="fr-CA" dirty="0"/>
              <a:t> Collecte et stockage de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4581128"/>
            <a:ext cx="6400800" cy="1752600"/>
          </a:xfrm>
        </p:spPr>
        <p:txBody>
          <a:bodyPr/>
          <a:lstStyle/>
          <a:p>
            <a:r>
              <a:rPr lang="fr-CA" dirty="0"/>
              <a:t>Présentation du cours </a:t>
            </a:r>
          </a:p>
          <a:p>
            <a:endParaRPr lang="fr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Intervenants (short-Bio)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15" y="893710"/>
            <a:ext cx="8839200" cy="5217444"/>
          </a:xfrm>
        </p:spPr>
        <p:txBody>
          <a:bodyPr/>
          <a:lstStyle/>
          <a:p>
            <a:r>
              <a:rPr lang="fr-FR" dirty="0" err="1"/>
              <a:t>Hafed</a:t>
            </a:r>
            <a:r>
              <a:rPr lang="fr-FR" dirty="0"/>
              <a:t> </a:t>
            </a:r>
            <a:r>
              <a:rPr lang="en-CA" dirty="0" err="1"/>
              <a:t>Benteftifa</a:t>
            </a:r>
            <a:r>
              <a:rPr lang="fr-FR" dirty="0"/>
              <a:t>  </a:t>
            </a:r>
            <a:r>
              <a:rPr lang="fr-FR" dirty="0" err="1"/>
              <a:t>MSc</a:t>
            </a:r>
            <a:r>
              <a:rPr lang="fr-FR" dirty="0"/>
              <a:t>, PhD</a:t>
            </a:r>
          </a:p>
          <a:p>
            <a:pPr lvl="1"/>
            <a:r>
              <a:rPr lang="fr-FR" dirty="0"/>
              <a:t>Enseignant Collège de Bois de Boulogne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2450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Cheminement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448128" y="786405"/>
            <a:ext cx="3096344" cy="646331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1 – Introduction au processus de collecte de données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860032" y="838453"/>
            <a:ext cx="3097520" cy="646331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2 – Analyse de la nature des données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4860032" y="2024255"/>
            <a:ext cx="3097520" cy="923330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altLang="fr-FR" b="1" dirty="0">
                <a:solidFill>
                  <a:srgbClr val="C00000"/>
                </a:solidFill>
              </a:rPr>
              <a:t>3 – Manipulation de la structure de données selon le format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462936" y="2024255"/>
            <a:ext cx="3097520" cy="646331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0" hangingPunct="0"/>
            <a:r>
              <a:rPr lang="fr-FR" altLang="fr-FR" b="1" dirty="0">
                <a:solidFill>
                  <a:srgbClr val="C00000"/>
                </a:solidFill>
              </a:rPr>
              <a:t>4 – Organiser un processus de collecte de données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467544" y="3263283"/>
            <a:ext cx="3097520" cy="646331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5 – </a:t>
            </a:r>
            <a:r>
              <a:rPr lang="fr-FR" altLang="fr-FR" b="1" dirty="0">
                <a:solidFill>
                  <a:srgbClr val="C00000"/>
                </a:solidFill>
              </a:rPr>
              <a:t>Utilisation d’un outil d’extraction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4860032" y="3263283"/>
            <a:ext cx="3097520" cy="646331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6 – </a:t>
            </a:r>
            <a:r>
              <a:rPr lang="fr-FR" altLang="fr-FR" b="1" dirty="0">
                <a:solidFill>
                  <a:srgbClr val="C00000"/>
                </a:solidFill>
              </a:rPr>
              <a:t>Programmer un outil d’extraction avec Python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467544" y="4393710"/>
            <a:ext cx="3097520" cy="646331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8 – Gestion du stockage des données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4861992" y="4393710"/>
            <a:ext cx="3097520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7 – </a:t>
            </a:r>
            <a:r>
              <a:rPr lang="fr-FR" b="1" dirty="0" err="1">
                <a:solidFill>
                  <a:srgbClr val="C00000"/>
                </a:solidFill>
              </a:rPr>
              <a:t>Aggrégation</a:t>
            </a:r>
            <a:r>
              <a:rPr lang="fr-FR" b="1" dirty="0">
                <a:solidFill>
                  <a:srgbClr val="C00000"/>
                </a:solidFill>
              </a:rPr>
              <a:t> des données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467544" y="5661248"/>
            <a:ext cx="3097520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9 – Projet intégrateur</a:t>
            </a:r>
          </a:p>
        </p:txBody>
      </p:sp>
      <p:cxnSp>
        <p:nvCxnSpPr>
          <p:cNvPr id="54" name="Connecteur droit avec flèche 53"/>
          <p:cNvCxnSpPr>
            <a:stCxn id="33" idx="1"/>
            <a:endCxn id="34" idx="3"/>
          </p:cNvCxnSpPr>
          <p:nvPr/>
        </p:nvCxnSpPr>
        <p:spPr bwMode="auto">
          <a:xfrm flipH="1" flipV="1">
            <a:off x="3560456" y="2347421"/>
            <a:ext cx="1299576" cy="138499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stCxn id="30" idx="2"/>
            <a:endCxn id="33" idx="0"/>
          </p:cNvCxnSpPr>
          <p:nvPr/>
        </p:nvCxnSpPr>
        <p:spPr bwMode="auto">
          <a:xfrm>
            <a:off x="6408792" y="1484784"/>
            <a:ext cx="0" cy="53947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>
            <a:stCxn id="34" idx="2"/>
            <a:endCxn id="35" idx="0"/>
          </p:cNvCxnSpPr>
          <p:nvPr/>
        </p:nvCxnSpPr>
        <p:spPr bwMode="auto">
          <a:xfrm>
            <a:off x="2011696" y="2670586"/>
            <a:ext cx="4608" cy="592697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>
            <a:stCxn id="35" idx="3"/>
            <a:endCxn id="36" idx="1"/>
          </p:cNvCxnSpPr>
          <p:nvPr/>
        </p:nvCxnSpPr>
        <p:spPr bwMode="auto">
          <a:xfrm>
            <a:off x="3565064" y="3586449"/>
            <a:ext cx="1294968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/>
          <p:cNvCxnSpPr>
            <a:stCxn id="36" idx="2"/>
            <a:endCxn id="38" idx="0"/>
          </p:cNvCxnSpPr>
          <p:nvPr/>
        </p:nvCxnSpPr>
        <p:spPr bwMode="auto">
          <a:xfrm>
            <a:off x="6408792" y="3909614"/>
            <a:ext cx="1960" cy="48409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avec flèche 69"/>
          <p:cNvCxnSpPr>
            <a:stCxn id="38" idx="1"/>
            <a:endCxn id="37" idx="3"/>
          </p:cNvCxnSpPr>
          <p:nvPr/>
        </p:nvCxnSpPr>
        <p:spPr bwMode="auto">
          <a:xfrm flipH="1">
            <a:off x="3565064" y="4578376"/>
            <a:ext cx="1296928" cy="13850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avec flèche 72"/>
          <p:cNvCxnSpPr>
            <a:stCxn id="37" idx="2"/>
            <a:endCxn id="39" idx="0"/>
          </p:cNvCxnSpPr>
          <p:nvPr/>
        </p:nvCxnSpPr>
        <p:spPr bwMode="auto">
          <a:xfrm>
            <a:off x="2016304" y="5040041"/>
            <a:ext cx="0" cy="621207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 bwMode="auto">
          <a:xfrm>
            <a:off x="3563888" y="1124744"/>
            <a:ext cx="1294968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02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Evaluation formative </a:t>
            </a:r>
          </a:p>
          <a:p>
            <a:pPr lvl="1"/>
            <a:r>
              <a:rPr lang="fr-FR" dirty="0"/>
              <a:t>TP en classe </a:t>
            </a:r>
          </a:p>
          <a:p>
            <a:pPr lvl="1"/>
            <a:r>
              <a:rPr lang="fr-FR" dirty="0"/>
              <a:t>Travail à la maison </a:t>
            </a:r>
          </a:p>
          <a:p>
            <a:r>
              <a:rPr lang="fr-FR" dirty="0"/>
              <a:t>Évaluation Sommative</a:t>
            </a:r>
          </a:p>
          <a:p>
            <a:pPr lvl="1"/>
            <a:r>
              <a:rPr lang="fr-FR" dirty="0"/>
              <a:t>Quiz   </a:t>
            </a:r>
            <a:r>
              <a:rPr lang="fr-FR" dirty="0">
                <a:sym typeface="Wingdings"/>
              </a:rPr>
              <a:t>  20 %</a:t>
            </a:r>
            <a:endParaRPr lang="fr-FR" dirty="0"/>
          </a:p>
          <a:p>
            <a:pPr lvl="1"/>
            <a:r>
              <a:rPr lang="fr-FR" dirty="0"/>
              <a:t>Projets d’intégration </a:t>
            </a:r>
            <a:r>
              <a:rPr lang="fr-FR" dirty="0">
                <a:sym typeface="Wingdings"/>
              </a:rPr>
              <a:t>  40 %</a:t>
            </a:r>
            <a:endParaRPr lang="fr-FR" dirty="0"/>
          </a:p>
          <a:p>
            <a:pPr lvl="1"/>
            <a:r>
              <a:rPr lang="fr-FR" dirty="0"/>
              <a:t> Examen final </a:t>
            </a:r>
            <a:r>
              <a:rPr lang="fr-FR" dirty="0">
                <a:sym typeface="Wingdings"/>
              </a:rPr>
              <a:t>  40 %</a:t>
            </a:r>
            <a:endParaRPr lang="fr-FR" dirty="0"/>
          </a:p>
          <a:p>
            <a:r>
              <a:rPr lang="fr-FR" dirty="0"/>
              <a:t>Dates importantes (à venir)</a:t>
            </a:r>
          </a:p>
          <a:p>
            <a:pPr lvl="1"/>
            <a:r>
              <a:rPr lang="fr-FR" dirty="0"/>
              <a:t>Quiz </a:t>
            </a:r>
          </a:p>
          <a:p>
            <a:pPr lvl="1"/>
            <a:r>
              <a:rPr lang="fr-FR" dirty="0"/>
              <a:t>Projets d’intégration </a:t>
            </a:r>
          </a:p>
          <a:p>
            <a:pPr lvl="1"/>
            <a:r>
              <a:rPr lang="fr-FR" dirty="0"/>
              <a:t>Examen final </a:t>
            </a:r>
          </a:p>
        </p:txBody>
      </p:sp>
    </p:spTree>
    <p:extLst>
      <p:ext uri="{BB962C8B-B14F-4D97-AF65-F5344CB8AC3E}">
        <p14:creationId xmlns:p14="http://schemas.microsoft.com/office/powerpoint/2010/main" val="183079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Avant de commencer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Posez des questions.</a:t>
            </a:r>
          </a:p>
          <a:p>
            <a:pPr lvl="1"/>
            <a:r>
              <a:rPr lang="fr-FR" dirty="0"/>
              <a:t>Si un point n'est pas clair, n'hésitez pas à poser des questions à tout moment.</a:t>
            </a:r>
          </a:p>
          <a:p>
            <a:r>
              <a:rPr lang="fr-FR" dirty="0"/>
              <a:t>Point de contact: </a:t>
            </a:r>
          </a:p>
          <a:p>
            <a:pPr lvl="1"/>
            <a:r>
              <a:rPr lang="fr-FR" dirty="0">
                <a:hlinkClick r:id="rId2"/>
              </a:rPr>
              <a:t>hafed.benteftifa@bdeb.qc.ca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779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955" y="4564275"/>
            <a:ext cx="3384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>
                <a:latin typeface="Corbel" panose="020B0503020204020204" pitchFamily="34" charset="0"/>
              </a:rPr>
              <a:t>Python for Data Analysis: Data Wrangling with Pandas, </a:t>
            </a:r>
            <a:r>
              <a:rPr lang="en-CA" b="1" dirty="0" err="1">
                <a:latin typeface="Corbel" panose="020B0503020204020204" pitchFamily="34" charset="0"/>
              </a:rPr>
              <a:t>NumPy</a:t>
            </a:r>
            <a:r>
              <a:rPr lang="en-CA" b="1" dirty="0">
                <a:latin typeface="Corbel" panose="020B0503020204020204" pitchFamily="34" charset="0"/>
              </a:rPr>
              <a:t>, and </a:t>
            </a:r>
            <a:r>
              <a:rPr lang="en-CA" b="1" dirty="0" err="1">
                <a:latin typeface="Corbel" panose="020B0503020204020204" pitchFamily="34" charset="0"/>
              </a:rPr>
              <a:t>IPython</a:t>
            </a:r>
            <a:r>
              <a:rPr lang="fr-CA" b="1" dirty="0" err="1">
                <a:latin typeface="Corbel" panose="020B0503020204020204" pitchFamily="34" charset="0"/>
                <a:hlinkClick r:id="rId2"/>
              </a:rPr>
              <a:t>Wes</a:t>
            </a:r>
            <a:r>
              <a:rPr lang="fr-CA" b="1" dirty="0">
                <a:latin typeface="Corbel" panose="020B0503020204020204" pitchFamily="34" charset="0"/>
                <a:hlinkClick r:id="rId2"/>
              </a:rPr>
              <a:t> </a:t>
            </a:r>
            <a:r>
              <a:rPr lang="fr-CA" b="1" dirty="0" err="1">
                <a:latin typeface="Corbel" panose="020B0503020204020204" pitchFamily="34" charset="0"/>
                <a:hlinkClick r:id="rId2"/>
              </a:rPr>
              <a:t>McKinney</a:t>
            </a:r>
            <a:endParaRPr lang="fr-FR" b="1" dirty="0">
              <a:latin typeface="Corbel" panose="020B0503020204020204" pitchFamily="34" charset="0"/>
              <a:ea typeface="Corbel" charset="0"/>
              <a:cs typeface="Corbel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32" y="1108243"/>
            <a:ext cx="2376264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68144" y="4647662"/>
            <a:ext cx="3112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Corbel" charset="0"/>
                <a:ea typeface="Corbel" charset="0"/>
                <a:cs typeface="Corbel" charset="0"/>
              </a:rPr>
              <a:t>Data Science from Scratch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: First </a:t>
            </a:r>
            <a:r>
              <a:rPr lang="fr-FR" dirty="0" err="1">
                <a:latin typeface="Corbel" charset="0"/>
                <a:ea typeface="Corbel" charset="0"/>
                <a:cs typeface="Corbel" charset="0"/>
              </a:rPr>
              <a:t>Principles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 </a:t>
            </a:r>
            <a:r>
              <a:rPr lang="fr-FR" dirty="0" err="1">
                <a:latin typeface="Corbel" charset="0"/>
                <a:ea typeface="Corbel" charset="0"/>
                <a:cs typeface="Corbel" charset="0"/>
              </a:rPr>
              <a:t>with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 Python 1st Edition</a:t>
            </a:r>
          </a:p>
          <a:p>
            <a:r>
              <a:rPr lang="fr-FR" dirty="0">
                <a:latin typeface="Corbel" charset="0"/>
                <a:ea typeface="Corbel" charset="0"/>
                <a:cs typeface="Corbel" charset="0"/>
              </a:rPr>
              <a:t>by </a:t>
            </a:r>
            <a:r>
              <a:rPr lang="fr-FR" dirty="0" err="1">
                <a:latin typeface="Corbel" charset="0"/>
                <a:ea typeface="Corbel" charset="0"/>
                <a:cs typeface="Corbel" charset="0"/>
              </a:rPr>
              <a:t>Joel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 Grus</a:t>
            </a:r>
          </a:p>
        </p:txBody>
      </p:sp>
      <p:pic>
        <p:nvPicPr>
          <p:cNvPr id="2050" name="Picture 2" descr="https://images-na.ssl-images-amazon.com/images/I/515XdK-YtFL._SX379_BO1,204,203,20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90" y="893710"/>
            <a:ext cx="2662306" cy="348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65360"/>
      </p:ext>
    </p:extLst>
  </p:cSld>
  <p:clrMapOvr>
    <a:masterClrMapping/>
  </p:clrMapOvr>
</p:sld>
</file>

<file path=ppt/theme/theme1.xml><?xml version="1.0" encoding="utf-8"?>
<a:theme xmlns:a="http://schemas.openxmlformats.org/drawingml/2006/main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3632</TotalTime>
  <Words>191</Words>
  <Application>Microsoft Office PowerPoint</Application>
  <PresentationFormat>Affichage à l'écran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Arial</vt:lpstr>
      <vt:lpstr>Calibri</vt:lpstr>
      <vt:lpstr>Corbel</vt:lpstr>
      <vt:lpstr>Frutiger 45</vt:lpstr>
      <vt:lpstr>Rockwell</vt:lpstr>
      <vt:lpstr>Segoe UI Semibold</vt:lpstr>
      <vt:lpstr>Times New Roman</vt:lpstr>
      <vt:lpstr>Tw Cen MT Condensed</vt:lpstr>
      <vt:lpstr>Wingdings</vt:lpstr>
      <vt:lpstr>Bd8_modele</vt:lpstr>
      <vt:lpstr>420-A53  Collecte et stockage de données</vt:lpstr>
      <vt:lpstr>Intervenants (short-Bio)</vt:lpstr>
      <vt:lpstr>Cheminement</vt:lpstr>
      <vt:lpstr>Evaluation </vt:lpstr>
      <vt:lpstr>Avant de commencer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Nesrine Zemirli</dc:creator>
  <cp:lastModifiedBy>hafv72012</cp:lastModifiedBy>
  <cp:revision>35</cp:revision>
  <dcterms:created xsi:type="dcterms:W3CDTF">2016-05-11T16:58:07Z</dcterms:created>
  <dcterms:modified xsi:type="dcterms:W3CDTF">2020-05-05T21:28:06Z</dcterms:modified>
</cp:coreProperties>
</file>