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7"/>
  </p:notesMasterIdLst>
  <p:sldIdLst>
    <p:sldId id="256" r:id="rId2"/>
    <p:sldId id="280" r:id="rId3"/>
    <p:sldId id="281" r:id="rId4"/>
    <p:sldId id="284" r:id="rId5"/>
    <p:sldId id="286" r:id="rId6"/>
  </p:sldIdLst>
  <p:sldSz cx="9144000" cy="6858000" type="screen4x3"/>
  <p:notesSz cx="6858000" cy="91440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D6FF"/>
    <a:srgbClr val="76D6FF"/>
    <a:srgbClr val="FF9900"/>
    <a:srgbClr val="687FFF"/>
    <a:srgbClr val="7A81FF"/>
    <a:srgbClr val="C6BFF2"/>
    <a:srgbClr val="9546F2"/>
    <a:srgbClr val="FF6400"/>
    <a:srgbClr val="66FF33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09"/>
    <p:restoredTop sz="94268" autoAdjust="0"/>
  </p:normalViewPr>
  <p:slideViewPr>
    <p:cSldViewPr>
      <p:cViewPr varScale="1">
        <p:scale>
          <a:sx n="104" d="100"/>
          <a:sy n="104" d="100"/>
        </p:scale>
        <p:origin x="1368" y="120"/>
      </p:cViewPr>
      <p:guideLst>
        <p:guide orient="horz" pos="2160"/>
        <p:guide pos="38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56" d="100"/>
          <a:sy n="156" d="100"/>
        </p:scale>
        <p:origin x="1664" y="-18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B2C2A72-1591-4697-ABD1-E677A54A633C}" type="datetimeFigureOut">
              <a:rPr lang="fr-CA"/>
              <a:pPr>
                <a:defRPr/>
              </a:pPr>
              <a:t>2021-07-09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CA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5678F8E-E650-4758-BC96-C0B7FE131AE0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34987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70C0"/>
                </a:solidFill>
                <a:latin typeface="Rockwell" pitchFamily="18" charset="0"/>
              </a:defRPr>
            </a:lvl1pPr>
          </a:lstStyle>
          <a:p>
            <a:r>
              <a:rPr lang="fr-FR" dirty="0"/>
              <a:t>Cliquez et modifiez le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Segoe UI Semibold" panose="020B0702040204020203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  <a:endParaRPr lang="fr-CA"/>
          </a:p>
        </p:txBody>
      </p:sp>
      <p:sp>
        <p:nvSpPr>
          <p:cNvPr id="9218" name="AutoShape 2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0" name="AutoShape 4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2" name="AutoShape 6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sp>
        <p:nvSpPr>
          <p:cNvPr id="9224" name="AutoShape 8" descr="Résultats de recherche d'images pour « java logo »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10800000">
            <a:off x="0" y="-1"/>
            <a:ext cx="9144000" cy="21304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</p:spPr>
        <p:txBody>
          <a:bodyPr/>
          <a:lstStyle>
            <a:lvl1pPr algn="l">
              <a:defRPr sz="4000" b="0">
                <a:solidFill>
                  <a:srgbClr val="0070C0"/>
                </a:solidFill>
                <a:latin typeface="Rockwell" pitchFamily="18" charset="0"/>
              </a:defRPr>
            </a:lvl1pPr>
          </a:lstStyle>
          <a:p>
            <a:r>
              <a:rPr lang="fr-FR" dirty="0"/>
              <a:t>Cliquez et modifiez le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buSzPct val="80000"/>
              <a:buFontTx/>
              <a:buBlip>
                <a:blip r:embed="rId2"/>
              </a:buBlip>
              <a:defRPr sz="2800" b="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Font typeface="Wingdings" pitchFamily="2" charset="2"/>
              <a:buChar char="Ø"/>
              <a:defRPr sz="24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20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8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800">
                <a:latin typeface="Corbel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ChangeArrowheads="1"/>
          </p:cNvSpPr>
          <p:nvPr/>
        </p:nvSpPr>
        <p:spPr bwMode="auto">
          <a:xfrm>
            <a:off x="1" y="6496050"/>
            <a:ext cx="9144000" cy="363538"/>
          </a:xfrm>
          <a:prstGeom prst="rect">
            <a:avLst/>
          </a:prstGeom>
          <a:solidFill>
            <a:srgbClr val="00B0F0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r" defTabSz="762000">
              <a:defRPr/>
            </a:pPr>
            <a:endParaRPr lang="fr-FR" sz="1800">
              <a:solidFill>
                <a:schemeClr val="bg1"/>
              </a:solidFill>
              <a:latin typeface="Frutiger 45" charset="0"/>
            </a:endParaRPr>
          </a:p>
        </p:txBody>
      </p:sp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1" y="6524626"/>
            <a:ext cx="530225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l" defTabSz="762000">
              <a:defRPr/>
            </a:pPr>
            <a:fld id="{97861B19-198E-4651-B084-5D19FA2DF438}" type="slidenum">
              <a:rPr lang="fr-FR" sz="1600">
                <a:solidFill>
                  <a:schemeClr val="bg1"/>
                </a:solidFill>
                <a:cs typeface="Arial" pitchFamily="34" charset="0"/>
              </a:rPr>
              <a:pPr algn="l" defTabSz="762000">
                <a:defRPr/>
              </a:pPr>
              <a:t>‹#›</a:t>
            </a:fld>
            <a:endParaRPr lang="fr-FR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481013" y="6464302"/>
            <a:ext cx="8662987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0" marR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6BB16-E908-4DFD-9624-BF128234D38D}" type="datetime1">
              <a:rPr lang="fr-FR" sz="160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pPr marL="0" marR="0" indent="0" algn="l" defTabSz="7620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09/07/2021</a:t>
            </a:fld>
            <a:r>
              <a:rPr lang="fr-FR" sz="1600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    Algorithmes d’apprentissage supervisé 420-A52-BB</a:t>
            </a:r>
            <a:r>
              <a:rPr lang="fr-FR" sz="1600" b="1" dirty="0">
                <a:solidFill>
                  <a:schemeClr val="bg1"/>
                </a:solidFill>
                <a:latin typeface="Rockwell" pitchFamily="18" charset="0"/>
                <a:cs typeface="Segoe WP Semibold" panose="020B0702040204020203" pitchFamily="34" charset="0"/>
              </a:rPr>
              <a:t> – Hafed Benteftifa</a:t>
            </a:r>
            <a:endParaRPr lang="fr-FR" sz="1600" b="1" dirty="0">
              <a:solidFill>
                <a:schemeClr val="bg1"/>
              </a:solidFill>
              <a:latin typeface="Tw Cen MT Condensed" pitchFamily="34" charset="0"/>
            </a:endParaRPr>
          </a:p>
          <a:p>
            <a:pPr algn="r" defTabSz="762000">
              <a:defRPr/>
            </a:pPr>
            <a:endParaRPr lang="fr-FR" sz="1600" b="1" dirty="0">
              <a:solidFill>
                <a:schemeClr val="bg1"/>
              </a:solidFill>
              <a:latin typeface="Tw Cen MT Condensed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dt="0"/>
  <p:txStyles>
    <p:titleStyle>
      <a:lvl1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defTabSz="7620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defTabSz="762000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hafed.benteftifa@bdeb.qc.c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420-A52</a:t>
            </a:r>
            <a:br>
              <a:rPr lang="fr-CA" dirty="0"/>
            </a:br>
            <a:r>
              <a:rPr lang="fr-CA" dirty="0"/>
              <a:t> Algorithmes d’apprentissage supervisé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4581128"/>
            <a:ext cx="6400800" cy="1752600"/>
          </a:xfrm>
        </p:spPr>
        <p:txBody>
          <a:bodyPr/>
          <a:lstStyle/>
          <a:p>
            <a:r>
              <a:rPr lang="fr-CA" dirty="0"/>
              <a:t>Présentation du cours </a:t>
            </a:r>
          </a:p>
          <a:p>
            <a:endParaRPr lang="fr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Intervenants (short-Bio)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15" y="893710"/>
            <a:ext cx="8839200" cy="5217444"/>
          </a:xfrm>
        </p:spPr>
        <p:txBody>
          <a:bodyPr/>
          <a:lstStyle/>
          <a:p>
            <a:r>
              <a:rPr lang="fr-FR" dirty="0" err="1"/>
              <a:t>Hafed</a:t>
            </a:r>
            <a:r>
              <a:rPr lang="fr-FR" dirty="0"/>
              <a:t> </a:t>
            </a:r>
            <a:r>
              <a:rPr lang="en-CA" dirty="0" err="1"/>
              <a:t>Benteftifa</a:t>
            </a:r>
            <a:r>
              <a:rPr lang="fr-FR" dirty="0"/>
              <a:t>  </a:t>
            </a:r>
            <a:r>
              <a:rPr lang="fr-FR" dirty="0" err="1"/>
              <a:t>MSc</a:t>
            </a:r>
            <a:r>
              <a:rPr lang="fr-FR" dirty="0"/>
              <a:t>, PhD</a:t>
            </a:r>
          </a:p>
          <a:p>
            <a:pPr lvl="1"/>
            <a:r>
              <a:rPr lang="fr-FR" dirty="0"/>
              <a:t>Enseignant Collège de Bois de Boulogne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2450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Cheminement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446952" y="926455"/>
            <a:ext cx="3244968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1 – </a:t>
            </a:r>
            <a:r>
              <a:rPr lang="fr-FR" b="1" dirty="0" err="1">
                <a:solidFill>
                  <a:srgbClr val="C00000"/>
                </a:solidFill>
              </a:rPr>
              <a:t>DataScience</a:t>
            </a:r>
            <a:r>
              <a:rPr lang="fr-FR" b="1" dirty="0">
                <a:solidFill>
                  <a:srgbClr val="C00000"/>
                </a:solidFill>
              </a:rPr>
              <a:t> workflow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860032" y="838453"/>
            <a:ext cx="3527216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2 – Approches de Régression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4860032" y="1637239"/>
            <a:ext cx="3527216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hangingPunct="0"/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altLang="fr-FR" b="1" dirty="0">
                <a:solidFill>
                  <a:srgbClr val="C00000"/>
                </a:solidFill>
              </a:rPr>
              <a:t>3 – Régression linéaire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448128" y="1618203"/>
            <a:ext cx="3244968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0" hangingPunct="0"/>
            <a:r>
              <a:rPr lang="fr-FR" altLang="fr-FR" b="1" dirty="0">
                <a:solidFill>
                  <a:srgbClr val="C00000"/>
                </a:solidFill>
              </a:rPr>
              <a:t>4 – Approches de classification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448128" y="2554291"/>
            <a:ext cx="3244968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hangingPunct="0"/>
            <a:r>
              <a:rPr lang="fr-FR" b="1" dirty="0">
                <a:solidFill>
                  <a:srgbClr val="C00000"/>
                </a:solidFill>
              </a:rPr>
              <a:t> 5 – </a:t>
            </a:r>
            <a:r>
              <a:rPr lang="fr-FR" altLang="fr-FR" b="1" dirty="0">
                <a:solidFill>
                  <a:srgbClr val="C00000"/>
                </a:solidFill>
              </a:rPr>
              <a:t>Approche KNN</a:t>
            </a:r>
          </a:p>
        </p:txBody>
      </p:sp>
      <p:sp>
        <p:nvSpPr>
          <p:cNvPr id="36" name="ZoneTexte 35"/>
          <p:cNvSpPr txBox="1"/>
          <p:nvPr/>
        </p:nvSpPr>
        <p:spPr>
          <a:xfrm>
            <a:off x="4858856" y="2544292"/>
            <a:ext cx="3528392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hangingPunct="0"/>
            <a:r>
              <a:rPr lang="fr-FR" b="1" dirty="0">
                <a:solidFill>
                  <a:srgbClr val="C00000"/>
                </a:solidFill>
              </a:rPr>
              <a:t> 6 – </a:t>
            </a:r>
            <a:r>
              <a:rPr lang="fr-FR" altLang="fr-FR" b="1" dirty="0">
                <a:solidFill>
                  <a:srgbClr val="C00000"/>
                </a:solidFill>
              </a:rPr>
              <a:t>Approche Arbre de décision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446952" y="3446669"/>
            <a:ext cx="3244968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8 – </a:t>
            </a:r>
            <a:r>
              <a:rPr lang="fr-FR" b="1" dirty="0" err="1">
                <a:solidFill>
                  <a:srgbClr val="C00000"/>
                </a:solidFill>
              </a:rPr>
              <a:t>Selection</a:t>
            </a:r>
            <a:r>
              <a:rPr lang="fr-FR" b="1" dirty="0">
                <a:solidFill>
                  <a:srgbClr val="C00000"/>
                </a:solidFill>
              </a:rPr>
              <a:t> de modèles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4858856" y="3451345"/>
            <a:ext cx="3528392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7 – Approche </a:t>
            </a:r>
            <a:r>
              <a:rPr lang="fr-FR" b="1" dirty="0" err="1">
                <a:solidFill>
                  <a:srgbClr val="C00000"/>
                </a:solidFill>
              </a:rPr>
              <a:t>Bayesienne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446952" y="4456979"/>
            <a:ext cx="3244968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9 – Régression polynomiale</a:t>
            </a:r>
          </a:p>
        </p:txBody>
      </p:sp>
      <p:cxnSp>
        <p:nvCxnSpPr>
          <p:cNvPr id="54" name="Connecteur droit avec flèche 53"/>
          <p:cNvCxnSpPr>
            <a:stCxn id="33" idx="1"/>
            <a:endCxn id="34" idx="3"/>
          </p:cNvCxnSpPr>
          <p:nvPr/>
        </p:nvCxnSpPr>
        <p:spPr bwMode="auto">
          <a:xfrm flipH="1" flipV="1">
            <a:off x="3693096" y="1802869"/>
            <a:ext cx="1166936" cy="19036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>
            <a:stCxn id="30" idx="2"/>
            <a:endCxn id="33" idx="0"/>
          </p:cNvCxnSpPr>
          <p:nvPr/>
        </p:nvCxnSpPr>
        <p:spPr bwMode="auto">
          <a:xfrm>
            <a:off x="6623640" y="1207785"/>
            <a:ext cx="0" cy="429454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>
            <a:stCxn id="34" idx="2"/>
            <a:endCxn id="35" idx="0"/>
          </p:cNvCxnSpPr>
          <p:nvPr/>
        </p:nvCxnSpPr>
        <p:spPr bwMode="auto">
          <a:xfrm>
            <a:off x="2070612" y="1987535"/>
            <a:ext cx="0" cy="566756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necteur droit avec flèche 63"/>
          <p:cNvCxnSpPr>
            <a:stCxn id="35" idx="3"/>
            <a:endCxn id="36" idx="1"/>
          </p:cNvCxnSpPr>
          <p:nvPr/>
        </p:nvCxnSpPr>
        <p:spPr bwMode="auto">
          <a:xfrm flipV="1">
            <a:off x="3693096" y="2728958"/>
            <a:ext cx="1165760" cy="9999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necteur droit avec flèche 66"/>
          <p:cNvCxnSpPr>
            <a:stCxn id="36" idx="2"/>
            <a:endCxn id="38" idx="0"/>
          </p:cNvCxnSpPr>
          <p:nvPr/>
        </p:nvCxnSpPr>
        <p:spPr bwMode="auto">
          <a:xfrm>
            <a:off x="6623052" y="2913624"/>
            <a:ext cx="0" cy="537721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eur droit avec flèche 69"/>
          <p:cNvCxnSpPr>
            <a:stCxn id="38" idx="1"/>
            <a:endCxn id="37" idx="3"/>
          </p:cNvCxnSpPr>
          <p:nvPr/>
        </p:nvCxnSpPr>
        <p:spPr bwMode="auto">
          <a:xfrm flipH="1" flipV="1">
            <a:off x="3691920" y="3631335"/>
            <a:ext cx="1166936" cy="4676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eur droit avec flèche 72"/>
          <p:cNvCxnSpPr>
            <a:stCxn id="37" idx="2"/>
            <a:endCxn id="39" idx="0"/>
          </p:cNvCxnSpPr>
          <p:nvPr/>
        </p:nvCxnSpPr>
        <p:spPr bwMode="auto">
          <a:xfrm>
            <a:off x="2069436" y="3816001"/>
            <a:ext cx="0" cy="640978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>
            <a:stCxn id="29" idx="3"/>
          </p:cNvCxnSpPr>
          <p:nvPr/>
        </p:nvCxnSpPr>
        <p:spPr bwMode="auto">
          <a:xfrm>
            <a:off x="3691920" y="1111121"/>
            <a:ext cx="1166936" cy="13623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4858856" y="4470135"/>
            <a:ext cx="3528392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hangingPunct="0"/>
            <a:r>
              <a:rPr lang="fr-FR" b="1" dirty="0">
                <a:solidFill>
                  <a:srgbClr val="C00000"/>
                </a:solidFill>
              </a:rPr>
              <a:t> 10 – </a:t>
            </a:r>
            <a:r>
              <a:rPr lang="fr-FR" altLang="fr-FR" b="1" dirty="0">
                <a:solidFill>
                  <a:srgbClr val="C00000"/>
                </a:solidFill>
              </a:rPr>
              <a:t>Régularisation</a:t>
            </a:r>
          </a:p>
        </p:txBody>
      </p:sp>
      <p:cxnSp>
        <p:nvCxnSpPr>
          <p:cNvPr id="25" name="Connecteur droit avec flèche 24"/>
          <p:cNvCxnSpPr>
            <a:stCxn id="39" idx="3"/>
            <a:endCxn id="24" idx="1"/>
          </p:cNvCxnSpPr>
          <p:nvPr/>
        </p:nvCxnSpPr>
        <p:spPr bwMode="auto">
          <a:xfrm>
            <a:off x="3691920" y="4641645"/>
            <a:ext cx="1166936" cy="13156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ZoneTexte 61"/>
          <p:cNvSpPr txBox="1"/>
          <p:nvPr/>
        </p:nvSpPr>
        <p:spPr>
          <a:xfrm>
            <a:off x="446952" y="5369699"/>
            <a:ext cx="3244968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12 – Déploiement</a:t>
            </a:r>
          </a:p>
        </p:txBody>
      </p:sp>
      <p:sp>
        <p:nvSpPr>
          <p:cNvPr id="63" name="ZoneTexte 62"/>
          <p:cNvSpPr txBox="1"/>
          <p:nvPr/>
        </p:nvSpPr>
        <p:spPr>
          <a:xfrm>
            <a:off x="4858856" y="5364032"/>
            <a:ext cx="3528392" cy="369332"/>
          </a:xfrm>
          <a:prstGeom prst="rect">
            <a:avLst/>
          </a:prstGeom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11 – Biais-Variance</a:t>
            </a:r>
          </a:p>
        </p:txBody>
      </p:sp>
      <p:cxnSp>
        <p:nvCxnSpPr>
          <p:cNvPr id="65" name="Connecteur droit avec flèche 64"/>
          <p:cNvCxnSpPr>
            <a:stCxn id="63" idx="1"/>
            <a:endCxn id="62" idx="3"/>
          </p:cNvCxnSpPr>
          <p:nvPr/>
        </p:nvCxnSpPr>
        <p:spPr bwMode="auto">
          <a:xfrm flipH="1">
            <a:off x="3691920" y="5548698"/>
            <a:ext cx="1166936" cy="5667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avec flèche 65"/>
          <p:cNvCxnSpPr/>
          <p:nvPr/>
        </p:nvCxnSpPr>
        <p:spPr bwMode="auto">
          <a:xfrm>
            <a:off x="6609777" y="4826311"/>
            <a:ext cx="0" cy="537721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02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Avant de commencer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Posez des questions.</a:t>
            </a:r>
          </a:p>
          <a:p>
            <a:pPr lvl="1"/>
            <a:r>
              <a:rPr lang="fr-FR" dirty="0"/>
              <a:t>Si un point n'est pas clair, n'hésitez pas à poser des questions à tout moment.</a:t>
            </a:r>
          </a:p>
          <a:p>
            <a:r>
              <a:rPr lang="fr-FR"/>
              <a:t>Point </a:t>
            </a:r>
            <a:r>
              <a:rPr lang="fr-FR" dirty="0"/>
              <a:t>de contact: </a:t>
            </a:r>
          </a:p>
          <a:p>
            <a:pPr lvl="1"/>
            <a:r>
              <a:rPr lang="fr-FR" dirty="0">
                <a:hlinkClick r:id="rId2"/>
              </a:rPr>
              <a:t>hafed.benteftifa@bdeb.qc.ca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7796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Références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955" y="4564275"/>
            <a:ext cx="33843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dirty="0"/>
              <a:t>Data science : fondamentaux et études de cas : machine </a:t>
            </a:r>
            <a:r>
              <a:rPr lang="fr-CA" dirty="0" err="1"/>
              <a:t>learning</a:t>
            </a:r>
            <a:r>
              <a:rPr lang="fr-CA" dirty="0"/>
              <a:t> avec Python et R, </a:t>
            </a:r>
            <a:r>
              <a:rPr lang="fr-CA" dirty="0" err="1"/>
              <a:t>Eric</a:t>
            </a:r>
            <a:r>
              <a:rPr lang="fr-CA" dirty="0"/>
              <a:t> </a:t>
            </a:r>
            <a:r>
              <a:rPr lang="fr-CA" dirty="0" err="1"/>
              <a:t>Biernat</a:t>
            </a:r>
            <a:r>
              <a:rPr lang="fr-CA" dirty="0"/>
              <a:t> | Michel Lutz, Eyrolles</a:t>
            </a:r>
            <a:endParaRPr lang="fr-FR" b="1" dirty="0">
              <a:latin typeface="Corbel" panose="020B0503020204020204" pitchFamily="34" charset="0"/>
              <a:ea typeface="Corbel" charset="0"/>
              <a:cs typeface="Corbel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432" y="1108243"/>
            <a:ext cx="2376264" cy="3429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68144" y="4647662"/>
            <a:ext cx="31125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Corbel" charset="0"/>
                <a:ea typeface="Corbel" charset="0"/>
                <a:cs typeface="Corbel" charset="0"/>
              </a:rPr>
              <a:t>Data Science from Scratch</a:t>
            </a:r>
            <a:r>
              <a:rPr lang="fr-FR" dirty="0">
                <a:latin typeface="Corbel" charset="0"/>
                <a:ea typeface="Corbel" charset="0"/>
                <a:cs typeface="Corbel" charset="0"/>
              </a:rPr>
              <a:t>: First </a:t>
            </a:r>
            <a:r>
              <a:rPr lang="fr-FR" dirty="0" err="1">
                <a:latin typeface="Corbel" charset="0"/>
                <a:ea typeface="Corbel" charset="0"/>
                <a:cs typeface="Corbel" charset="0"/>
              </a:rPr>
              <a:t>Principles</a:t>
            </a:r>
            <a:r>
              <a:rPr lang="fr-FR" dirty="0">
                <a:latin typeface="Corbel" charset="0"/>
                <a:ea typeface="Corbel" charset="0"/>
                <a:cs typeface="Corbel" charset="0"/>
              </a:rPr>
              <a:t> </a:t>
            </a:r>
            <a:r>
              <a:rPr lang="fr-FR" dirty="0" err="1">
                <a:latin typeface="Corbel" charset="0"/>
                <a:ea typeface="Corbel" charset="0"/>
                <a:cs typeface="Corbel" charset="0"/>
              </a:rPr>
              <a:t>with</a:t>
            </a:r>
            <a:r>
              <a:rPr lang="fr-FR" dirty="0">
                <a:latin typeface="Corbel" charset="0"/>
                <a:ea typeface="Corbel" charset="0"/>
                <a:cs typeface="Corbel" charset="0"/>
              </a:rPr>
              <a:t> Python 1st Edition</a:t>
            </a:r>
          </a:p>
          <a:p>
            <a:r>
              <a:rPr lang="fr-FR" dirty="0">
                <a:latin typeface="Corbel" charset="0"/>
                <a:ea typeface="Corbel" charset="0"/>
                <a:cs typeface="Corbel" charset="0"/>
              </a:rPr>
              <a:t>by </a:t>
            </a:r>
            <a:r>
              <a:rPr lang="fr-FR" dirty="0" err="1">
                <a:latin typeface="Corbel" charset="0"/>
                <a:ea typeface="Corbel" charset="0"/>
                <a:cs typeface="Corbel" charset="0"/>
              </a:rPr>
              <a:t>Joel</a:t>
            </a:r>
            <a:r>
              <a:rPr lang="fr-FR" dirty="0">
                <a:latin typeface="Corbel" charset="0"/>
                <a:ea typeface="Corbel" charset="0"/>
                <a:cs typeface="Corbel" charset="0"/>
              </a:rPr>
              <a:t> Grus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25" y="753959"/>
            <a:ext cx="2799904" cy="378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5360"/>
      </p:ext>
    </p:extLst>
  </p:cSld>
  <p:clrMapOvr>
    <a:masterClrMapping/>
  </p:clrMapOvr>
</p:sld>
</file>

<file path=ppt/theme/theme1.xml><?xml version="1.0" encoding="utf-8"?>
<a:theme xmlns:a="http://schemas.openxmlformats.org/drawingml/2006/main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1_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CA" sz="2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3647</TotalTime>
  <Words>154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Corbel</vt:lpstr>
      <vt:lpstr>Frutiger 45</vt:lpstr>
      <vt:lpstr>Rockwell</vt:lpstr>
      <vt:lpstr>Segoe UI Semibold</vt:lpstr>
      <vt:lpstr>Times New Roman</vt:lpstr>
      <vt:lpstr>Tw Cen MT Condensed</vt:lpstr>
      <vt:lpstr>Wingdings</vt:lpstr>
      <vt:lpstr>Bd8_modele</vt:lpstr>
      <vt:lpstr>420-A52  Algorithmes d’apprentissage supervisé</vt:lpstr>
      <vt:lpstr>Intervenants (short-Bio)</vt:lpstr>
      <vt:lpstr>Cheminement</vt:lpstr>
      <vt:lpstr>Avant de commencer</vt:lpstr>
      <vt:lpstr>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Nesrine Zemirli</dc:creator>
  <cp:lastModifiedBy>hafed benteftifa</cp:lastModifiedBy>
  <cp:revision>37</cp:revision>
  <dcterms:created xsi:type="dcterms:W3CDTF">2016-05-11T16:58:07Z</dcterms:created>
  <dcterms:modified xsi:type="dcterms:W3CDTF">2021-07-09T22:02:09Z</dcterms:modified>
</cp:coreProperties>
</file>