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6858000" cy="9144000"/>
  <p:embeddedFontLst>
    <p:embeddedFont>
      <p:font typeface="Corbel"/>
      <p:regular r:id="rId28"/>
      <p:bold r:id="rId29"/>
      <p:italic r:id="rId30"/>
      <p:boldItalic r:id="rId31"/>
    </p:embeddedFont>
    <p:embeddedFont>
      <p:font typeface="Quattrocento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g5BSlKO6Juu7QfAcOuTf7q5z9W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Corbel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rbel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orbel-boldItalic.fntdata"/><Relationship Id="rId30" Type="http://schemas.openxmlformats.org/officeDocument/2006/relationships/font" Target="fonts/Corbel-italic.fntdata"/><Relationship Id="rId11" Type="http://schemas.openxmlformats.org/officeDocument/2006/relationships/slide" Target="slides/slide6.xml"/><Relationship Id="rId33" Type="http://schemas.openxmlformats.org/officeDocument/2006/relationships/font" Target="fonts/QuattrocentoSans-bold.fntdata"/><Relationship Id="rId10" Type="http://schemas.openxmlformats.org/officeDocument/2006/relationships/slide" Target="slides/slide5.xml"/><Relationship Id="rId32" Type="http://schemas.openxmlformats.org/officeDocument/2006/relationships/font" Target="fonts/QuattrocentoSans-regular.fntdata"/><Relationship Id="rId13" Type="http://schemas.openxmlformats.org/officeDocument/2006/relationships/slide" Target="slides/slide8.xml"/><Relationship Id="rId35" Type="http://schemas.openxmlformats.org/officeDocument/2006/relationships/font" Target="fonts/QuattrocentoSans-boldItalic.fntdata"/><Relationship Id="rId12" Type="http://schemas.openxmlformats.org/officeDocument/2006/relationships/slide" Target="slides/slide7.xml"/><Relationship Id="rId34" Type="http://schemas.openxmlformats.org/officeDocument/2006/relationships/font" Target="fonts/Quattrocento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" name="Google Shape;4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rgbClr val="FF64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descr="Résultats de recherche d'images pour « java logo »" id="16" name="Google Shape;16;p2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7" name="Google Shape;17;p2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8" name="Google Shape;18;p2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9" name="Google Shape;19;p2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FF64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5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–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/>
          <p:nvPr/>
        </p:nvSpPr>
        <p:spPr>
          <a:xfrm>
            <a:off x="1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3"/>
          <p:cNvSpPr/>
          <p:nvPr/>
        </p:nvSpPr>
        <p:spPr>
          <a:xfrm>
            <a:off x="1" y="6524626"/>
            <a:ext cx="530225" cy="58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fr-CA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3"/>
          <p:cNvSpPr/>
          <p:nvPr/>
        </p:nvSpPr>
        <p:spPr>
          <a:xfrm>
            <a:off x="481013" y="6464302"/>
            <a:ext cx="8662987" cy="58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ckwell"/>
              <a:buNone/>
            </a:pPr>
            <a:r>
              <a:rPr b="0" i="0" lang="fr-CA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27/05/2019    Fouilles de données 420-BD8-BB</a:t>
            </a:r>
            <a:r>
              <a:rPr b="1" i="0" lang="fr-CA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 - Hafed Benteftifa</a:t>
            </a:r>
            <a:r>
              <a:rPr b="1" i="0" lang="fr-CA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www.grappa.univ-lille3.fr/polys/fouille/sortie006.html#Breiman84" TargetMode="External"/><Relationship Id="rId4" Type="http://schemas.openxmlformats.org/officeDocument/2006/relationships/hyperlink" Target="http://www.grappa.univ-lille3.fr/polys/fouille/sortie006.html#Quinlan93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Classification</a:t>
            </a:r>
            <a:endParaRPr/>
          </a:p>
        </p:txBody>
      </p:sp>
      <p:sp>
        <p:nvSpPr>
          <p:cNvPr id="28" name="Google Shape;28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lang="fr-CA"/>
              <a:t>Arbre de décision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Agenda</a:t>
            </a:r>
            <a:endParaRPr/>
          </a:p>
        </p:txBody>
      </p:sp>
      <p:sp>
        <p:nvSpPr>
          <p:cNvPr id="34" name="Google Shape;34;p2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Dans cette leçon, on présente les points suivants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Arbre de décision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Arbre de décision</a:t>
            </a:r>
            <a:endParaRPr/>
          </a:p>
        </p:txBody>
      </p:sp>
      <p:sp>
        <p:nvSpPr>
          <p:cNvPr id="40" name="Google Shape;40;p3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Approche de machine learning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Couvre la partie Régression et la partie Classification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L’arbre de décision représente les résultats possibles d’une série de décisions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Il permet de comparer ou d’évaluer des actions possibles selon: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Les couts de chacune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Des probabilités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Des bénéfices de chacune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Arbre de décision | suite</a:t>
            </a:r>
            <a:endParaRPr/>
          </a:p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Un arbre de décision commence avec un nœud simple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Celui-ci va ensuite avoir des branchements sur des cas possibles (résultats).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Ceux-ci peuvent aussi conduire vers des nœuds additionnels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Cette opération se répète vers d’autres possibilités, ce qui donne une ARBORESCENCE</a:t>
            </a:r>
            <a:endParaRPr/>
          </a:p>
        </p:txBody>
      </p:sp>
      <p:pic>
        <p:nvPicPr>
          <p:cNvPr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1401" y="3230949"/>
            <a:ext cx="4489400" cy="310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Arbre de décision | suite</a:t>
            </a:r>
            <a:endParaRPr/>
          </a:p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1" lang="fr-CA"/>
              <a:t>Condition de test</a:t>
            </a:r>
            <a:r>
              <a:rPr lang="fr-CA"/>
              <a:t>: condition présente au niveau d’un nœud. On vérifie la condition de test et on assigne le contrôle à un edge sortant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1" lang="fr-CA"/>
              <a:t>Variable de classe</a:t>
            </a:r>
            <a:r>
              <a:rPr lang="fr-CA"/>
              <a:t>: chaque nœud feuille sera assigné une classe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L’arbre est considéré complété lorsque toutes les conditions de test se terminent par des nœuds feuilles.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Arbre de décision |suite</a:t>
            </a:r>
            <a:endParaRPr/>
          </a:p>
        </p:txBody>
      </p:sp>
      <p:sp>
        <p:nvSpPr>
          <p:cNvPr id="59" name="Google Shape;59;p6"/>
          <p:cNvSpPr txBox="1"/>
          <p:nvPr>
            <p:ph idx="1" type="body"/>
          </p:nvPr>
        </p:nvSpPr>
        <p:spPr>
          <a:xfrm>
            <a:off x="152400" y="908721"/>
            <a:ext cx="657984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CA"/>
              <a:t>Un arbre de décision est un arbre où il y’a: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B050"/>
              </a:buClr>
              <a:buSzPts val="2400"/>
              <a:buChar char="⮚"/>
            </a:pPr>
            <a:r>
              <a:rPr b="1" lang="fr-CA">
                <a:solidFill>
                  <a:srgbClr val="00B050"/>
                </a:solidFill>
              </a:rPr>
              <a:t>Nœud Racine ou Root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B050"/>
              </a:buClr>
              <a:buSzPts val="2400"/>
              <a:buChar char="⮚"/>
            </a:pPr>
            <a:r>
              <a:rPr b="1" lang="fr-CA">
                <a:solidFill>
                  <a:srgbClr val="00B050"/>
                </a:solidFill>
              </a:rPr>
              <a:t>Nœuds internes </a:t>
            </a:r>
            <a:r>
              <a:rPr lang="fr-CA"/>
              <a:t>: un noeud avec un edge entrant et 2 ou plusieurs edge sortants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B050"/>
              </a:buClr>
              <a:buSzPts val="2400"/>
              <a:buChar char="⮚"/>
            </a:pPr>
            <a:r>
              <a:rPr b="1" lang="fr-CA">
                <a:solidFill>
                  <a:srgbClr val="00B050"/>
                </a:solidFill>
              </a:rPr>
              <a:t>Nœuds Feuilles</a:t>
            </a:r>
            <a:r>
              <a:rPr lang="fr-CA"/>
              <a:t> : nœud terminal donnant la  classe. Il n’a pas de edge sortant</a:t>
            </a:r>
            <a:endParaRPr/>
          </a:p>
          <a:p>
            <a:pPr indent="-1333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</p:txBody>
      </p:sp>
      <p:pic>
        <p:nvPicPr>
          <p:cNvPr id="60" name="Google Shape;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7824" y="3933056"/>
            <a:ext cx="2876550" cy="199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Création d’un arbre de décision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Création d’un arbre de décision</a:t>
            </a:r>
            <a:endParaRPr/>
          </a:p>
        </p:txBody>
      </p:sp>
      <p:sp>
        <p:nvSpPr>
          <p:cNvPr id="71" name="Google Shape;71;p8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rPr lang="fr-CA"/>
              <a:t>Deux phases dans la création d’un arbre de décision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1" lang="fr-CA">
                <a:solidFill>
                  <a:srgbClr val="FF0000"/>
                </a:solidFill>
              </a:rPr>
              <a:t>Construction de l’arbre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Arbre peut atteindre une taille élevée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1" lang="fr-CA">
                <a:solidFill>
                  <a:srgbClr val="FF0000"/>
                </a:solidFill>
              </a:rPr>
              <a:t>Elaguage de l’arbre (Pruning)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Identifier et supprimer les branches qui représente du « bruit » 🡪 Permet de diminuer le taux d’erreur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Arbre de décision | </a:t>
            </a:r>
            <a:r>
              <a:rPr lang="fr-CA">
                <a:solidFill>
                  <a:srgbClr val="00B050"/>
                </a:solidFill>
              </a:rPr>
              <a:t>Algorithme</a:t>
            </a:r>
            <a:endParaRPr/>
          </a:p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152400" y="908721"/>
            <a:ext cx="8308032" cy="3528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Au niveau de chaque étape, sélectionner la meilleure variable (nœud) comme la condition de test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Faire un split du nœud selon les cas possibles. Cela donne des nœuds internes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Refaire l’étape de la même manière jusqu’à ce que les conditions de test nous amènent à des nœuds feuilles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8888"/>
              <a:buNone/>
            </a:pPr>
            <a:r>
              <a:rPr lang="fr-CA"/>
              <a:t>Arbre de décision | </a:t>
            </a:r>
            <a:r>
              <a:rPr lang="fr-CA">
                <a:solidFill>
                  <a:srgbClr val="00B050"/>
                </a:solidFill>
              </a:rPr>
              <a:t>Algorithme | suite</a:t>
            </a:r>
            <a:endParaRPr/>
          </a:p>
        </p:txBody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rPr lang="fr-CA">
                <a:solidFill>
                  <a:srgbClr val="FF0000"/>
                </a:solidFill>
              </a:rPr>
              <a:t>Élaguer l’arbre obtenu (pruning)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Supprimer les sous arbres qui n’améliorent pas l’erreur de la classification (accuracy) 🡪 arbre ayant un meilleur pouvoir de </a:t>
            </a:r>
            <a:r>
              <a:rPr lang="fr-CA">
                <a:solidFill>
                  <a:srgbClr val="0070C0"/>
                </a:solidFill>
              </a:rPr>
              <a:t>généralisation</a:t>
            </a:r>
            <a:r>
              <a:rPr lang="fr-CA"/>
              <a:t>, même si on augment l’erreur sur l’ensemble d’apprentissage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Sélection d’attributs</a:t>
            </a:r>
            <a:endParaRPr/>
          </a:p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Quel est le meilleur attribut pour commencer?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Commencer par un attribut à la place d’un autre peut nous amener à un résultat d’apprentissage différent</a:t>
            </a:r>
            <a:endParaRPr u="sng"/>
          </a:p>
        </p:txBody>
      </p:sp>
      <p:sp>
        <p:nvSpPr>
          <p:cNvPr id="90" name="Google Shape;90;p11"/>
          <p:cNvSpPr txBox="1"/>
          <p:nvPr/>
        </p:nvSpPr>
        <p:spPr>
          <a:xfrm>
            <a:off x="797650" y="3517454"/>
            <a:ext cx="7773300" cy="18162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-CA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Arbre de décision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-CA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 utilise les principes de la théorie de l’information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-CA" sz="2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Entropie et gain d’entropie</a:t>
            </a:r>
            <a:endParaRPr b="0" i="0" sz="2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Sélection d’attributs | suite</a:t>
            </a:r>
            <a:endParaRPr/>
          </a:p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>
            <a:off x="152400" y="908721"/>
            <a:ext cx="8839200" cy="2448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Pour N variables, on aura la possibilité d’avoir N nœuds pour commencer l’arbre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Plus on descend dans l’arbre, plus le nombre de possibilités de choix de nœuds diminue</a:t>
            </a:r>
            <a:endParaRPr/>
          </a:p>
        </p:txBody>
      </p:sp>
      <p:sp>
        <p:nvSpPr>
          <p:cNvPr id="97" name="Google Shape;97;p12"/>
          <p:cNvSpPr/>
          <p:nvPr/>
        </p:nvSpPr>
        <p:spPr>
          <a:xfrm>
            <a:off x="2123728" y="3933056"/>
            <a:ext cx="4572000" cy="1384995"/>
          </a:xfrm>
          <a:prstGeom prst="rect">
            <a:avLst/>
          </a:prstGeom>
          <a:gradFill>
            <a:gsLst>
              <a:gs pos="0">
                <a:srgbClr val="BFD1FF"/>
              </a:gs>
              <a:gs pos="35000">
                <a:srgbClr val="CFDEFF"/>
              </a:gs>
              <a:gs pos="100000">
                <a:srgbClr val="EAEEFF"/>
              </a:gs>
            </a:gsLst>
            <a:lin ang="16200000" scaled="0"/>
          </a:gradFill>
          <a:ln cap="flat" cmpd="sng" w="9525">
            <a:solidFill>
              <a:srgbClr val="B0BF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Important: trouver une approche qui permet de sélectionner la variable idéale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Mesures pour le choix de noeud</a:t>
            </a:r>
            <a:endParaRPr/>
          </a:p>
        </p:txBody>
      </p:sp>
      <p:sp>
        <p:nvSpPr>
          <p:cNvPr id="103" name="Google Shape;103;p13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Index GINI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Entropie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Gain d’information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 sz="3600"/>
              <a:t>Entropie</a:t>
            </a:r>
            <a:endParaRPr sz="3600"/>
          </a:p>
        </p:txBody>
      </p:sp>
      <p:sp>
        <p:nvSpPr>
          <p:cNvPr id="109" name="Google Shape;109;p14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Définition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Elle nous permet de mesure le degré de variabilité ou d’homogénéité dans l’arbre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Si les données sont complètement homogènes, l’entropie est égale à 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Si les données sont divisées (50%-50%) data est impur , l’entropie =1</a:t>
            </a:r>
            <a:endParaRPr/>
          </a:p>
        </p:txBody>
      </p:sp>
      <p:pic>
        <p:nvPicPr>
          <p:cNvPr id="110" name="Google Shape;1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3614" y="4366775"/>
            <a:ext cx="3352800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1600550" y="4058998"/>
            <a:ext cx="2581156" cy="307777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Séquence 1:  0 0 0 0 1 0 0 0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4644008" y="4077072"/>
            <a:ext cx="2581156" cy="307777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Séquence 2:  1 0 1 0 1 0 1 1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Formule pour l’entropie</a:t>
            </a:r>
            <a:endParaRPr/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0631" y="893710"/>
            <a:ext cx="4750082" cy="1225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4327" y="2968624"/>
            <a:ext cx="4591050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1678696" y="2435456"/>
            <a:ext cx="2581156" cy="307777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Séquence 1:  0 0 0 0 1 0 0 0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4722154" y="2453530"/>
            <a:ext cx="2581156" cy="307777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Séquence 2:  1 0 1 0 1 0 1 1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 sz="3600"/>
              <a:t>Index GINI</a:t>
            </a:r>
            <a:endParaRPr sz="3600"/>
          </a:p>
        </p:txBody>
      </p:sp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Définition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Le </a:t>
            </a:r>
            <a:r>
              <a:rPr lang="fr-CA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score de Gini donne une idée de la qualité d'un split par l’hétérogénéité des classes des deux groupes créés par le split</a:t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permet de mesure le degré de variabilité ou d’homogénéité dans l’arbre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Une séparation idéale donne un score 0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3614" y="4366775"/>
            <a:ext cx="3352800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1600550" y="4058998"/>
            <a:ext cx="2581156" cy="307777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Séquence 1:  0 0 0 0 1 0 0 0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4644008" y="4077072"/>
            <a:ext cx="2581156" cy="307777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Séquence 2:  1 0 1 0 1 0 1 1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Formule pour GINI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678696" y="2435456"/>
            <a:ext cx="2581156" cy="307777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Séquence 1:  0 0 0 0 1 0 0 0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4722154" y="2453530"/>
            <a:ext cx="2581156" cy="307777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Séquence 2:  1 0 1 0 1 0 1 1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1083674"/>
            <a:ext cx="25812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7984" y="928172"/>
            <a:ext cx="2628900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827584" y="743506"/>
            <a:ext cx="1377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 Binaire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427984" y="743506"/>
            <a:ext cx="2723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 de classes multiples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1591974" y="3281699"/>
            <a:ext cx="298671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 Binaire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Valeur 1 = 1/9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Valeur 0 = 8/9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 = 1 – (1/9)^2 – (8/9)^2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=1-0,802=0,198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5207607" y="3273816"/>
            <a:ext cx="2986715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 Binaire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Valeur 0 = 4/9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Valeur 1 = 5/9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 = 1 – (4/9)^2 – (5/9)^2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=1-0.987=0,012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Gain d’information</a:t>
            </a:r>
            <a:endParaRPr/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C’est la réduction/augmentation de l’entropie lorsqu’un nœud est divisé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Règle: un attribut/nœud devra avoir le plus grand gain pour pouvoir être sélectionné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Construction de l’arbre</a:t>
            </a:r>
            <a:endParaRPr/>
          </a:p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Utiliser la mesure –Information gain- pour automatiser le processus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A chaque niveau, on doit choisir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Quelle variable il faut utiliser pour faire un split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À quel niveau il faut faire le split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Règle: choisir selon le gain en information qu’on peut avoir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Attribut ou variable qui donne le plus grand gain sera choisi</a:t>
            </a:r>
            <a:endParaRPr/>
          </a:p>
          <a:p>
            <a:pPr indent="-101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Algorithmes</a:t>
            </a:r>
            <a:endParaRPr/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Font typeface="Corbel"/>
              <a:buChar char="•"/>
            </a:pPr>
            <a:r>
              <a:rPr lang="fr-CA" sz="2400"/>
              <a:t>Les deux algorithmes les plus connus: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 sz="2000"/>
              <a:t>CART (Classification et Regression Trees [</a:t>
            </a:r>
            <a:r>
              <a:rPr i="1" lang="fr-CA" sz="2000" u="sng">
                <a:solidFill>
                  <a:schemeClr val="hlink"/>
                </a:solidFill>
                <a:hlinkClick r:id="rId3"/>
              </a:rPr>
              <a:t>BFOS84</a:t>
            </a:r>
            <a:r>
              <a:rPr lang="fr-CA" sz="2000"/>
              <a:t>]): utilise l’index GINI comme métrique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 sz="2000"/>
              <a:t>ID3 (Iterative Dichotomiser 3): utilise l’entropie et le gain d’information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 sz="2000"/>
              <a:t>C5 (version la plus récente après ID3 et C4.5 [</a:t>
            </a:r>
            <a:r>
              <a:rPr i="1" lang="fr-CA" sz="2000" u="sng">
                <a:solidFill>
                  <a:schemeClr val="hlink"/>
                </a:solidFill>
                <a:hlinkClick r:id="rId4"/>
              </a:rPr>
              <a:t>Qui93</a:t>
            </a:r>
            <a:r>
              <a:rPr lang="fr-CA" sz="2000"/>
              <a:t>]).</a:t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Références</a:t>
            </a:r>
            <a:endParaRPr/>
          </a:p>
        </p:txBody>
      </p:sp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CA">
                <a:solidFill>
                  <a:srgbClr val="800080"/>
                </a:solidFill>
              </a:rPr>
              <a:t>https://medium.com/deep-math-machine-learning-ai/chapter-4-decision-trees-algorithms-b93975f7a1f1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CA">
                <a:solidFill>
                  <a:srgbClr val="800080"/>
                </a:solidFill>
              </a:rPr>
              <a:t>[BFOS84]</a:t>
            </a:r>
            <a:r>
              <a:rPr lang="fr-CA"/>
              <a:t> L. Breiman, J. H. Friedman, R. A. Olshen, and C. J. Stone. Classification and regression trees. Technical report, Wadsworth International, Monterey, CA, 1984.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CA">
                <a:solidFill>
                  <a:srgbClr val="800080"/>
                </a:solidFill>
              </a:rPr>
              <a:t>[Qui93]</a:t>
            </a:r>
            <a:r>
              <a:rPr lang="fr-CA"/>
              <a:t> J. R. Quinlan. </a:t>
            </a:r>
            <a:r>
              <a:rPr i="1" lang="fr-CA"/>
              <a:t>C4.5: Programs for Machine Learning</a:t>
            </a:r>
            <a:r>
              <a:rPr lang="fr-CA"/>
              <a:t>. Morgan Kaufmann, San Mateo, CA, 1993.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Conclusion</a:t>
            </a:r>
            <a:endParaRPr/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Dans cette leçon, on a passé en revue les points suivants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Arbre de décision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d8_model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2016-06-15T14:43:51Z</dcterms:created>
  <dc:creator>HBenteftifa</dc:creator>
</cp:coreProperties>
</file>