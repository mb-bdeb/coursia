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Corbel"/>
      <p:regular r:id="rId20"/>
      <p:bold r:id="rId21"/>
      <p:italic r:id="rId22"/>
      <p:boldItalic r:id="rId23"/>
    </p:embeddedFont>
    <p:embeddedFont>
      <p:font typeface="Quattrocento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gJce85hpNrDtZEUzca0J/1GAGC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bel-regular.fntdata"/><Relationship Id="rId22" Type="http://schemas.openxmlformats.org/officeDocument/2006/relationships/font" Target="fonts/Corbel-italic.fntdata"/><Relationship Id="rId21" Type="http://schemas.openxmlformats.org/officeDocument/2006/relationships/font" Target="fonts/Corbel-bold.fntdata"/><Relationship Id="rId24" Type="http://schemas.openxmlformats.org/officeDocument/2006/relationships/font" Target="fonts/QuattrocentoSans-regular.fntdata"/><Relationship Id="rId23" Type="http://schemas.openxmlformats.org/officeDocument/2006/relationships/font" Target="fonts/Corbel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italic.fntdata"/><Relationship Id="rId25" Type="http://schemas.openxmlformats.org/officeDocument/2006/relationships/font" Target="fonts/QuattrocentoSans-bold.fntdata"/><Relationship Id="rId28" Type="http://customschemas.google.com/relationships/presentationmetadata" Target="metadata"/><Relationship Id="rId27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FF64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descr="Résultats de recherche d'images pour « java logo »" id="16" name="Google Shape;16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7" name="Google Shape;17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8" name="Google Shape;18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9" name="Google Shape;19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FF64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–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1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5"/>
          <p:cNvSpPr/>
          <p:nvPr/>
        </p:nvSpPr>
        <p:spPr>
          <a:xfrm>
            <a:off x="1" y="6524626"/>
            <a:ext cx="611559" cy="335989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5"/>
          <p:cNvSpPr/>
          <p:nvPr/>
        </p:nvSpPr>
        <p:spPr>
          <a:xfrm>
            <a:off x="481013" y="6464302"/>
            <a:ext cx="8662987" cy="58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ckwell"/>
              <a:buNone/>
            </a:pPr>
            <a:r>
              <a:rPr b="0" i="0" lang="en-CA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08/08/2019    Apprentissage supervisé 420-A52-BB</a:t>
            </a:r>
            <a:r>
              <a:rPr b="1" i="0" lang="en-CA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 - Hafed Benteftifa </a:t>
            </a:r>
            <a:r>
              <a:rPr b="1" i="0" lang="en-CA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©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microsoft.com/en-us/azure/machine-learning/machine-learning-publish-a-machine-learning-web-service" TargetMode="External"/><Relationship Id="rId4" Type="http://schemas.openxmlformats.org/officeDocument/2006/relationships/hyperlink" Target="https://tech.zalando.com/blog/scalable-fraud-detection-fashion-platform/?gh_src=4n3gxh1" TargetMode="External"/><Relationship Id="rId5" Type="http://schemas.openxmlformats.org/officeDocument/2006/relationships/hyperlink" Target="https://loads.pickle.me.uk/2016/04/04/deploying-a-scikit-learn-classifier-to-production/" TargetMode="External"/><Relationship Id="rId6" Type="http://schemas.openxmlformats.org/officeDocument/2006/relationships/hyperlink" Target="https://www.analyticsvidhya.com/blog/2016/05/8-reasons-analytics-machine-learning-models-fail-deployed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Déploiement de modèles en production</a:t>
            </a:r>
            <a:endParaRPr/>
          </a:p>
        </p:txBody>
      </p:sp>
      <p:sp>
        <p:nvSpPr>
          <p:cNvPr id="28" name="Google Shape;28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lang="en-CA"/>
              <a:t>Régression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Agenda</a:t>
            </a:r>
            <a:endParaRPr/>
          </a:p>
        </p:txBody>
      </p:sp>
      <p:sp>
        <p:nvSpPr>
          <p:cNvPr id="34" name="Google Shape;34;p2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Dans cette leçon, on passe en revue les points suivants: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Déploiement en production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 Cycle de vie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Modèle prédictif</a:t>
            </a:r>
            <a:endParaRPr/>
          </a:p>
        </p:txBody>
      </p:sp>
      <p:sp>
        <p:nvSpPr>
          <p:cNvPr id="40" name="Google Shape;40;p3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Les étapes sont les suivantes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Créer un </a:t>
            </a:r>
            <a:r>
              <a:rPr lang="en-CA"/>
              <a:t>modèle</a:t>
            </a:r>
            <a:r>
              <a:rPr lang="en-CA"/>
              <a:t> d'apprentissage sur la base d'une approche train-test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Une fois l'étape d'apprentissage et de test est terminé, on </a:t>
            </a:r>
            <a:r>
              <a:rPr lang="en-CA"/>
              <a:t>prépare</a:t>
            </a:r>
            <a:r>
              <a:rPr lang="en-CA"/>
              <a:t> le déploiement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</a:pPr>
            <a:r>
              <a:rPr lang="en-CA"/>
              <a:t>Dépend du modele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Effectuer le déploiement comme un service web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</a:pPr>
            <a:r>
              <a:rPr lang="en-CA"/>
              <a:t>Peut être la solution idéale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</a:pPr>
            <a:r>
              <a:rPr lang="en-CA"/>
              <a:t>Tenir compte d'autres approches de déploiement.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Workflow</a:t>
            </a:r>
            <a:endParaRPr/>
          </a:p>
        </p:txBody>
      </p:sp>
      <p:pic>
        <p:nvPicPr>
          <p:cNvPr descr="null" id="46" name="Google Shape;46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1196752"/>
            <a:ext cx="7675152" cy="393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Production</a:t>
            </a:r>
            <a:endParaRPr/>
          </a:p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Deploiement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Mettre à disposition une prediction facile en termes d'utilisation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Evaluation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Mesure de la qualité des modeles déployés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Monitoring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Suivi de la qualité des modèles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Management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Améliorer la qualité des modèles avec une retro-action (continue)</a:t>
            </a:r>
            <a:endParaRPr/>
          </a:p>
        </p:txBody>
      </p:sp>
      <p:pic>
        <p:nvPicPr>
          <p:cNvPr id="53" name="Google Shape;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6197" y="2204864"/>
            <a:ext cx="2907803" cy="2262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Déploiement</a:t>
            </a:r>
            <a:endParaRPr/>
          </a:p>
        </p:txBody>
      </p:sp>
      <p:sp>
        <p:nvSpPr>
          <p:cNvPr id="59" name="Google Shape;59;p6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En phase de développement, on travaille sur des données d'apprentissage/test disponibles au niveau d'un référentiel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En phase de production, on travaille sur des données live</a:t>
            </a:r>
            <a:endParaRPr/>
          </a:p>
        </p:txBody>
      </p:sp>
      <p:pic>
        <p:nvPicPr>
          <p:cNvPr id="60" name="Google Shape;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696" y="2938834"/>
            <a:ext cx="5923186" cy="3202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Déploiement API Rest</a:t>
            </a:r>
            <a:endParaRPr/>
          </a:p>
        </p:txBody>
      </p:sp>
      <p:sp>
        <p:nvSpPr>
          <p:cNvPr id="66" name="Google Shape;66;p7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Permettre le déploiement du modèle en faisant abstraction du langage utilisé pour le développement du modèle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N'est pas important qu'on ait utilisé R, python ou un autre langage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Voir les solutions disponibles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Azure ML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Amazon AWS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Déploiement REST classique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Évaluation</a:t>
            </a:r>
            <a:endParaRPr/>
          </a:p>
        </p:txBody>
      </p:sp>
      <p:sp>
        <p:nvSpPr>
          <p:cNvPr id="72" name="Google Shape;72;p8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En phase de développement, on a évalué les métriques en relation avec le modèle considéré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Après déploiement, les gestionnaires seront très probablement intéressé par un autre type de métrique en relation avec le modèle: métrique d'affaire ou business métrique.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Essentiellement: est ce que ce modèle joue son role pour les besoins d'affaires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Prédire sur la base des données fournies par le client s'il va faire un achat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Modèle indique OUI mais le client ne va pas acheter. Combien vont faire la même chose?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Évaluation | à quel moment</a:t>
            </a:r>
            <a:endParaRPr/>
          </a:p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Évaluation des métriques du modèle: se produit offline lors du développement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Évaluation des métriques: peut se produire offline et online</a:t>
            </a:r>
            <a:endParaRPr/>
          </a:p>
        </p:txBody>
      </p:sp>
      <p:pic>
        <p:nvPicPr>
          <p:cNvPr id="79" name="Google Shape;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624" y="2708920"/>
            <a:ext cx="6425530" cy="3275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Suivi et Management </a:t>
            </a:r>
            <a:endParaRPr/>
          </a:p>
        </p:txBody>
      </p:sp>
      <p:sp>
        <p:nvSpPr>
          <p:cNvPr id="85" name="Google Shape;85;p10"/>
          <p:cNvSpPr txBox="1"/>
          <p:nvPr>
            <p:ph idx="1" type="body"/>
          </p:nvPr>
        </p:nvSpPr>
        <p:spPr>
          <a:xfrm>
            <a:off x="152400" y="908721"/>
            <a:ext cx="8839200" cy="1728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Permet de suivre la qualité du modèle à travers le temps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Rétro-action sera importante pour améliorer la qualité du modèle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Prévoir le chargement des données live vers le référentiel pour l'apprentissage continu</a:t>
            </a:r>
            <a:endParaRPr/>
          </a:p>
        </p:txBody>
      </p:sp>
      <p:pic>
        <p:nvPicPr>
          <p:cNvPr id="86" name="Google Shape;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32" y="3212976"/>
            <a:ext cx="5741640" cy="3168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Apprentissage | Mise à jour modèle</a:t>
            </a:r>
            <a:endParaRPr/>
          </a:p>
        </p:txBody>
      </p:sp>
      <p:sp>
        <p:nvSpPr>
          <p:cNvPr id="92" name="Google Shape;92;p11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Quand faut-il faire la mise à jour et pourqoui?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Selon le domain d'affaires, il peut y avoir des saisons et tendances particulières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Exemple: Halloween, Noel, saison de la grippe, vacances d'été, etc.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Que faut-il faire pour le suivi?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Faire un suivi des métriques online et offline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Decision pour update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A/B testing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Autre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A/B testing</a:t>
            </a:r>
            <a:endParaRPr/>
          </a:p>
        </p:txBody>
      </p:sp>
      <p:sp>
        <p:nvSpPr>
          <p:cNvPr id="98" name="Google Shape;98;p12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Il faut prendre une decision sur le nouveau modèle par rapport au modèle précédent</a:t>
            </a:r>
            <a:endParaRPr/>
          </a:p>
        </p:txBody>
      </p:sp>
      <p:pic>
        <p:nvPicPr>
          <p:cNvPr id="99" name="Google Shape;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4887" y="2348880"/>
            <a:ext cx="7134225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 txBox="1"/>
          <p:nvPr/>
        </p:nvSpPr>
        <p:spPr>
          <a:xfrm>
            <a:off x="130630" y="5820699"/>
            <a:ext cx="25442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CTR: click through rate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Références</a:t>
            </a:r>
            <a:endParaRPr/>
          </a:p>
        </p:txBody>
      </p:sp>
      <p:sp>
        <p:nvSpPr>
          <p:cNvPr id="106" name="Google Shape;106;p13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Char char="•"/>
            </a:pPr>
            <a:r>
              <a:rPr lang="en-CA" sz="2000" u="sng">
                <a:solidFill>
                  <a:schemeClr val="hlink"/>
                </a:solidFill>
                <a:hlinkClick r:id="rId3"/>
              </a:rPr>
              <a:t>https://docs.microsoft.com/en-us/azure/machine-learning/machine-learning-publish-a-machine-learning-web-service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Char char="•"/>
            </a:pPr>
            <a:r>
              <a:rPr lang="en-CA" sz="2000" u="sng">
                <a:solidFill>
                  <a:schemeClr val="hlink"/>
                </a:solidFill>
                <a:hlinkClick r:id="rId4"/>
              </a:rPr>
              <a:t>https://tech.zalando.com/blog/scalable-fraud-detection-fashion-platform/?gh_src=4n3gxh1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Char char="•"/>
            </a:pPr>
            <a:r>
              <a:rPr lang="en-CA" sz="2000" u="sng">
                <a:solidFill>
                  <a:schemeClr val="hlink"/>
                </a:solidFill>
                <a:hlinkClick r:id="rId5"/>
              </a:rPr>
              <a:t>https://loads.pickle.me.uk/2016/04/04/deploying-a-scikit-learn-classifier-to-production/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Char char="•"/>
            </a:pPr>
            <a:r>
              <a:rPr lang="en-CA" sz="2000" u="sng">
                <a:solidFill>
                  <a:schemeClr val="hlink"/>
                </a:solidFill>
                <a:hlinkClick r:id="rId6"/>
              </a:rPr>
              <a:t>https://www.analyticsvidhya.com/blog/2016/05/8-reasons-analytics-machine-learning-models-fail-deployed/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Char char="•"/>
            </a:pPr>
            <a:r>
              <a:rPr lang="en-CA" sz="2000"/>
              <a:t>Note: les figures de cette presentation sont tirées des liens ci-dessus.</a:t>
            </a:r>
            <a:endParaRPr sz="2000"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Conclusion</a:t>
            </a:r>
            <a:endParaRPr/>
          </a:p>
        </p:txBody>
      </p:sp>
      <p:sp>
        <p:nvSpPr>
          <p:cNvPr id="112" name="Google Shape;112;p14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Dans cette leçon, on a passé en revue les points suivants: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Déploiement en production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 Cycle de vie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d8_model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2016-05-09T10:10:53Z</dcterms:created>
  <dc:creator>hafv72012</dc:creator>
</cp:coreProperties>
</file>