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Corbel"/>
      <p:regular r:id="rId22"/>
      <p:bold r:id="rId23"/>
      <p:italic r:id="rId24"/>
      <p:boldItalic r:id="rId25"/>
    </p:embeddedFont>
    <p:embeddedFont>
      <p:font typeface="Quattrocento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g7kKK7lRNz8reSg3hTOmgJEIfs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Corbel-regular.fntdata"/><Relationship Id="rId21" Type="http://schemas.openxmlformats.org/officeDocument/2006/relationships/slide" Target="slides/slide16.xml"/><Relationship Id="rId24" Type="http://schemas.openxmlformats.org/officeDocument/2006/relationships/font" Target="fonts/Corbel-italic.fntdata"/><Relationship Id="rId23" Type="http://schemas.openxmlformats.org/officeDocument/2006/relationships/font" Target="fonts/Corbel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regular.fntdata"/><Relationship Id="rId25" Type="http://schemas.openxmlformats.org/officeDocument/2006/relationships/font" Target="fonts/Corbel-boldItalic.fntdata"/><Relationship Id="rId28" Type="http://schemas.openxmlformats.org/officeDocument/2006/relationships/font" Target="fonts/QuattrocentoSans-italic.fntdata"/><Relationship Id="rId27" Type="http://schemas.openxmlformats.org/officeDocument/2006/relationships/font" Target="fonts/Quattrocento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ttrocento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descr="Résultats de recherche d'images pour « java logo »" id="16" name="Google Shape;16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7" name="Google Shape;17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8" name="Google Shape;18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9" name="Google Shape;19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–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/>
          <p:nvPr/>
        </p:nvSpPr>
        <p:spPr>
          <a:xfrm>
            <a:off x="1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7"/>
          <p:cNvSpPr/>
          <p:nvPr/>
        </p:nvSpPr>
        <p:spPr>
          <a:xfrm>
            <a:off x="1" y="6524626"/>
            <a:ext cx="611559" cy="335989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CA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7"/>
          <p:cNvSpPr/>
          <p:nvPr/>
        </p:nvSpPr>
        <p:spPr>
          <a:xfrm>
            <a:off x="481013" y="6464302"/>
            <a:ext cx="8662987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ckwell"/>
              <a:buNone/>
            </a:pPr>
            <a:r>
              <a:rPr b="0" i="0" lang="en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22/08/2019    Apprentissage supervisé 420-A52-BB</a:t>
            </a:r>
            <a:r>
              <a:rPr b="1" i="0" lang="en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 - Hafed Benteftifa</a:t>
            </a:r>
            <a:r>
              <a:rPr b="1" i="0" lang="en-CA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textbook.ds100.org/ch/16/reg_ridge.html" TargetMode="External"/><Relationship Id="rId4" Type="http://schemas.openxmlformats.org/officeDocument/2006/relationships/hyperlink" Target="https://www.textbook.ds100.org/ch/16/reg_lasso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Regularisation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Agenda</a:t>
            </a:r>
            <a:endParaRPr/>
          </a:p>
        </p:txBody>
      </p:sp>
      <p:sp>
        <p:nvSpPr>
          <p:cNvPr id="33" name="Google Shape;33;p2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Dans cette leçon, on passe en revue les points suivants: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Besoin pour la régularisation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Approche Ridge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Approche Lasso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Problèmes</a:t>
            </a:r>
            <a:endParaRPr/>
          </a:p>
        </p:txBody>
      </p:sp>
      <p:sp>
        <p:nvSpPr>
          <p:cNvPr id="39" name="Google Shape;39;p3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Arial"/>
              <a:buNone/>
            </a:pPr>
            <a:r>
              <a:rPr lang="en-CA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On a besoin d'incorporer un certain nombre de prédicteurs dans notre modèle</a:t>
            </a:r>
            <a:endParaRPr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Char char="⮚"/>
            </a:pPr>
            <a:r>
              <a:rPr lang="en-CA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Obligation car on dispose déjà de ces données</a:t>
            </a:r>
            <a:endParaRPr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Char char="⮚"/>
            </a:pPr>
            <a:r>
              <a:rPr lang="en-CA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On veut améliorer la qualité du modèle</a:t>
            </a:r>
            <a:endParaRPr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CA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Problème: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Char char="⮚"/>
            </a:pPr>
            <a:r>
              <a:rPr lang="en-CA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 variance du modèle s'accroit lorsqu'on ajoute des prédicteurs</a:t>
            </a:r>
            <a:endParaRPr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Char char="⮚"/>
            </a:pPr>
            <a:r>
              <a:rPr lang="en-CA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Ceci décroit la performance du modèle</a:t>
            </a:r>
            <a:endParaRPr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CA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Approche: utiliser la technique de regularisation afin de minimiser la variance mais en même temps de permettre l'incorporation d'autant de prédicteurs que necessaire.		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Régression linéaire</a:t>
            </a:r>
            <a:endParaRPr/>
          </a:p>
        </p:txBody>
      </p:sp>
      <p:sp>
        <p:nvSpPr>
          <p:cNvPr id="45" name="Google Shape;45;p4"/>
          <p:cNvSpPr txBox="1"/>
          <p:nvPr>
            <p:ph idx="1" type="body"/>
          </p:nvPr>
        </p:nvSpPr>
        <p:spPr>
          <a:xfrm>
            <a:off x="152400" y="908721"/>
            <a:ext cx="8839200" cy="1944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La regression linéaire permet d'obtenir une prediction de la cible sur la base du prédicteur X</a:t>
            </a:r>
            <a:endParaRPr/>
          </a:p>
        </p:txBody>
      </p:sp>
      <p:pic>
        <p:nvPicPr>
          <p:cNvPr id="46" name="Google Shape;4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696" y="2062162"/>
            <a:ext cx="405765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 txBox="1"/>
          <p:nvPr/>
        </p:nvSpPr>
        <p:spPr>
          <a:xfrm>
            <a:off x="2771800" y="4795837"/>
            <a:ext cx="29523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Modèle avec biais élevé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Régression polynomiale</a:t>
            </a:r>
            <a:endParaRPr/>
          </a:p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Char char="•"/>
            </a:pPr>
            <a:r>
              <a:rPr lang="en-CA" sz="2400"/>
              <a:t>Elle permet d'améliorer la qualité de la prédiction en incorporant des non linéarités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09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Corbel"/>
              <a:buNone/>
            </a:pPr>
            <a:r>
              <a:t/>
            </a:r>
            <a:endParaRPr sz="2400"/>
          </a:p>
          <a:p>
            <a:pPr indent="-2209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None/>
            </a:pPr>
            <a:r>
              <a:t/>
            </a:r>
            <a:endParaRPr sz="2400"/>
          </a:p>
          <a:p>
            <a:pPr indent="-2209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None/>
            </a:pPr>
            <a:r>
              <a:t/>
            </a:r>
            <a:endParaRPr sz="2400"/>
          </a:p>
        </p:txBody>
      </p:sp>
      <p:pic>
        <p:nvPicPr>
          <p:cNvPr id="54" name="Google Shape;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2840" y="1700808"/>
            <a:ext cx="6238068" cy="4434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sz="3600"/>
              <a:t>Régression polynomiale | problèmes</a:t>
            </a:r>
            <a:endParaRPr/>
          </a:p>
        </p:txBody>
      </p:sp>
      <p:sp>
        <p:nvSpPr>
          <p:cNvPr id="60" name="Google Shape;60;p6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Char char="•"/>
            </a:pPr>
            <a:r>
              <a:rPr lang="en-CA" sz="2400"/>
              <a:t>On remarque que plus le degré augmente, plus le biais diminue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Char char="•"/>
            </a:pPr>
            <a:r>
              <a:rPr lang="en-CA" sz="2400"/>
              <a:t>Par contre, on remarque que la variance augmente 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Char char="•"/>
            </a:pPr>
            <a:r>
              <a:rPr lang="en-CA" sz="2400"/>
              <a:t>On a résolu un problème mais on a introduit un autre problème</a:t>
            </a:r>
            <a:endParaRPr sz="2000"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09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Corbel"/>
              <a:buNone/>
            </a:pPr>
            <a:r>
              <a:t/>
            </a:r>
            <a:endParaRPr sz="2400"/>
          </a:p>
          <a:p>
            <a:pPr indent="-2209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None/>
            </a:pPr>
            <a:r>
              <a:t/>
            </a:r>
            <a:endParaRPr sz="2400"/>
          </a:p>
          <a:p>
            <a:pPr indent="-2209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Évaluation des coefficients</a:t>
            </a:r>
            <a:endParaRPr/>
          </a:p>
        </p:txBody>
      </p:sp>
      <p:sp>
        <p:nvSpPr>
          <p:cNvPr id="66" name="Google Shape;66;p7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Char char="•"/>
            </a:pPr>
            <a:r>
              <a:rPr lang="en-CA" sz="2400"/>
              <a:t>Pour le modèle polynomial avec degré 12, on a par exemple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None/>
            </a:pPr>
            <a:r>
              <a:t/>
            </a:r>
            <a:endParaRPr sz="2400"/>
          </a:p>
          <a:p>
            <a:pPr indent="-2209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None/>
            </a:pPr>
            <a:r>
              <a:t/>
            </a:r>
            <a:endParaRPr sz="2400"/>
          </a:p>
          <a:p>
            <a:pPr indent="-2209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Char char="•"/>
            </a:pPr>
            <a:r>
              <a:rPr lang="en-CA" sz="2400"/>
              <a:t>On voit que certains coefficients sont assez elevés, surtout pour les degrés élevés. Ceux-ci contribuent de manière significative à la valeur de la variance</a:t>
            </a:r>
            <a:endParaRPr sz="2000"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09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Corbel"/>
              <a:buNone/>
            </a:pPr>
            <a:r>
              <a:t/>
            </a:r>
            <a:endParaRPr sz="2400"/>
          </a:p>
          <a:p>
            <a:pPr indent="-2209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None/>
            </a:pPr>
            <a:r>
              <a:t/>
            </a:r>
            <a:endParaRPr sz="2400"/>
          </a:p>
          <a:p>
            <a:pPr indent="-2209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None/>
            </a:pPr>
            <a:r>
              <a:t/>
            </a:r>
            <a:endParaRPr sz="2400"/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664" y="1556792"/>
            <a:ext cx="582930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Technique</a:t>
            </a:r>
            <a:endParaRPr/>
          </a:p>
        </p:txBody>
      </p:sp>
      <p:sp>
        <p:nvSpPr>
          <p:cNvPr id="73" name="Google Shape;73;p8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Dans l'approche modèle linéaire, on veut minimiser l'erreur MSE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On obtient les coefficients correspondants à cette minimisation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On constate que si l'on a des coefficient de valeur élevée pour un prédicteur, cela résulte en une variance de modèle elevée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en-CA"/>
              <a:t>Approche</a:t>
            </a:r>
            <a:r>
              <a:rPr lang="en-CA"/>
              <a:t>: modifier la </a:t>
            </a:r>
            <a:r>
              <a:rPr b="1" lang="en-CA" u="sng"/>
              <a:t>fonction loss </a:t>
            </a:r>
            <a:r>
              <a:rPr lang="en-CA"/>
              <a:t>pour faire en sorte de pénaliser les coefficients à large value. Cela peut donner une variance plus faible: </a:t>
            </a:r>
            <a:r>
              <a:rPr lang="en-CA" u="sng"/>
              <a:t>principe de regularisation</a:t>
            </a:r>
            <a:endParaRPr u="sng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Regularisation Ridge (L2)</a:t>
            </a:r>
            <a:endParaRPr/>
          </a:p>
        </p:txBody>
      </p:sp>
      <p:sp>
        <p:nvSpPr>
          <p:cNvPr id="79" name="Google Shape;79;p9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Au niveau de la regression linéaire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Fonction loss correspondante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Ridge: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Terme de régularisation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</p:txBody>
      </p:sp>
      <p:pic>
        <p:nvPicPr>
          <p:cNvPr id="80" name="Google Shape;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9792" y="1457780"/>
            <a:ext cx="2137526" cy="826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4924" y="3014604"/>
            <a:ext cx="3767236" cy="828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39752" y="3612583"/>
            <a:ext cx="4614810" cy="891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46265" y="5339328"/>
            <a:ext cx="1429792" cy="628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Terme de régularisation</a:t>
            </a:r>
            <a:endParaRPr/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Char char="•"/>
            </a:pPr>
            <a:r>
              <a:rPr lang="en-CA" sz="2000"/>
              <a:t>Plus lambda est faible, plus la pénalité est faible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Char char="•"/>
            </a:pPr>
            <a:r>
              <a:rPr lang="en-CA" sz="2000"/>
              <a:t>Plus lambda est large, plus la pénalité est large et le modèle est plus simple. La variance diminue aussi.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Char char="•"/>
            </a:pPr>
            <a:r>
              <a:rPr lang="en-CA" sz="2000"/>
              <a:t>Le biais augmente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Char char="•"/>
            </a:pPr>
            <a:r>
              <a:rPr lang="en-CA" sz="2000"/>
              <a:t>On va utiliser la cross-validation pour sélectionner la valeur de lambda qui minimise l'erreur de validation</a:t>
            </a:r>
            <a:endParaRPr sz="1800"/>
          </a:p>
          <a:p>
            <a:pPr indent="-2413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Corbel"/>
              <a:buNone/>
            </a:pPr>
            <a:r>
              <a:t/>
            </a:r>
            <a:endParaRPr sz="2000"/>
          </a:p>
          <a:p>
            <a:pPr indent="-2413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None/>
            </a:pPr>
            <a:r>
              <a:t/>
            </a:r>
            <a:endParaRPr sz="2000"/>
          </a:p>
          <a:p>
            <a:pPr indent="-2413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None/>
            </a:pPr>
            <a:r>
              <a:t/>
            </a:r>
            <a:endParaRPr sz="2000"/>
          </a:p>
        </p:txBody>
      </p:sp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2384" y="3140968"/>
            <a:ext cx="6886575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Regularisation Lasso (L1)</a:t>
            </a:r>
            <a:endParaRPr/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Au niveau de la regression linéaire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Fonction loss correspondante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Lasso: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Terme de régularisation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</p:txBody>
      </p:sp>
      <p:pic>
        <p:nvPicPr>
          <p:cNvPr id="97" name="Google Shape;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0840" y="1508318"/>
            <a:ext cx="2164632" cy="836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4924" y="3014604"/>
            <a:ext cx="3767236" cy="828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80782" y="5111698"/>
            <a:ext cx="1207242" cy="1036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11760" y="3766419"/>
            <a:ext cx="3743325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Terme de régularisation</a:t>
            </a:r>
            <a:endParaRPr/>
          </a:p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Char char="•"/>
            </a:pPr>
            <a:r>
              <a:rPr lang="en-CA" sz="2000"/>
              <a:t>Lasso va faire en sorte que certains des coefficients deviennent égal à 0.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Char char="•"/>
            </a:pPr>
            <a:r>
              <a:rPr lang="en-CA" sz="2000"/>
              <a:t>Certains des prédicteurs ne sont plus utilisés: on parle de sélection de features</a:t>
            </a:r>
            <a:endParaRPr sz="1800"/>
          </a:p>
          <a:p>
            <a:pPr indent="-2413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Corbel"/>
              <a:buNone/>
            </a:pPr>
            <a:r>
              <a:t/>
            </a:r>
            <a:endParaRPr sz="2000"/>
          </a:p>
          <a:p>
            <a:pPr indent="-2413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None/>
            </a:pPr>
            <a:r>
              <a:t/>
            </a:r>
            <a:endParaRPr sz="2000"/>
          </a:p>
          <a:p>
            <a:pPr indent="-2413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None/>
            </a:pPr>
            <a:r>
              <a:t/>
            </a:r>
            <a:endParaRPr sz="2000"/>
          </a:p>
        </p:txBody>
      </p:sp>
      <p:pic>
        <p:nvPicPr>
          <p:cNvPr id="107" name="Google Shape;10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468" y="2115063"/>
            <a:ext cx="3483424" cy="3805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1960" y="2073094"/>
            <a:ext cx="3539382" cy="3889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Comparaison</a:t>
            </a:r>
            <a:endParaRPr/>
          </a:p>
        </p:txBody>
      </p:sp>
      <p:sp>
        <p:nvSpPr>
          <p:cNvPr id="114" name="Google Shape;114;p13"/>
          <p:cNvSpPr txBox="1"/>
          <p:nvPr>
            <p:ph idx="1" type="body"/>
          </p:nvPr>
        </p:nvSpPr>
        <p:spPr>
          <a:xfrm>
            <a:off x="152400" y="5661247"/>
            <a:ext cx="8839200" cy="4649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Prédiction selon modèle polynomiale de base, Ridge et Lasso </a:t>
            </a:r>
            <a:endParaRPr/>
          </a:p>
        </p:txBody>
      </p:sp>
      <p:pic>
        <p:nvPicPr>
          <p:cNvPr id="115" name="Google Shape;1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52" y="793927"/>
            <a:ext cx="8968360" cy="3503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Comparaison de coefficients</a:t>
            </a:r>
            <a:endParaRPr/>
          </a:p>
        </p:txBody>
      </p:sp>
      <p:sp>
        <p:nvSpPr>
          <p:cNvPr id="121" name="Google Shape;121;p14"/>
          <p:cNvSpPr txBox="1"/>
          <p:nvPr>
            <p:ph idx="1" type="body"/>
          </p:nvPr>
        </p:nvSpPr>
        <p:spPr>
          <a:xfrm>
            <a:off x="152400" y="5733255"/>
            <a:ext cx="8839200" cy="392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Effet Lasso sur les coefficients</a:t>
            </a:r>
            <a:endParaRPr/>
          </a:p>
        </p:txBody>
      </p:sp>
      <p:pic>
        <p:nvPicPr>
          <p:cNvPr id="122" name="Google Shape;1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751" y="755018"/>
            <a:ext cx="4464498" cy="4762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Références</a:t>
            </a:r>
            <a:endParaRPr/>
          </a:p>
        </p:txBody>
      </p:sp>
      <p:sp>
        <p:nvSpPr>
          <p:cNvPr id="128" name="Google Shape;128;p15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 u="sng">
                <a:solidFill>
                  <a:schemeClr val="hlink"/>
                </a:solidFill>
                <a:hlinkClick r:id="rId3"/>
              </a:rPr>
              <a:t>https://www.textbook.ds100.org/ch/16/reg_ridge.html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 u="sng">
                <a:solidFill>
                  <a:schemeClr val="hlink"/>
                </a:solidFill>
                <a:hlinkClick r:id="rId4"/>
              </a:rPr>
              <a:t>https://www.textbook.ds100.org/ch/16/reg_lasso.html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Agenda</a:t>
            </a:r>
            <a:endParaRPr/>
          </a:p>
        </p:txBody>
      </p:sp>
      <p:sp>
        <p:nvSpPr>
          <p:cNvPr id="134" name="Google Shape;134;p16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Dans cette leçon, on a passé en revue les points suivants: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Besoin pour la régularisation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Approche Ridge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Approche Lasso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d8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2016-05-09T10:10:53Z</dcterms:created>
  <dc:creator>hafv72012</dc:creator>
</cp:coreProperties>
</file>