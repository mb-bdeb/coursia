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ieOA/F5S3Jo4MzuYgmRnz+gfK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789886-89D8-4451-B013-0E8B9234DA08}">
  <a:tblStyle styleId="{24789886-89D8-4451-B013-0E8B9234DA08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EEFF"/>
          </a:solidFill>
        </a:fill>
      </a:tcStyle>
    </a:wholeTbl>
    <a:band1H>
      <a:tcTxStyle b="off" i="off"/>
      <a:tcStyle>
        <a:fill>
          <a:solidFill>
            <a:srgbClr val="D1DBFE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1DBFE"/>
          </a:solidFill>
        </a:fill>
      </a:tcStyle>
    </a:band1V>
    <a:band2V>
      <a:tcTxStyle b="off" i="off"/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QuattrocentoSans-bold.fntdata"/><Relationship Id="rId21" Type="http://schemas.openxmlformats.org/officeDocument/2006/relationships/font" Target="fonts/QuattrocentoSans-regular.fntdata"/><Relationship Id="rId24" Type="http://schemas.openxmlformats.org/officeDocument/2006/relationships/font" Target="fonts/QuattrocentoSans-boldItalic.fntdata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0234A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2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26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26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26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26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rgbClr val="0234A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–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1" y="6496050"/>
            <a:ext cx="12192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5"/>
          <p:cNvSpPr/>
          <p:nvPr/>
        </p:nvSpPr>
        <p:spPr>
          <a:xfrm>
            <a:off x="1" y="6524625"/>
            <a:ext cx="706967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fr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5"/>
          <p:cNvSpPr/>
          <p:nvPr/>
        </p:nvSpPr>
        <p:spPr>
          <a:xfrm>
            <a:off x="641350" y="6464301"/>
            <a:ext cx="11550649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Quattrocento Sans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24/09/2020    Traitement Big data 420-</a:t>
            </a:r>
            <a:r>
              <a:rPr lang="fr-CA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A52</a:t>
            </a:r>
            <a:r>
              <a:rPr b="0" i="0" lang="fr-CA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-BB</a:t>
            </a:r>
            <a:r>
              <a:rPr b="1" i="0" lang="fr-CA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Hafed Benteftifa</a:t>
            </a:r>
            <a:r>
              <a:rPr b="1" i="0" lang="fr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Introduction à Spark</a:t>
            </a:r>
            <a:endParaRPr/>
          </a:p>
        </p:txBody>
      </p:sp>
      <p:sp>
        <p:nvSpPr>
          <p:cNvPr id="28" name="Google Shape;28;p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CA"/>
              <a:t>Spark pour big data</a:t>
            </a:r>
            <a:endParaRPr/>
          </a:p>
        </p:txBody>
      </p:sp>
      <p:pic>
        <p:nvPicPr>
          <p:cNvPr descr="Introduction-to-Scala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438" y="188640"/>
            <a:ext cx="1426845" cy="1426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Agenda</a:t>
            </a:r>
            <a:endParaRPr/>
          </a:p>
        </p:txBody>
      </p:sp>
      <p:sp>
        <p:nvSpPr>
          <p:cNvPr id="35" name="Google Shape;35;p2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Dans cette leçon, on va passer en revue les points suivants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Présentation du cours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Les RDD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Transformation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Action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Objectifs du cours</a:t>
            </a:r>
            <a:endParaRPr/>
          </a:p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Ouvrir un shell spark ou utiliser Eclipse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Comprendre les RDD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Effectuer des transformations et des actions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Utiliser SparkSQL, les dataframe et les dataset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Utiliser le spark streaming 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Resilient Distributed</a:t>
            </a:r>
            <a:br>
              <a:rPr lang="fr-CA"/>
            </a:br>
            <a:r>
              <a:rPr lang="fr-CA"/>
              <a:t>Datasets (RDD)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174173" y="44624"/>
            <a:ext cx="118002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Resilient Distributed Datasets (RDD)</a:t>
            </a:r>
            <a:endParaRPr/>
          </a:p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203200" y="908721"/>
            <a:ext cx="5748900" cy="52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Collections d’objets distribués à travers un cluster, qui sont stockés dans la RAM ou sur un disque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Construit sur la base de transformations parallèles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Reconstruit automatiquement en cas d’erreurs (failure)</a:t>
            </a:r>
            <a:endParaRPr/>
          </a:p>
        </p:txBody>
      </p:sp>
      <p:pic>
        <p:nvPicPr>
          <p:cNvPr descr="http://4.bp.blogspot.com/-Mmup5Pxd5wg/Uu9A6j0fn_I/AAAAAAAABDE/g8j7NHFeGsU/s1600/p1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9238" y="908720"/>
            <a:ext cx="4324183" cy="4583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Opérations RDD</a:t>
            </a:r>
            <a:endParaRPr/>
          </a:p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Action: opération qui déclenche un calcul et retourne une valeur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Création de RDD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Stockage de RDD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Extraction de données à partir des RDD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Transformations: Opération lazy qui retourne un autre RDD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Restructurer ou transformer le data des RDD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Autres actions</a:t>
            </a:r>
            <a:endParaRPr/>
          </a:p>
        </p:txBody>
      </p:sp>
      <p:graphicFrame>
        <p:nvGraphicFramePr>
          <p:cNvPr id="65" name="Google Shape;65;p10"/>
          <p:cNvGraphicFramePr/>
          <p:nvPr/>
        </p:nvGraphicFramePr>
        <p:xfrm>
          <a:off x="767408" y="8489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{24789886-89D8-4451-B013-0E8B9234DA08}</a:tableStyleId>
              </a:tblPr>
              <a:tblGrid>
                <a:gridCol w="2592300"/>
                <a:gridCol w="7704850"/>
              </a:tblGrid>
              <a:tr h="75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75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</a:t>
                      </a: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reducteur ou aggrégation des éléments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75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Collect()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récupérer le contenu d’un RDD comme un array dans le driver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75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Count()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compte le nombre d’éléments dans le RDD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75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First()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obtient le premier élément du RDD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75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Take(n)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Obtient les n premiers éléments du RDD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75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countByKey()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compte les valeurs pour chaque clé unique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Transformations RDD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Exemple de transformation | action</a:t>
            </a:r>
            <a:endParaRPr/>
          </a:p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rPr lang="fr-CA"/>
              <a:t>import random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rPr lang="fr-CA"/>
              <a:t>lancer = 10000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rPr lang="fr-CA"/>
              <a:t>piece = xrange (lancer)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rPr lang="fr-CA"/>
              <a:t>rdd = sc.parallelize(piece)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rPr lang="fr-CA"/>
              <a:t>.map(lambda i: random.random())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rPr lang="fr-CA"/>
              <a:t>.filter(lambda r : r &lt;0.49)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rPr lang="fr-CA"/>
              <a:t>.count()</a:t>
            </a:r>
            <a:endParaRPr/>
          </a:p>
        </p:txBody>
      </p:sp>
      <p:sp>
        <p:nvSpPr>
          <p:cNvPr id="77" name="Google Shape;77;p12"/>
          <p:cNvSpPr/>
          <p:nvPr/>
        </p:nvSpPr>
        <p:spPr>
          <a:xfrm>
            <a:off x="4151784" y="1700808"/>
            <a:ext cx="1512168" cy="11521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2"/>
          <p:cNvSpPr/>
          <p:nvPr/>
        </p:nvSpPr>
        <p:spPr>
          <a:xfrm>
            <a:off x="4583832" y="1873323"/>
            <a:ext cx="2016224" cy="72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création RDD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6074229" y="2780223"/>
            <a:ext cx="2016224" cy="72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Transformations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2"/>
          <p:cNvSpPr/>
          <p:nvPr/>
        </p:nvSpPr>
        <p:spPr>
          <a:xfrm>
            <a:off x="2567608" y="4753643"/>
            <a:ext cx="2016224" cy="72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69606" y="-69084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fr-CA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Transformations</a:t>
            </a:r>
            <a:endParaRPr/>
          </a:p>
        </p:txBody>
      </p:sp>
      <p:graphicFrame>
        <p:nvGraphicFramePr>
          <p:cNvPr id="86" name="Google Shape;86;p13"/>
          <p:cNvGraphicFramePr/>
          <p:nvPr/>
        </p:nvGraphicFramePr>
        <p:xfrm>
          <a:off x="839416" y="588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{24789886-89D8-4451-B013-0E8B9234DA08}</a:tableStyleId>
              </a:tblPr>
              <a:tblGrid>
                <a:gridCol w="2205050"/>
                <a:gridCol w="8668150"/>
              </a:tblGrid>
              <a:tr h="73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8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</a:t>
                      </a: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 func)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Retourne un nouveau dataset formé en passant chaque élément de la source à travers la fonction func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73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filter(func)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Retourne un nouveau dataset formé en sélectionnant les éléments de la source sur lesquels la fonction func retourne true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88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flatMap(func)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Similaire à la fonction map() sauf que chaque élément en entrée peut être mappé en 0 ou plusieurs items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88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sample(withReplacement, frac, seed)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Échantillonage d'une fraction frac des données, avec ou sans remplacement, en utilisant un générateur aléatoire seed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88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union(otherDataset)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Retourne un nouveau dataSet qui contient l'union des éléments de la source et de l'argument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73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CA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intersection(otherDataset)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fr-CA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Retourne un RDD qui est l’intersection des items du RDD source et du RDD argument (</a:t>
                      </a:r>
                      <a:r>
                        <a:rPr lang="fr-CA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otherDataset</a:t>
                      </a:r>
                      <a:r>
                        <a:rPr b="0" i="0" lang="fr-CA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Framework sur spark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7568" y="987557"/>
            <a:ext cx="7776864" cy="488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Framework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Spark SQL: permet l'utilisation de requetes SQL avec des programmes Spark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SparkML - machine learning library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b="1" lang="fr-CA"/>
              <a:t>GraphFrame – </a:t>
            </a:r>
            <a:r>
              <a:rPr lang="fr-CA"/>
              <a:t>API Spark pour les graphes et les calculs parallèles.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Inconvénients de spark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Problème peut se produire si le data ne peut aller sur la mémoire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Sauvegarde dans des fichiers texte peut être lent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Conclusion</a:t>
            </a:r>
            <a:endParaRPr/>
          </a:p>
        </p:txBody>
      </p:sp>
      <p:sp>
        <p:nvSpPr>
          <p:cNvPr id="110" name="Google Shape;110;p24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Dans cette leçon, on a passé en revue les points suivants: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Présentation du cours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Les RDD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Transformation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Action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d6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2016-04-18T00:09:15Z</dcterms:created>
  <dc:creator>hafv72012</dc:creator>
</cp:coreProperties>
</file>