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9144000"/>
  <p:notesSz cx="6858000" cy="9144000"/>
  <p:embeddedFontLst>
    <p:embeddedFont>
      <p:font typeface="Corbel"/>
      <p:regular r:id="rId31"/>
      <p:bold r:id="rId32"/>
      <p:italic r:id="rId33"/>
      <p:boldItalic r:id="rId34"/>
    </p:embeddedFont>
    <p:embeddedFont>
      <p:font typeface="Quattrocento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gAyVOpk74sbe07grZR7+Pdn1iS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FD0A77-E3BF-4A6F-9740-F35719D8920F}">
  <a:tblStyle styleId="{99FD0A77-E3BF-4A6F-9740-F35719D8920F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AEEFF"/>
          </a:solidFill>
        </a:fill>
      </a:tcStyle>
    </a:wholeTbl>
    <a:band1H>
      <a:tcTxStyle/>
      <a:tcStyle>
        <a:fill>
          <a:solidFill>
            <a:srgbClr val="D1DBFE"/>
          </a:solidFill>
        </a:fill>
      </a:tcStyle>
    </a:band1H>
    <a:band2H>
      <a:tcTxStyle/>
    </a:band2H>
    <a:band1V>
      <a:tcTxStyle/>
      <a:tcStyle>
        <a:fill>
          <a:solidFill>
            <a:srgbClr val="D1DBFE"/>
          </a:solidFill>
        </a:fill>
      </a:tcStyle>
    </a:band1V>
    <a:band2V>
      <a:tcTxStyle/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orbel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Corbel-italic.fntdata"/><Relationship Id="rId10" Type="http://schemas.openxmlformats.org/officeDocument/2006/relationships/slide" Target="slides/slide4.xml"/><Relationship Id="rId32" Type="http://schemas.openxmlformats.org/officeDocument/2006/relationships/font" Target="fonts/Corbel-bold.fntdata"/><Relationship Id="rId13" Type="http://schemas.openxmlformats.org/officeDocument/2006/relationships/slide" Target="slides/slide7.xml"/><Relationship Id="rId35" Type="http://schemas.openxmlformats.org/officeDocument/2006/relationships/font" Target="fonts/QuattrocentoSans-regular.fntdata"/><Relationship Id="rId12" Type="http://schemas.openxmlformats.org/officeDocument/2006/relationships/slide" Target="slides/slide6.xml"/><Relationship Id="rId34" Type="http://schemas.openxmlformats.org/officeDocument/2006/relationships/font" Target="fonts/Corbel-boldItalic.fntdata"/><Relationship Id="rId15" Type="http://schemas.openxmlformats.org/officeDocument/2006/relationships/slide" Target="slides/slide9.xml"/><Relationship Id="rId37" Type="http://schemas.openxmlformats.org/officeDocument/2006/relationships/font" Target="fonts/QuattrocentoSans-italic.fntdata"/><Relationship Id="rId14" Type="http://schemas.openxmlformats.org/officeDocument/2006/relationships/slide" Target="slides/slide8.xml"/><Relationship Id="rId36" Type="http://schemas.openxmlformats.org/officeDocument/2006/relationships/font" Target="fonts/QuattrocentoSans-bold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Quattrocento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descr="Résultats de recherche d'images pour « java logo »" id="16" name="Google Shape;16;p2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7" name="Google Shape;17;p2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8" name="Google Shape;18;p2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9" name="Google Shape;19;p2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7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–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>
            <a:off x="1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5"/>
          <p:cNvSpPr/>
          <p:nvPr/>
        </p:nvSpPr>
        <p:spPr>
          <a:xfrm>
            <a:off x="1" y="6524626"/>
            <a:ext cx="683567" cy="335989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CA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5"/>
          <p:cNvSpPr/>
          <p:nvPr/>
        </p:nvSpPr>
        <p:spPr>
          <a:xfrm>
            <a:off x="481013" y="6464302"/>
            <a:ext cx="8662987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ckwell"/>
              <a:buNone/>
            </a:pPr>
            <a:r>
              <a:rPr b="0" i="0" lang="fr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17/09/2021    Apprentissage supervisé 420-A52-BB</a:t>
            </a:r>
            <a:r>
              <a:rPr b="1" i="0" lang="fr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 - Hafed Benteftifa</a:t>
            </a:r>
            <a:r>
              <a:rPr b="1" i="0" lang="fr-CA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©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litedatascience.com/overfitting-in-machine-learning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elitedatascience.com/overfitting-in-machine-learn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blogs.oracle.com/datascience/an-introduction-to-building-a-classification-model-using-random-forests-in-python" TargetMode="External"/><Relationship Id="rId4" Type="http://schemas.openxmlformats.org/officeDocument/2006/relationships/hyperlink" Target="https://stats.stackexchange.com/questions/349540/hard-voting-soft-voting-in-ensemble-based-methods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Classification</a:t>
            </a:r>
            <a:endParaRPr/>
          </a:p>
        </p:txBody>
      </p:sp>
      <p:sp>
        <p:nvSpPr>
          <p:cNvPr id="28" name="Google Shape;28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lang="fr-CA"/>
              <a:t>Méthodes d’ensembles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Agenda</a:t>
            </a:r>
            <a:endParaRPr/>
          </a:p>
        </p:txBody>
      </p:sp>
      <p:sp>
        <p:nvSpPr>
          <p:cNvPr id="34" name="Google Shape;34;p2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Dans cette leçon, on présente les points suivants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Overfitting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Méthodes d'ensemble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Forest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Overfitting</a:t>
            </a:r>
            <a:endParaRPr/>
          </a:p>
        </p:txBody>
      </p:sp>
      <p:sp>
        <p:nvSpPr>
          <p:cNvPr id="40" name="Google Shape;40;p3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Cas typique: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on effectue l'apprentissage sur un ensemble de données et le métrique accuracy est 99%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On utilise le modèle sur des données test et le métrique accuracy est faible, par exemple 58%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Constat: le modèle ne généralise pas correctement, des données d'apprentissage vers les données réelles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Overfitting | signal et bruit</a:t>
            </a:r>
            <a:endParaRPr/>
          </a:p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Problème majeur: le bruit est toujours présent mais  notre modèle doit être capable de séparer le signal du bruit.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Constat: un modèle qui dispose d'un grand nombre de prédicteurs ou qui n'est pas basé sur une régularisation peut s'ajuster beaucoup plus sur le bruit que le signal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Conséquence: OVERFITTING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Overfitting</a:t>
            </a:r>
            <a:endParaRPr/>
          </a:p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152400" y="5661247"/>
            <a:ext cx="8839200" cy="4649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orbel"/>
              <a:buChar char="•"/>
            </a:pPr>
            <a:r>
              <a:rPr lang="fr-CA" sz="1800" u="sng">
                <a:solidFill>
                  <a:schemeClr val="hlink"/>
                </a:solidFill>
                <a:hlinkClick r:id="rId3"/>
              </a:rPr>
              <a:t>https://elitedatascience.com/overfitting-in-machine-learning</a:t>
            </a:r>
            <a:endParaRPr sz="1800"/>
          </a:p>
        </p:txBody>
      </p:sp>
      <p:pic>
        <p:nvPicPr>
          <p:cNvPr id="53" name="Google Shape;5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8912" y="1838325"/>
            <a:ext cx="3686175" cy="31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Overfitting | solutions</a:t>
            </a:r>
            <a:endParaRPr/>
          </a:p>
        </p:txBody>
      </p:sp>
      <p:sp>
        <p:nvSpPr>
          <p:cNvPr id="59" name="Google Shape;59;p6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rPr lang="fr-CA"/>
              <a:t>On peut utiliser plusieurs techniques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Cross-validation: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Utilisez les données d’entraînement initiales pour générer plusieurs tranches de mini-tests d'entrainement.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Utilisez ces divisions pour ajuster le modèle. 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</p:txBody>
      </p:sp>
      <p:pic>
        <p:nvPicPr>
          <p:cNvPr id="60" name="Google Shape;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6975" y="3100065"/>
            <a:ext cx="6657394" cy="270574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 txBox="1"/>
          <p:nvPr/>
        </p:nvSpPr>
        <p:spPr>
          <a:xfrm>
            <a:off x="152400" y="5661247"/>
            <a:ext cx="8839200" cy="4649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orbel"/>
              <a:buChar char="•"/>
            </a:pPr>
            <a:r>
              <a:rPr b="0" lang="fr-CA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https://elitedatascience.com/overfitting-in-machine-learning</a:t>
            </a:r>
            <a:endParaRPr b="0"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Overfitting | solutions</a:t>
            </a:r>
            <a:endParaRPr/>
          </a:p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Sélection de prédicteurs: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Utiliser des techniques de sélection de prédicteurs tel que forward, backward sélection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Régularisation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Technique tel que Lasso, Ridge, ElasticNet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Pruning d'arbre de décision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Techniques d'ensemble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Techniques d'ensemble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Méthodes d’ensemble</a:t>
            </a:r>
            <a:endParaRPr/>
          </a:p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Les ensembles sont des méthodes d'apprentissage automatique permettant de combiner des prédictions issues de plusieurs modèles distincts. 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But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de réduire la variance,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de réduire le biais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ou d'améliorer les prédictions.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Méthodes d’ensemble | suite</a:t>
            </a:r>
            <a:endParaRPr/>
          </a:p>
        </p:txBody>
      </p:sp>
      <p:sp>
        <p:nvSpPr>
          <p:cNvPr id="84" name="Google Shape;84;p10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Les méthodes d’ensemble sont généralement divisées en deux catégories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b="1" lang="fr-CA"/>
              <a:t>Parallèle</a:t>
            </a:r>
            <a:r>
              <a:rPr lang="fr-CA"/>
              <a:t>: une méthode d'ensemble dans laquelle les modèles constituant les blocs de construction de méthodes plus grandes sont générés indépendamment les uns des autres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b="1" lang="fr-CA"/>
              <a:t>Séquentiel</a:t>
            </a:r>
            <a:r>
              <a:rPr lang="fr-CA"/>
              <a:t>: Un ensemble de méthodes où les apprenants sont générés dans un ordre séquentiel et dépendent les uns des autres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</a:pPr>
            <a:r>
              <a:rPr lang="fr-CA"/>
              <a:t>Ils ne peuvent être formés que l'un après l'autre, le modèle suivant nécessitant des informations provenant de la formation précédente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Méthodes d’ensemble | suite</a:t>
            </a:r>
            <a:endParaRPr/>
          </a:p>
        </p:txBody>
      </p:sp>
      <p:sp>
        <p:nvSpPr>
          <p:cNvPr id="90" name="Google Shape;90;p11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Bagging (parallèle):  tente de réduire les risques d'overfitting de modèles complexes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Boosting(séquentiel): tente d'améliorer la flexibilité prédictive de modèles simples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Bagging</a:t>
            </a:r>
            <a:endParaRPr/>
          </a:p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>
            <a:off x="152400" y="908721"/>
            <a:ext cx="8308032" cy="3528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Bagging: diminutif de </a:t>
            </a:r>
            <a:r>
              <a:rPr b="1" lang="fr-CA"/>
              <a:t>Bootstrap Aggregation</a:t>
            </a:r>
            <a:endParaRPr b="1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Bagging est une méthode permettant de générer de nouveaux jeux de données à partir de données existantes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On crée des échantillons des données existantes avec remplacement.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Il peut y avoir des valeurs répétées dans chacun des jeux de données nouvellement créés.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Permet de diminuer la variance du modèle en utilisant la moyenne obtenue à partir des différents échantillons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Bagging|suite</a:t>
            </a:r>
            <a:endParaRPr/>
          </a:p>
        </p:txBody>
      </p:sp>
      <p:sp>
        <p:nvSpPr>
          <p:cNvPr id="102" name="Google Shape;102;p13"/>
          <p:cNvSpPr txBox="1"/>
          <p:nvPr>
            <p:ph idx="1" type="body"/>
          </p:nvPr>
        </p:nvSpPr>
        <p:spPr>
          <a:xfrm>
            <a:off x="152400" y="908721"/>
            <a:ext cx="8452048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/>
              <a:t>Bagging permet de réduire la variance du modèle sans faire croitre le biais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On peut obtenir une grande accuracy sans risque de overfitting ou de underfitting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Peut être intéressante dans le cas de dataset de faible volume</a:t>
            </a:r>
            <a:endParaRPr/>
          </a:p>
          <a:p>
            <a:pPr indent="-1333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Bagging|suite</a:t>
            </a:r>
            <a:endParaRPr/>
          </a:p>
        </p:txBody>
      </p:sp>
      <p:sp>
        <p:nvSpPr>
          <p:cNvPr id="108" name="Google Shape;108;p14"/>
          <p:cNvSpPr txBox="1"/>
          <p:nvPr>
            <p:ph idx="1" type="body"/>
          </p:nvPr>
        </p:nvSpPr>
        <p:spPr>
          <a:xfrm>
            <a:off x="152400" y="908721"/>
            <a:ext cx="8839200" cy="2448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Deux étapes dans le bagging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Bootstrap sampling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Aggregation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Bootstrap sampling</a:t>
            </a:r>
            <a:endParaRPr/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/>
              <a:t>Objectif</a:t>
            </a:r>
            <a:r>
              <a:rPr lang="fr-CA"/>
              <a:t>: obtenir des sous-ensemble de données en utilisant un bootstrap sampling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/>
              <a:t>Approche</a:t>
            </a:r>
            <a:r>
              <a:rPr lang="fr-CA"/>
              <a:t>: Sachant un ensemble de données (échantillon obtenu à partir d’une population), sélectionner </a:t>
            </a:r>
            <a:r>
              <a:rPr b="1" lang="fr-CA"/>
              <a:t>N</a:t>
            </a:r>
            <a:r>
              <a:rPr lang="fr-CA"/>
              <a:t> observation de manière aléatoire, avec remplacement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/>
              <a:t>Utilité</a:t>
            </a:r>
            <a:r>
              <a:rPr lang="fr-CA"/>
              <a:t>: ces observations forment un sous-ensemble qui sera utilisé dans le développement d’un modèle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3600"/>
              <a:t>Aggrégation</a:t>
            </a:r>
            <a:endParaRPr sz="3600"/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Une fois que tous les modèles sont obtenus, leurs sorties (prédictions) doivent être aggrégées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Obtenir une seule prédiction globale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Plusieurs approches pour l’aggrégation: classification ou régression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Vote Hard vs Soft</a:t>
            </a:r>
            <a:endParaRPr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/>
              <a:t>Hard</a:t>
            </a:r>
            <a:r>
              <a:rPr lang="fr-CA"/>
              <a:t>: Prendre la majorité des votes et cela donne la valeur prédite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b="1" lang="fr-CA"/>
              <a:t>Soft</a:t>
            </a:r>
            <a:r>
              <a:rPr lang="fr-CA"/>
              <a:t>: Calculer les probabilités pour chacun des labels et prendre la moyenne de probabilités pour chaque label. La valeur la plus élevée donne la prédiction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Exemple: classe A et B</a:t>
            </a:r>
            <a:endParaRPr/>
          </a:p>
        </p:txBody>
      </p:sp>
      <p:graphicFrame>
        <p:nvGraphicFramePr>
          <p:cNvPr id="127" name="Google Shape;127;p17"/>
          <p:cNvGraphicFramePr/>
          <p:nvPr/>
        </p:nvGraphicFramePr>
        <p:xfrm>
          <a:off x="539552" y="42210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{99FD0A77-E3BF-4A6F-9740-F35719D8920F}</a:tableStyleId>
              </a:tblPr>
              <a:tblGrid>
                <a:gridCol w="1548175"/>
                <a:gridCol w="1548175"/>
              </a:tblGrid>
              <a:tr h="40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CA" sz="1800" u="none" cap="none" strike="noStrike"/>
                        <a:t>Modèle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CA" sz="1800"/>
                        <a:t>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Modèle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fr-CA" sz="1800"/>
                        <a:t>Modèle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B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8" name="Google Shape;128;p17"/>
          <p:cNvSpPr txBox="1"/>
          <p:nvPr/>
        </p:nvSpPr>
        <p:spPr>
          <a:xfrm>
            <a:off x="683568" y="5590942"/>
            <a:ext cx="2646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2/3 décident que c’est B</a:t>
            </a:r>
            <a:endParaRPr/>
          </a:p>
        </p:txBody>
      </p:sp>
      <p:graphicFrame>
        <p:nvGraphicFramePr>
          <p:cNvPr id="129" name="Google Shape;129;p17"/>
          <p:cNvGraphicFramePr/>
          <p:nvPr/>
        </p:nvGraphicFramePr>
        <p:xfrm>
          <a:off x="4674580" y="4224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{99FD0A77-E3BF-4A6F-9740-F35719D8920F}</a:tableStyleId>
              </a:tblPr>
              <a:tblGrid>
                <a:gridCol w="1928925"/>
                <a:gridCol w="1928925"/>
              </a:tblGrid>
              <a:tr h="40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CA" sz="1800"/>
                        <a:t>Modèle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CA" sz="1800"/>
                        <a:t>A avec 95% prob</a:t>
                      </a:r>
                      <a:endParaRPr b="0" sz="1800"/>
                    </a:p>
                  </a:txBody>
                  <a:tcPr marT="45725" marB="45725" marR="91450" marL="91450"/>
                </a:tc>
              </a:tr>
              <a:tr h="40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Modèle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B avec 41% prob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408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fr-CA" sz="1800"/>
                        <a:t>Modèle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B avec 48% prob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0" name="Google Shape;130;p17"/>
          <p:cNvSpPr txBox="1"/>
          <p:nvPr/>
        </p:nvSpPr>
        <p:spPr>
          <a:xfrm>
            <a:off x="4818596" y="5594253"/>
            <a:ext cx="402212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  a une prob de (,95 + ,59 + ,52) /3 = ,68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a une prob de (,05 + ,41 + ,48)/3 = ,31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Décision: classe A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745322" y="3836745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487257" y="3851756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Création d’un arbre de décision/Foret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Foret</a:t>
            </a:r>
            <a:endParaRPr/>
          </a:p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Constat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Un seul arbre de décision peut ne pas fonctionner adéquatement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Est-ce qu'il y'a du overfitting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Est-ce qu'il y'a une alternative?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Foret | suite</a:t>
            </a:r>
            <a:endParaRPr/>
          </a:p>
        </p:txBody>
      </p:sp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Méthode d'ensemble: bagging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Algorithme: Arbre de décision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Choisir un ensemble </a:t>
            </a:r>
            <a:r>
              <a:rPr lang="fr-CA" u="sng"/>
              <a:t>m de prédicteurs </a:t>
            </a:r>
            <a:r>
              <a:rPr lang="fr-CA"/>
              <a:t>sur un </a:t>
            </a:r>
            <a:r>
              <a:rPr lang="fr-CA" u="sng"/>
              <a:t>nombre p de prédicteurs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Foret | suite</a:t>
            </a:r>
            <a:endParaRPr/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Pour faire une prediction 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Regression: moyenne des résultats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Classification: vote par majorité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Foret aléatoire</a:t>
            </a:r>
            <a:endParaRPr/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20"/>
              <a:buFont typeface="Corbel"/>
              <a:buNone/>
            </a:pPr>
            <a:r>
              <a:rPr lang="fr-CA" sz="2400"/>
              <a:t>Une forêt aléatoire est créée à l'aide de la procédure suivante: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Char char="•"/>
            </a:pPr>
            <a:r>
              <a:rPr lang="fr-CA" sz="2400"/>
              <a:t>Choisir le nombre d’arbres désiré dans la forêt (M)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Char char="•"/>
            </a:pPr>
            <a:r>
              <a:rPr lang="fr-CA" sz="2400"/>
              <a:t>Choisir le nombre d’échantillons souhaité pour chaque arbre (n)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Char char="•"/>
            </a:pPr>
            <a:r>
              <a:rPr lang="fr-CA" sz="2400"/>
              <a:t>Choisir le nombre de prédicteur souhaité dans chaque arbre (f)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Char char="•"/>
            </a:pPr>
            <a:r>
              <a:rPr lang="fr-CA" sz="2400"/>
              <a:t>Pour chaque arbre en M: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 sz="2000"/>
              <a:t>Sélectionnez n échantillons avec remplacement parmi toutes les observations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 sz="2000"/>
              <a:t>Sélectionnez f prédicteurs au hasard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 sz="2000"/>
              <a:t>Procéder au training d’un arbre de décision en utilisant l'ensemble de données de n échantillons avec des prédicteurs f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fr-CA" sz="2000"/>
              <a:t>Sauvegarder l'arbre de décision </a:t>
            </a:r>
            <a:endParaRPr/>
          </a:p>
          <a:p>
            <a:pPr indent="-22098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None/>
            </a:pPr>
            <a:r>
              <a:t/>
            </a:r>
            <a:endParaRPr sz="2400"/>
          </a:p>
          <a:p>
            <a:pPr indent="-22098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Corbe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Référence</a:t>
            </a:r>
            <a:endParaRPr/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 u="sng">
                <a:solidFill>
                  <a:schemeClr val="hlink"/>
                </a:solidFill>
                <a:hlinkClick r:id="rId3"/>
              </a:rPr>
              <a:t>https://blogs.oracle.com/datascience/an-introduction-to-building-a-classification-model-using-random-forests-in-python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 u="sng">
                <a:solidFill>
                  <a:schemeClr val="hlink"/>
                </a:solidFill>
                <a:hlinkClick r:id="rId4"/>
              </a:rPr>
              <a:t>https://stats.stackexchange.com/questions/349540/hard-voting-soft-voting-in-ensemble-based-methods</a:t>
            </a:r>
            <a:r>
              <a:rPr lang="fr-CA"/>
              <a:t> (soft voting vs hard voting)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Conclusion</a:t>
            </a:r>
            <a:endParaRPr/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Dans cette leçon, on a passé en revue les points suivants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Overfitting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Méthodes d'ensemble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Forest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d8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2016-06-15T14:43:51Z</dcterms:created>
  <dc:creator>HBenteftifa</dc:creator>
</cp:coreProperties>
</file>