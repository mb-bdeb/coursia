
<file path=[Content_Types].xml><?xml version="1.0" encoding="utf-8"?>
<Types xmlns="http://schemas.openxmlformats.org/package/2006/content-types">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6858000" cx="9144000"/>
  <p:notesSz cx="6858000" cy="9144000"/>
  <p:embeddedFontLst>
    <p:embeddedFont>
      <p:font typeface="Corbel"/>
      <p:regular r:id="rId25"/>
      <p:bold r:id="rId26"/>
      <p:italic r:id="rId27"/>
      <p:boldItalic r:id="rId28"/>
    </p:embeddedFont>
    <p:embeddedFont>
      <p:font typeface="Quattrocento Sans"/>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guide id="3" pos="2880">
          <p15:clr>
            <a:srgbClr val="A4A3A4"/>
          </p15:clr>
        </p15:guide>
      </p15:sldGuideLst>
    </p:ext>
    <p:ext uri="GoogleSlidesCustomDataVersion2">
      <go:slidesCustomData xmlns:go="http://customooxmlschemas.google.com/" r:id="rId33" roundtripDataSignature="AMtx7mhG1bpC4m74Klmho5ztwlZRBsSe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153B94F-33D4-4CA9-9013-6E57788187C3}">
  <a:tblStyle styleId="{5153B94F-33D4-4CA9-9013-6E57788187C3}" styleName="Table_0">
    <a:wholeTbl>
      <a:tcTxStyle b="off" i="off">
        <a:font>
          <a:latin typeface="Times New Roman"/>
          <a:ea typeface="Times New Roman"/>
          <a:cs typeface="Times New Roman"/>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AEEFF"/>
          </a:solidFill>
        </a:fill>
      </a:tcStyle>
    </a:wholeTbl>
    <a:band1H>
      <a:tcTxStyle/>
      <a:tcStyle>
        <a:fill>
          <a:solidFill>
            <a:srgbClr val="D1DBFE"/>
          </a:solidFill>
        </a:fill>
      </a:tcStyle>
    </a:band1H>
    <a:band2H>
      <a:tcTxStyle/>
    </a:band2H>
    <a:band1V>
      <a:tcTxStyle/>
      <a:tcStyle>
        <a:fill>
          <a:solidFill>
            <a:srgbClr val="D1DBFE"/>
          </a:solidFill>
        </a:fill>
      </a:tcStyle>
    </a:band1V>
    <a:band2V>
      <a:tcTxStyle/>
    </a:band2V>
    <a:lastCol>
      <a:tcTxStyle b="on" i="off">
        <a:font>
          <a:latin typeface="Times New Roman"/>
          <a:ea typeface="Times New Roman"/>
          <a:cs typeface="Times New Roman"/>
        </a:font>
        <a:schemeClr val="lt1"/>
      </a:tcTxStyle>
      <a:tcStyle>
        <a:fill>
          <a:solidFill>
            <a:schemeClr val="accent1"/>
          </a:solidFill>
        </a:fill>
      </a:tcStyle>
    </a:lastCol>
    <a:firstCol>
      <a:tcTxStyle b="on" i="off">
        <a:font>
          <a:latin typeface="Times New Roman"/>
          <a:ea typeface="Times New Roman"/>
          <a:cs typeface="Times New Roman"/>
        </a:font>
        <a:schemeClr val="lt1"/>
      </a:tcTxStyle>
      <a:tcStyle>
        <a:fill>
          <a:solidFill>
            <a:schemeClr val="accent1"/>
          </a:solidFill>
        </a:fill>
      </a:tcStyle>
    </a:firstCol>
    <a:lastRow>
      <a:tcTxStyle b="on" i="off">
        <a:font>
          <a:latin typeface="Times New Roman"/>
          <a:ea typeface="Times New Roman"/>
          <a:cs typeface="Times New Roman"/>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Times New Roman"/>
          <a:ea typeface="Times New Roman"/>
          <a:cs typeface="Times New Roman"/>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Corbel-bold.fntdata"/><Relationship Id="rId25" Type="http://schemas.openxmlformats.org/officeDocument/2006/relationships/font" Target="fonts/Corbel-regular.fntdata"/><Relationship Id="rId28" Type="http://schemas.openxmlformats.org/officeDocument/2006/relationships/font" Target="fonts/Corbel-boldItalic.fntdata"/><Relationship Id="rId27" Type="http://schemas.openxmlformats.org/officeDocument/2006/relationships/font" Target="fonts/Corbel-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QuattrocentoSans-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QuattrocentoSans-italic.fntdata"/><Relationship Id="rId30" Type="http://schemas.openxmlformats.org/officeDocument/2006/relationships/font" Target="fonts/QuattrocentoSans-bold.fntdata"/><Relationship Id="rId11" Type="http://schemas.openxmlformats.org/officeDocument/2006/relationships/slide" Target="slides/slide5.xml"/><Relationship Id="rId33" Type="http://customschemas.google.com/relationships/presentationmetadata" Target="metadata"/><Relationship Id="rId10" Type="http://schemas.openxmlformats.org/officeDocument/2006/relationships/slide" Target="slides/slide4.xml"/><Relationship Id="rId32" Type="http://schemas.openxmlformats.org/officeDocument/2006/relationships/font" Target="fonts/QuattrocentoSans-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r-CA"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 name="Google Shape;2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 name="Google Shape;3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 name="Google Shape;3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4" name="Google Shape;4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1" name="Google Shape;51;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7" name="Google Shape;57;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8" name="Google Shape;68;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0" name="Google Shape;80;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6" name="Google Shape;86;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2" name="Google Shape;92;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8" name="Google Shape;98;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5" name="Google Shape;10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2" name="Google Shape;112;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8" name="Google Shape;11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5" name="Google Shape;125;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2" name="Google Shape;132;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9" name="Google Shape;139;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7" name="Google Shape;147;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3" name="Shape 13"/>
        <p:cNvGrpSpPr/>
        <p:nvPr/>
      </p:nvGrpSpPr>
      <p:grpSpPr>
        <a:xfrm>
          <a:off x="0" y="0"/>
          <a:ext cx="0" cy="0"/>
          <a:chOff x="0" y="0"/>
          <a:chExt cx="0" cy="0"/>
        </a:xfrm>
      </p:grpSpPr>
      <p:sp>
        <p:nvSpPr>
          <p:cNvPr id="14" name="Google Shape;14;p20"/>
          <p:cNvSpPr txBox="1"/>
          <p:nvPr>
            <p:ph type="ctrTitle"/>
          </p:nvPr>
        </p:nvSpPr>
        <p:spPr>
          <a:xfrm>
            <a:off x="685800" y="2130427"/>
            <a:ext cx="7772400" cy="14700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4400" u="none" cap="none" strike="noStrike">
                <a:solidFill>
                  <a:srgbClr val="FF6400"/>
                </a:solidFill>
                <a:latin typeface="Rockwell"/>
                <a:ea typeface="Rockwell"/>
                <a:cs typeface="Rockwell"/>
                <a:sym typeface="Rockwell"/>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15" name="Google Shape;15;p2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640"/>
              </a:spcBef>
              <a:spcAft>
                <a:spcPts val="0"/>
              </a:spcAft>
              <a:buClr>
                <a:schemeClr val="dk1"/>
              </a:buClr>
              <a:buSzPts val="3200"/>
              <a:buFont typeface="Quattrocento Sans"/>
              <a:buNone/>
              <a:defRPr b="0" i="0" sz="3200" u="none" cap="none" strike="noStrike">
                <a:solidFill>
                  <a:schemeClr val="dk1"/>
                </a:solidFill>
                <a:latin typeface="Quattrocento Sans"/>
                <a:ea typeface="Quattrocento Sans"/>
                <a:cs typeface="Quattrocento Sans"/>
                <a:sym typeface="Quattrocento Sans"/>
              </a:defRPr>
            </a:lvl1pPr>
            <a:lvl2pPr lvl="1" marR="0" rtl="0" algn="ctr">
              <a:spcBef>
                <a:spcPts val="560"/>
              </a:spcBef>
              <a:spcAft>
                <a:spcPts val="0"/>
              </a:spcAft>
              <a:buClr>
                <a:schemeClr val="dk1"/>
              </a:buClr>
              <a:buSzPts val="2800"/>
              <a:buFont typeface="Times New Roman"/>
              <a:buNone/>
              <a:defRPr b="0" i="0" sz="2800" u="none" cap="none" strike="noStrike">
                <a:solidFill>
                  <a:schemeClr val="dk1"/>
                </a:solidFill>
                <a:latin typeface="Times New Roman"/>
                <a:ea typeface="Times New Roman"/>
                <a:cs typeface="Times New Roman"/>
                <a:sym typeface="Times New Roman"/>
              </a:defRPr>
            </a:lvl2pPr>
            <a:lvl3pPr lvl="2" marR="0" rtl="0" algn="ctr">
              <a:spcBef>
                <a:spcPts val="48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3pPr>
            <a:lvl4pPr lvl="3" marR="0" rtl="0" algn="ctr">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4pPr>
            <a:lvl5pPr lvl="4" marR="0" rtl="0" algn="ctr">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5pPr>
            <a:lvl6pPr lvl="5" marR="0" rtl="0" algn="ctr">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6pPr>
            <a:lvl7pPr lvl="6" marR="0" rtl="0" algn="ctr">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7pPr>
            <a:lvl8pPr lvl="7" marR="0" rtl="0" algn="ctr">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8pPr>
            <a:lvl9pPr lvl="8" marR="0" rtl="0" algn="ctr">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9pPr>
          </a:lstStyle>
          <a:p/>
        </p:txBody>
      </p:sp>
      <p:sp>
        <p:nvSpPr>
          <p:cNvPr descr="Résultats de recherche d'images pour « java logo »" id="16" name="Google Shape;16;p2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descr="Résultats de recherche d'images pour « java logo »" id="17" name="Google Shape;17;p2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descr="Résultats de recherche d'images pour « java logo »" id="18" name="Google Shape;18;p2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descr="Résultats de recherche d'images pour « java logo »" id="19" name="Google Shape;19;p2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20" name="Shape 20"/>
        <p:cNvGrpSpPr/>
        <p:nvPr/>
      </p:nvGrpSpPr>
      <p:grpSpPr>
        <a:xfrm>
          <a:off x="0" y="0"/>
          <a:ext cx="0" cy="0"/>
          <a:chOff x="0" y="0"/>
          <a:chExt cx="0" cy="0"/>
        </a:xfrm>
      </p:grpSpPr>
      <p:sp>
        <p:nvSpPr>
          <p:cNvPr id="21" name="Google Shape;21;p21"/>
          <p:cNvSpPr txBox="1"/>
          <p:nvPr>
            <p:ph type="title"/>
          </p:nvPr>
        </p:nvSpPr>
        <p:spPr>
          <a:xfrm>
            <a:off x="130630" y="44624"/>
            <a:ext cx="8850085" cy="849086"/>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000" u="none" cap="none" strike="noStrike">
                <a:solidFill>
                  <a:srgbClr val="FF6400"/>
                </a:solidFill>
                <a:latin typeface="Rockwell"/>
                <a:ea typeface="Rockwell"/>
                <a:cs typeface="Rockwell"/>
                <a:sym typeface="Rockwell"/>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22" name="Google Shape;22;p21"/>
          <p:cNvSpPr txBox="1"/>
          <p:nvPr>
            <p:ph idx="1" type="body"/>
          </p:nvPr>
        </p:nvSpPr>
        <p:spPr>
          <a:xfrm>
            <a:off x="152400" y="908721"/>
            <a:ext cx="8839200" cy="5217444"/>
          </a:xfrm>
          <a:prstGeom prst="rect">
            <a:avLst/>
          </a:prstGeom>
          <a:noFill/>
          <a:ln>
            <a:noFill/>
          </a:ln>
        </p:spPr>
        <p:txBody>
          <a:bodyPr anchorCtr="0" anchor="t" bIns="45700" lIns="91425" spcFirstLastPara="1" rIns="91425" wrap="square" tIns="45700">
            <a:noAutofit/>
          </a:bodyPr>
          <a:lstStyle>
            <a:lvl1pPr indent="-370840" lvl="0" marL="457200" marR="0" rtl="0" algn="l">
              <a:spcBef>
                <a:spcPts val="560"/>
              </a:spcBef>
              <a:spcAft>
                <a:spcPts val="0"/>
              </a:spcAft>
              <a:buClr>
                <a:schemeClr val="dk1"/>
              </a:buClr>
              <a:buSzPts val="2240"/>
              <a:buFont typeface="Corbel"/>
              <a:buChar char="•"/>
              <a:defRPr b="0" i="0" sz="2800" u="none" cap="none" strike="noStrike">
                <a:solidFill>
                  <a:schemeClr val="dk1"/>
                </a:solidFill>
                <a:latin typeface="Corbel"/>
                <a:ea typeface="Corbel"/>
                <a:cs typeface="Corbel"/>
                <a:sym typeface="Corbel"/>
              </a:defRPr>
            </a:lvl1pPr>
            <a:lvl2pPr indent="-381000" lvl="1" marL="914400" marR="0" rtl="0" algn="l">
              <a:spcBef>
                <a:spcPts val="480"/>
              </a:spcBef>
              <a:spcAft>
                <a:spcPts val="0"/>
              </a:spcAft>
              <a:buClr>
                <a:schemeClr val="dk1"/>
              </a:buClr>
              <a:buSzPts val="2400"/>
              <a:buFont typeface="Noto Sans Symbols"/>
              <a:buChar char="⮚"/>
              <a:defRPr b="0" i="0" sz="2400" u="none" cap="none" strike="noStrike">
                <a:solidFill>
                  <a:schemeClr val="dk1"/>
                </a:solidFill>
                <a:latin typeface="Corbel"/>
                <a:ea typeface="Corbel"/>
                <a:cs typeface="Corbel"/>
                <a:sym typeface="Corbel"/>
              </a:defRPr>
            </a:lvl2pPr>
            <a:lvl3pPr indent="-355600" lvl="2" marL="1371600" marR="0" rtl="0" algn="l">
              <a:spcBef>
                <a:spcPts val="400"/>
              </a:spcBef>
              <a:spcAft>
                <a:spcPts val="0"/>
              </a:spcAft>
              <a:buClr>
                <a:schemeClr val="dk1"/>
              </a:buClr>
              <a:buSzPts val="2000"/>
              <a:buFont typeface="Corbel"/>
              <a:buChar char="•"/>
              <a:defRPr b="0" i="0" sz="2000" u="none" cap="none" strike="noStrike">
                <a:solidFill>
                  <a:schemeClr val="dk1"/>
                </a:solidFill>
                <a:latin typeface="Corbel"/>
                <a:ea typeface="Corbel"/>
                <a:cs typeface="Corbel"/>
                <a:sym typeface="Corbel"/>
              </a:defRPr>
            </a:lvl3pPr>
            <a:lvl4pPr indent="-342900" lvl="3" marL="1828800" marR="0" rtl="0" algn="l">
              <a:spcBef>
                <a:spcPts val="360"/>
              </a:spcBef>
              <a:spcAft>
                <a:spcPts val="0"/>
              </a:spcAft>
              <a:buClr>
                <a:schemeClr val="dk1"/>
              </a:buClr>
              <a:buSzPts val="1800"/>
              <a:buFont typeface="Corbel"/>
              <a:buChar char="–"/>
              <a:defRPr b="0" i="0" sz="1800" u="none" cap="none" strike="noStrike">
                <a:solidFill>
                  <a:schemeClr val="dk1"/>
                </a:solidFill>
                <a:latin typeface="Corbel"/>
                <a:ea typeface="Corbel"/>
                <a:cs typeface="Corbel"/>
                <a:sym typeface="Corbel"/>
              </a:defRPr>
            </a:lvl4pPr>
            <a:lvl5pPr indent="-342900" lvl="4" marL="2286000" marR="0" rtl="0" algn="l">
              <a:spcBef>
                <a:spcPts val="360"/>
              </a:spcBef>
              <a:spcAft>
                <a:spcPts val="0"/>
              </a:spcAft>
              <a:buClr>
                <a:schemeClr val="dk1"/>
              </a:buClr>
              <a:buSzPts val="1800"/>
              <a:buFont typeface="Corbel"/>
              <a:buChar char="•"/>
              <a:defRPr b="0" i="0" sz="18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9"/>
          <p:cNvSpPr/>
          <p:nvPr/>
        </p:nvSpPr>
        <p:spPr>
          <a:xfrm>
            <a:off x="1" y="6496050"/>
            <a:ext cx="9144000" cy="363538"/>
          </a:xfrm>
          <a:prstGeom prst="rect">
            <a:avLst/>
          </a:prstGeom>
          <a:solidFill>
            <a:srgbClr val="02298A"/>
          </a:solidFill>
          <a:ln>
            <a:noFill/>
          </a:ln>
        </p:spPr>
        <p:txBody>
          <a:bodyPr anchorCtr="0" anchor="t" bIns="44450" lIns="90475" spcFirstLastPara="1" rIns="90475" wrap="square" tIns="44450">
            <a:spAutoFit/>
          </a:bodyPr>
          <a:lstStyle/>
          <a:p>
            <a:pPr indent="0" lvl="0" marL="0" marR="0" rtl="0" algn="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 name="Google Shape;11;p19"/>
          <p:cNvSpPr/>
          <p:nvPr/>
        </p:nvSpPr>
        <p:spPr>
          <a:xfrm>
            <a:off x="1" y="6524626"/>
            <a:ext cx="530225" cy="582211"/>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fld id="{00000000-1234-1234-1234-123412341234}" type="slidenum">
              <a:rPr b="0" i="0" lang="fr-CA" sz="1600" u="none" cap="none" strike="noStrike">
                <a:solidFill>
                  <a:schemeClr val="lt1"/>
                </a:solidFill>
                <a:latin typeface="Arial"/>
                <a:ea typeface="Arial"/>
                <a:cs typeface="Arial"/>
                <a:sym typeface="Arial"/>
              </a:rPr>
              <a:t>‹#›</a:t>
            </a:fld>
            <a:endParaRPr b="0" i="0" sz="1600" u="none" cap="none" strike="noStrike">
              <a:solidFill>
                <a:schemeClr val="lt1"/>
              </a:solidFill>
              <a:latin typeface="Arial"/>
              <a:ea typeface="Arial"/>
              <a:cs typeface="Arial"/>
              <a:sym typeface="Arial"/>
            </a:endParaRPr>
          </a:p>
        </p:txBody>
      </p:sp>
      <p:sp>
        <p:nvSpPr>
          <p:cNvPr id="12" name="Google Shape;12;p19"/>
          <p:cNvSpPr/>
          <p:nvPr/>
        </p:nvSpPr>
        <p:spPr>
          <a:xfrm>
            <a:off x="481013" y="6464302"/>
            <a:ext cx="8662987" cy="582211"/>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chemeClr val="lt1"/>
              </a:buClr>
              <a:buSzPts val="1600"/>
              <a:buFont typeface="Rockwell"/>
              <a:buNone/>
            </a:pPr>
            <a:r>
              <a:rPr b="0" i="0" lang="fr-CA" sz="1600" u="none" cap="none" strike="noStrike">
                <a:solidFill>
                  <a:schemeClr val="lt1"/>
                </a:solidFill>
                <a:latin typeface="Rockwell"/>
                <a:ea typeface="Rockwell"/>
                <a:cs typeface="Rockwell"/>
                <a:sym typeface="Rockwell"/>
              </a:rPr>
              <a:t>02/05/2019    Fouilles de données 420-BD8-BB</a:t>
            </a:r>
            <a:r>
              <a:rPr b="1" i="0" lang="fr-CA" sz="1600" u="none" cap="none" strike="noStrike">
                <a:solidFill>
                  <a:schemeClr val="lt1"/>
                </a:solidFill>
                <a:latin typeface="Rockwell"/>
                <a:ea typeface="Rockwell"/>
                <a:cs typeface="Rockwell"/>
                <a:sym typeface="Rockwell"/>
              </a:rPr>
              <a:t> - Hafed Benteftifa-Nesrine Zemirli </a:t>
            </a:r>
            <a:r>
              <a:rPr b="1" i="0" lang="fr-CA" sz="1600" u="none" cap="none" strike="noStrike">
                <a:solidFill>
                  <a:schemeClr val="lt1"/>
                </a:solidFill>
                <a:latin typeface="Twentieth Century"/>
                <a:ea typeface="Twentieth Century"/>
                <a:cs typeface="Twentieth Century"/>
                <a:sym typeface="Twentieth Century"/>
              </a:rPr>
              <a:t>©</a:t>
            </a:r>
            <a:endParaRPr/>
          </a:p>
          <a:p>
            <a:pPr indent="0" lvl="0" marL="0" marR="0" rtl="0" algn="r">
              <a:spcBef>
                <a:spcPts val="0"/>
              </a:spcBef>
              <a:spcAft>
                <a:spcPts val="0"/>
              </a:spcAft>
              <a:buNone/>
            </a:pPr>
            <a:r>
              <a:t/>
            </a:r>
            <a:endParaRPr b="1" i="0" sz="1600" u="none" cap="none" strike="noStrike">
              <a:solidFill>
                <a:schemeClr val="lt1"/>
              </a:solidFill>
              <a:latin typeface="Twentieth Century"/>
              <a:ea typeface="Twentieth Century"/>
              <a:cs typeface="Twentieth Century"/>
              <a:sym typeface="Twentieth Century"/>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sp>
        <p:nvSpPr>
          <p:cNvPr id="27" name="Google Shape;27;p1"/>
          <p:cNvSpPr txBox="1"/>
          <p:nvPr>
            <p:ph type="ctrTitle"/>
          </p:nvPr>
        </p:nvSpPr>
        <p:spPr>
          <a:xfrm>
            <a:off x="685800" y="2130427"/>
            <a:ext cx="7772400" cy="1470025"/>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fr-CA"/>
              <a:t>Classification</a:t>
            </a:r>
            <a:endParaRPr/>
          </a:p>
        </p:txBody>
      </p:sp>
      <p:sp>
        <p:nvSpPr>
          <p:cNvPr id="28" name="Google Shape;28;p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3200"/>
              <a:buFont typeface="Quattrocento Sans"/>
              <a:buNone/>
            </a:pPr>
            <a:r>
              <a:rPr lang="fr-CA"/>
              <a:t>K-nearest neighbor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sp>
        <p:nvSpPr>
          <p:cNvPr id="33" name="Google Shape;33;p2"/>
          <p:cNvSpPr txBox="1"/>
          <p:nvPr>
            <p:ph type="title"/>
          </p:nvPr>
        </p:nvSpPr>
        <p:spPr>
          <a:xfrm>
            <a:off x="130630" y="44624"/>
            <a:ext cx="8850085" cy="84908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CA"/>
              <a:t>Agenda</a:t>
            </a:r>
            <a:endParaRPr/>
          </a:p>
        </p:txBody>
      </p:sp>
      <p:sp>
        <p:nvSpPr>
          <p:cNvPr id="34" name="Google Shape;34;p2"/>
          <p:cNvSpPr txBox="1"/>
          <p:nvPr>
            <p:ph idx="1" type="body"/>
          </p:nvPr>
        </p:nvSpPr>
        <p:spPr>
          <a:xfrm>
            <a:off x="152400" y="908721"/>
            <a:ext cx="8839200" cy="5217444"/>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240"/>
              <a:buFont typeface="Corbel"/>
              <a:buChar char="•"/>
            </a:pPr>
            <a:r>
              <a:rPr lang="fr-CA"/>
              <a:t>Dans cette leçon, on présente les points suivants</a:t>
            </a:r>
            <a:endParaRPr/>
          </a:p>
          <a:p>
            <a:pPr indent="-285750" lvl="1" marL="742950" rtl="0" algn="l">
              <a:spcBef>
                <a:spcPts val="480"/>
              </a:spcBef>
              <a:spcAft>
                <a:spcPts val="0"/>
              </a:spcAft>
              <a:buClr>
                <a:schemeClr val="dk1"/>
              </a:buClr>
              <a:buSzPts val="2400"/>
              <a:buChar char="⮚"/>
            </a:pPr>
            <a:r>
              <a:rPr lang="fr-CA"/>
              <a:t>Classification</a:t>
            </a:r>
            <a:endParaRPr/>
          </a:p>
          <a:p>
            <a:pPr indent="-285750" lvl="1" marL="742950" rtl="0" algn="l">
              <a:spcBef>
                <a:spcPts val="480"/>
              </a:spcBef>
              <a:spcAft>
                <a:spcPts val="0"/>
              </a:spcAft>
              <a:buClr>
                <a:schemeClr val="dk1"/>
              </a:buClr>
              <a:buSzPts val="2400"/>
              <a:buChar char="⮚"/>
            </a:pPr>
            <a:r>
              <a:rPr lang="fr-CA"/>
              <a:t>K-nearest neighbor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3"/>
          <p:cNvSpPr txBox="1"/>
          <p:nvPr>
            <p:ph type="title"/>
          </p:nvPr>
        </p:nvSpPr>
        <p:spPr>
          <a:xfrm>
            <a:off x="130630" y="44624"/>
            <a:ext cx="8850085" cy="84908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CA"/>
              <a:t>Classification</a:t>
            </a:r>
            <a:endParaRPr/>
          </a:p>
        </p:txBody>
      </p:sp>
      <p:sp>
        <p:nvSpPr>
          <p:cNvPr id="40" name="Google Shape;40;p3"/>
          <p:cNvSpPr txBox="1"/>
          <p:nvPr>
            <p:ph idx="1" type="body"/>
          </p:nvPr>
        </p:nvSpPr>
        <p:spPr>
          <a:xfrm>
            <a:off x="152400" y="908721"/>
            <a:ext cx="8839200" cy="5217444"/>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240"/>
              <a:buFont typeface="Corbel"/>
              <a:buChar char="•"/>
            </a:pPr>
            <a:r>
              <a:rPr lang="fr-CA"/>
              <a:t>Sachant une entrée X, on considère la sortie ou prédiction Y</a:t>
            </a:r>
            <a:endParaRPr/>
          </a:p>
          <a:p>
            <a:pPr indent="-342900" lvl="0" marL="342900" rtl="0" algn="l">
              <a:spcBef>
                <a:spcPts val="560"/>
              </a:spcBef>
              <a:spcAft>
                <a:spcPts val="0"/>
              </a:spcAft>
              <a:buClr>
                <a:schemeClr val="dk1"/>
              </a:buClr>
              <a:buSzPts val="2240"/>
              <a:buFont typeface="Corbel"/>
              <a:buChar char="•"/>
            </a:pPr>
            <a:r>
              <a:rPr lang="fr-CA"/>
              <a:t>La sortie Y est une catégorie alors que X peut prendre n'importe quelle valeur: </a:t>
            </a:r>
            <a:r>
              <a:rPr lang="fr-CA" u="sng"/>
              <a:t>numérique</a:t>
            </a:r>
            <a:r>
              <a:rPr lang="fr-CA"/>
              <a:t> ou </a:t>
            </a:r>
            <a:r>
              <a:rPr lang="fr-CA" u="sng"/>
              <a:t>catégorie</a:t>
            </a:r>
            <a:endParaRPr u="sng"/>
          </a:p>
        </p:txBody>
      </p:sp>
      <p:sp>
        <p:nvSpPr>
          <p:cNvPr id="41" name="Google Shape;41;p3"/>
          <p:cNvSpPr txBox="1"/>
          <p:nvPr/>
        </p:nvSpPr>
        <p:spPr>
          <a:xfrm>
            <a:off x="683575" y="3517456"/>
            <a:ext cx="8001300" cy="22473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fr-CA" sz="2800">
                <a:solidFill>
                  <a:schemeClr val="lt1"/>
                </a:solidFill>
                <a:latin typeface="Arial"/>
                <a:ea typeface="Arial"/>
                <a:cs typeface="Arial"/>
                <a:sym typeface="Arial"/>
              </a:rPr>
              <a:t>Classification</a:t>
            </a:r>
            <a:endParaRPr/>
          </a:p>
          <a:p>
            <a:pPr indent="0" lvl="0" marL="0" marR="0" rtl="0" algn="ctr">
              <a:spcBef>
                <a:spcPts val="0"/>
              </a:spcBef>
              <a:spcAft>
                <a:spcPts val="0"/>
              </a:spcAft>
              <a:buNone/>
            </a:pPr>
            <a:r>
              <a:rPr lang="fr-CA" sz="2800">
                <a:solidFill>
                  <a:schemeClr val="lt1"/>
                </a:solidFill>
                <a:latin typeface="Arial"/>
                <a:ea typeface="Arial"/>
                <a:cs typeface="Arial"/>
                <a:sym typeface="Arial"/>
              </a:rPr>
              <a:t>Tache qui permet d'affecter des objets à une catégorie</a:t>
            </a:r>
            <a:endParaRPr/>
          </a:p>
          <a:p>
            <a:pPr indent="0" lvl="0" marL="0" marR="0" rtl="0" algn="ctr">
              <a:spcBef>
                <a:spcPts val="0"/>
              </a:spcBef>
              <a:spcAft>
                <a:spcPts val="0"/>
              </a:spcAft>
              <a:buNone/>
            </a:pPr>
            <a:r>
              <a:rPr lang="fr-CA" sz="2800">
                <a:solidFill>
                  <a:schemeClr val="lt1"/>
                </a:solidFill>
                <a:latin typeface="Arial"/>
                <a:ea typeface="Arial"/>
                <a:cs typeface="Arial"/>
                <a:sym typeface="Arial"/>
              </a:rPr>
              <a:t>appartenant à un ensemble de catégories </a:t>
            </a:r>
            <a:r>
              <a:rPr lang="fr-CA" sz="2800" u="sng">
                <a:solidFill>
                  <a:schemeClr val="lt1"/>
                </a:solidFill>
                <a:latin typeface="Arial"/>
                <a:ea typeface="Arial"/>
                <a:cs typeface="Arial"/>
                <a:sym typeface="Arial"/>
              </a:rPr>
              <a:t>pré-définies</a:t>
            </a:r>
            <a:endParaRPr sz="2800" u="sng">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4"/>
          <p:cNvSpPr txBox="1"/>
          <p:nvPr>
            <p:ph type="title"/>
          </p:nvPr>
        </p:nvSpPr>
        <p:spPr>
          <a:xfrm>
            <a:off x="130630" y="44624"/>
            <a:ext cx="8850085" cy="84908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CA"/>
              <a:t>Classification | définition</a:t>
            </a:r>
            <a:endParaRPr/>
          </a:p>
        </p:txBody>
      </p:sp>
      <p:sp>
        <p:nvSpPr>
          <p:cNvPr id="47" name="Google Shape;47;p4"/>
          <p:cNvSpPr txBox="1"/>
          <p:nvPr>
            <p:ph idx="1" type="body"/>
          </p:nvPr>
        </p:nvSpPr>
        <p:spPr>
          <a:xfrm>
            <a:off x="152400" y="908721"/>
            <a:ext cx="8839200" cy="5217444"/>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240"/>
              <a:buFont typeface="Corbel"/>
              <a:buChar char="•"/>
            </a:pPr>
            <a:r>
              <a:rPr lang="fr-CA"/>
              <a:t>Soit un ensemble d'enregistrements, considéré comme un ensemble d'apprentissage (training set)</a:t>
            </a:r>
            <a:endParaRPr/>
          </a:p>
          <a:p>
            <a:pPr indent="-285750" lvl="1" marL="742950" rtl="0" algn="l">
              <a:spcBef>
                <a:spcPts val="480"/>
              </a:spcBef>
              <a:spcAft>
                <a:spcPts val="0"/>
              </a:spcAft>
              <a:buClr>
                <a:schemeClr val="dk1"/>
              </a:buClr>
              <a:buSzPts val="2400"/>
              <a:buChar char="⮚"/>
            </a:pPr>
            <a:r>
              <a:rPr lang="fr-CA"/>
              <a:t>Chaque enregistrement est caractérisé par un tuple (x,y)</a:t>
            </a:r>
            <a:endParaRPr/>
          </a:p>
          <a:p>
            <a:pPr indent="-101600" lvl="2" marL="1143000" rtl="0" algn="l">
              <a:spcBef>
                <a:spcPts val="400"/>
              </a:spcBef>
              <a:spcAft>
                <a:spcPts val="0"/>
              </a:spcAft>
              <a:buClr>
                <a:schemeClr val="dk1"/>
              </a:buClr>
              <a:buSzPts val="2000"/>
              <a:buFont typeface="Corbel"/>
              <a:buNone/>
            </a:pPr>
            <a:r>
              <a:t/>
            </a:r>
            <a:endParaRPr/>
          </a:p>
          <a:p>
            <a:pPr indent="-228600" lvl="2" marL="1143000" rtl="0" algn="l">
              <a:spcBef>
                <a:spcPts val="400"/>
              </a:spcBef>
              <a:spcAft>
                <a:spcPts val="0"/>
              </a:spcAft>
              <a:buClr>
                <a:schemeClr val="dk1"/>
              </a:buClr>
              <a:buSzPts val="2000"/>
              <a:buFont typeface="Corbel"/>
              <a:buChar char="•"/>
            </a:pPr>
            <a:r>
              <a:rPr lang="fr-CA"/>
              <a:t>x est  l'attribut, prédicteur, variable indépendante, input</a:t>
            </a:r>
            <a:endParaRPr/>
          </a:p>
          <a:p>
            <a:pPr indent="-228600" lvl="2" marL="1143000" rtl="0" algn="l">
              <a:spcBef>
                <a:spcPts val="400"/>
              </a:spcBef>
              <a:spcAft>
                <a:spcPts val="0"/>
              </a:spcAft>
              <a:buClr>
                <a:schemeClr val="dk1"/>
              </a:buClr>
              <a:buSzPts val="2000"/>
              <a:buFont typeface="Corbel"/>
              <a:buChar char="•"/>
            </a:pPr>
            <a:r>
              <a:rPr lang="fr-CA"/>
              <a:t>y est le label de classe, réponse, variable dépendente, output</a:t>
            </a:r>
            <a:endParaRPr/>
          </a:p>
        </p:txBody>
      </p:sp>
      <p:sp>
        <p:nvSpPr>
          <p:cNvPr id="48" name="Google Shape;48;p4"/>
          <p:cNvSpPr txBox="1"/>
          <p:nvPr/>
        </p:nvSpPr>
        <p:spPr>
          <a:xfrm>
            <a:off x="561201" y="4005064"/>
            <a:ext cx="7899231" cy="830997"/>
          </a:xfrm>
          <a:prstGeom prst="rect">
            <a:avLst/>
          </a:prstGeom>
          <a:solidFill>
            <a:srgbClr val="FFC000"/>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fr-CA" sz="2400">
                <a:solidFill>
                  <a:schemeClr val="dk1"/>
                </a:solidFill>
                <a:latin typeface="Arial"/>
                <a:ea typeface="Arial"/>
                <a:cs typeface="Arial"/>
                <a:sym typeface="Arial"/>
              </a:rPr>
              <a:t>Objectif: Définir un modèle qui fait le mapping de chaque </a:t>
            </a:r>
            <a:endParaRPr/>
          </a:p>
          <a:p>
            <a:pPr indent="0" lvl="0" marL="0" marR="0" rtl="0" algn="ctr">
              <a:spcBef>
                <a:spcPts val="0"/>
              </a:spcBef>
              <a:spcAft>
                <a:spcPts val="0"/>
              </a:spcAft>
              <a:buNone/>
            </a:pPr>
            <a:r>
              <a:rPr lang="fr-CA" sz="2400">
                <a:solidFill>
                  <a:schemeClr val="dk1"/>
                </a:solidFill>
                <a:latin typeface="Arial"/>
                <a:ea typeface="Arial"/>
                <a:cs typeface="Arial"/>
                <a:sym typeface="Arial"/>
              </a:rPr>
              <a:t>ensemble d'attributs X en un des labels de classe pré-définis</a:t>
            </a:r>
            <a:endParaRPr sz="24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5"/>
          <p:cNvSpPr txBox="1"/>
          <p:nvPr>
            <p:ph type="title"/>
          </p:nvPr>
        </p:nvSpPr>
        <p:spPr>
          <a:xfrm>
            <a:off x="130630" y="44624"/>
            <a:ext cx="8850085" cy="84908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CA"/>
              <a:t>Exemple de tache de classification</a:t>
            </a:r>
            <a:endParaRPr/>
          </a:p>
        </p:txBody>
      </p:sp>
      <p:graphicFrame>
        <p:nvGraphicFramePr>
          <p:cNvPr id="54" name="Google Shape;54;p5"/>
          <p:cNvGraphicFramePr/>
          <p:nvPr/>
        </p:nvGraphicFramePr>
        <p:xfrm>
          <a:off x="395536" y="1397000"/>
          <a:ext cx="3000000" cy="3000000"/>
        </p:xfrm>
        <a:graphic>
          <a:graphicData uri="http://schemas.openxmlformats.org/drawingml/2006/table">
            <a:tbl>
              <a:tblPr bandRow="1" firstRow="1">
                <a:noFill/>
                <a:tableStyleId>{5153B94F-33D4-4CA9-9013-6E57788187C3}</a:tableStyleId>
              </a:tblPr>
              <a:tblGrid>
                <a:gridCol w="2455750"/>
                <a:gridCol w="3731050"/>
                <a:gridCol w="2022125"/>
              </a:tblGrid>
              <a:tr h="370850">
                <a:tc>
                  <a:txBody>
                    <a:bodyPr/>
                    <a:lstStyle/>
                    <a:p>
                      <a:pPr indent="0" lvl="0" marL="0" marR="0" rtl="0" algn="l">
                        <a:spcBef>
                          <a:spcPts val="0"/>
                        </a:spcBef>
                        <a:spcAft>
                          <a:spcPts val="0"/>
                        </a:spcAft>
                        <a:buNone/>
                      </a:pPr>
                      <a:r>
                        <a:rPr lang="fr-CA" sz="2800" u="none" cap="none" strike="noStrike"/>
                        <a:t>Tache</a:t>
                      </a:r>
                      <a:endParaRPr sz="2800"/>
                    </a:p>
                  </a:txBody>
                  <a:tcPr marT="45725" marB="45725" marR="91450" marL="91450"/>
                </a:tc>
                <a:tc>
                  <a:txBody>
                    <a:bodyPr/>
                    <a:lstStyle/>
                    <a:p>
                      <a:pPr indent="0" lvl="0" marL="0" marR="0" rtl="0" algn="l">
                        <a:spcBef>
                          <a:spcPts val="0"/>
                        </a:spcBef>
                        <a:spcAft>
                          <a:spcPts val="0"/>
                        </a:spcAft>
                        <a:buNone/>
                      </a:pPr>
                      <a:r>
                        <a:rPr lang="fr-CA" sz="2800"/>
                        <a:t>Ensemble</a:t>
                      </a:r>
                      <a:r>
                        <a:rPr lang="fr-CA" sz="2800"/>
                        <a:t> d'attributs </a:t>
                      </a:r>
                      <a:r>
                        <a:rPr lang="fr-CA" sz="2800">
                          <a:solidFill>
                            <a:srgbClr val="FF0000"/>
                          </a:solidFill>
                        </a:rPr>
                        <a:t>X</a:t>
                      </a:r>
                      <a:endParaRPr sz="2800">
                        <a:solidFill>
                          <a:srgbClr val="FF0000"/>
                        </a:solidFill>
                      </a:endParaRPr>
                    </a:p>
                  </a:txBody>
                  <a:tcPr marT="45725" marB="45725" marR="91450" marL="91450"/>
                </a:tc>
                <a:tc>
                  <a:txBody>
                    <a:bodyPr/>
                    <a:lstStyle/>
                    <a:p>
                      <a:pPr indent="0" lvl="0" marL="0" marR="0" rtl="0" algn="l">
                        <a:spcBef>
                          <a:spcPts val="0"/>
                        </a:spcBef>
                        <a:spcAft>
                          <a:spcPts val="0"/>
                        </a:spcAft>
                        <a:buNone/>
                      </a:pPr>
                      <a:r>
                        <a:rPr lang="fr-CA" sz="2800"/>
                        <a:t>Label</a:t>
                      </a:r>
                      <a:r>
                        <a:rPr lang="fr-CA" sz="2800"/>
                        <a:t> de classes </a:t>
                      </a:r>
                      <a:r>
                        <a:rPr lang="fr-CA" sz="2800">
                          <a:solidFill>
                            <a:srgbClr val="FF0000"/>
                          </a:solidFill>
                        </a:rPr>
                        <a:t>y</a:t>
                      </a:r>
                      <a:endParaRPr sz="2800">
                        <a:solidFill>
                          <a:srgbClr val="FF0000"/>
                        </a:solidFill>
                      </a:endParaRPr>
                    </a:p>
                  </a:txBody>
                  <a:tcPr marT="45725" marB="45725" marR="91450" marL="91450"/>
                </a:tc>
              </a:tr>
              <a:tr h="370850">
                <a:tc>
                  <a:txBody>
                    <a:bodyPr/>
                    <a:lstStyle/>
                    <a:p>
                      <a:pPr indent="0" lvl="0" marL="0" marR="0" rtl="0" algn="l">
                        <a:spcBef>
                          <a:spcPts val="0"/>
                        </a:spcBef>
                        <a:spcAft>
                          <a:spcPts val="0"/>
                        </a:spcAft>
                        <a:buNone/>
                      </a:pPr>
                      <a:r>
                        <a:rPr lang="fr-CA" sz="2800"/>
                        <a:t>Classer des messages email en catégories</a:t>
                      </a:r>
                      <a:endParaRPr sz="2800"/>
                    </a:p>
                  </a:txBody>
                  <a:tcPr marT="45725" marB="45725" marR="91450" marL="91450"/>
                </a:tc>
                <a:tc>
                  <a:txBody>
                    <a:bodyPr/>
                    <a:lstStyle/>
                    <a:p>
                      <a:pPr indent="0" lvl="0" marL="0" marR="0" rtl="0" algn="l">
                        <a:spcBef>
                          <a:spcPts val="0"/>
                        </a:spcBef>
                        <a:spcAft>
                          <a:spcPts val="0"/>
                        </a:spcAft>
                        <a:buNone/>
                      </a:pPr>
                      <a:r>
                        <a:rPr lang="fr-CA" sz="2800"/>
                        <a:t>Features extraites</a:t>
                      </a:r>
                      <a:r>
                        <a:rPr lang="fr-CA" sz="2800"/>
                        <a:t> du header du message et du contenu du email</a:t>
                      </a:r>
                      <a:endParaRPr sz="2800"/>
                    </a:p>
                  </a:txBody>
                  <a:tcPr marT="45725" marB="45725" marR="91450" marL="91450"/>
                </a:tc>
                <a:tc>
                  <a:txBody>
                    <a:bodyPr/>
                    <a:lstStyle/>
                    <a:p>
                      <a:pPr indent="0" lvl="0" marL="0" marR="0" rtl="0" algn="l">
                        <a:spcBef>
                          <a:spcPts val="0"/>
                        </a:spcBef>
                        <a:spcAft>
                          <a:spcPts val="0"/>
                        </a:spcAft>
                        <a:buNone/>
                      </a:pPr>
                      <a:r>
                        <a:rPr lang="fr-CA" sz="2800"/>
                        <a:t>spam ou pas spam</a:t>
                      </a:r>
                      <a:endParaRPr sz="2800"/>
                    </a:p>
                  </a:txBody>
                  <a:tcPr marT="45725" marB="45725" marR="91450" marL="91450"/>
                </a:tc>
              </a:tr>
              <a:tr h="370850">
                <a:tc>
                  <a:txBody>
                    <a:bodyPr/>
                    <a:lstStyle/>
                    <a:p>
                      <a:pPr indent="0" lvl="0" marL="0" marR="0" rtl="0" algn="l">
                        <a:spcBef>
                          <a:spcPts val="0"/>
                        </a:spcBef>
                        <a:spcAft>
                          <a:spcPts val="0"/>
                        </a:spcAft>
                        <a:buNone/>
                      </a:pPr>
                      <a:r>
                        <a:rPr lang="fr-CA" sz="2800"/>
                        <a:t>Identification</a:t>
                      </a:r>
                      <a:r>
                        <a:rPr lang="fr-CA" sz="2800"/>
                        <a:t> de cellules cancéreuses</a:t>
                      </a:r>
                      <a:endParaRPr sz="2800"/>
                    </a:p>
                  </a:txBody>
                  <a:tcPr marT="45725" marB="45725" marR="91450" marL="91450"/>
                </a:tc>
                <a:tc>
                  <a:txBody>
                    <a:bodyPr/>
                    <a:lstStyle/>
                    <a:p>
                      <a:pPr indent="0" lvl="0" marL="0" marR="0" rtl="0" algn="l">
                        <a:spcBef>
                          <a:spcPts val="0"/>
                        </a:spcBef>
                        <a:spcAft>
                          <a:spcPts val="0"/>
                        </a:spcAft>
                        <a:buNone/>
                      </a:pPr>
                      <a:r>
                        <a:rPr lang="fr-CA" sz="2800"/>
                        <a:t>Features extraites</a:t>
                      </a:r>
                      <a:r>
                        <a:rPr lang="fr-CA" sz="2800"/>
                        <a:t> des scans MRI</a:t>
                      </a:r>
                      <a:endParaRPr sz="2800"/>
                    </a:p>
                  </a:txBody>
                  <a:tcPr marT="45725" marB="45725" marR="91450" marL="91450"/>
                </a:tc>
                <a:tc>
                  <a:txBody>
                    <a:bodyPr/>
                    <a:lstStyle/>
                    <a:p>
                      <a:pPr indent="0" lvl="0" marL="0" marR="0" rtl="0" algn="l">
                        <a:spcBef>
                          <a:spcPts val="0"/>
                        </a:spcBef>
                        <a:spcAft>
                          <a:spcPts val="0"/>
                        </a:spcAft>
                        <a:buNone/>
                      </a:pPr>
                      <a:r>
                        <a:rPr lang="fr-CA" sz="2800"/>
                        <a:t>cellules malignes ou bénignes</a:t>
                      </a:r>
                      <a:endParaRPr sz="2800"/>
                    </a:p>
                  </a:txBody>
                  <a:tcPr marT="45725" marB="45725" marR="91450" marL="91450"/>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6"/>
          <p:cNvSpPr txBox="1"/>
          <p:nvPr>
            <p:ph type="title"/>
          </p:nvPr>
        </p:nvSpPr>
        <p:spPr>
          <a:xfrm>
            <a:off x="130630" y="44624"/>
            <a:ext cx="8850085" cy="84908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CA"/>
              <a:t>Classification | diagramme</a:t>
            </a:r>
            <a:endParaRPr/>
          </a:p>
        </p:txBody>
      </p:sp>
      <p:sp>
        <p:nvSpPr>
          <p:cNvPr id="60" name="Google Shape;60;p6"/>
          <p:cNvSpPr/>
          <p:nvPr/>
        </p:nvSpPr>
        <p:spPr>
          <a:xfrm>
            <a:off x="3419872" y="2492896"/>
            <a:ext cx="2160240" cy="136815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0" i="0" sz="2000" u="none" cap="none" strike="noStrike">
              <a:solidFill>
                <a:schemeClr val="dk2"/>
              </a:solidFill>
              <a:latin typeface="Arial"/>
              <a:ea typeface="Arial"/>
              <a:cs typeface="Arial"/>
              <a:sym typeface="Arial"/>
            </a:endParaRPr>
          </a:p>
        </p:txBody>
      </p:sp>
      <p:sp>
        <p:nvSpPr>
          <p:cNvPr id="61" name="Google Shape;61;p6"/>
          <p:cNvSpPr/>
          <p:nvPr/>
        </p:nvSpPr>
        <p:spPr>
          <a:xfrm>
            <a:off x="3131840" y="2492896"/>
            <a:ext cx="2880320" cy="1368152"/>
          </a:xfrm>
          <a:prstGeom prst="rect">
            <a:avLst/>
          </a:prstGeom>
          <a:gradFill>
            <a:gsLst>
              <a:gs pos="0">
                <a:srgbClr val="89ADFF"/>
              </a:gs>
              <a:gs pos="35000">
                <a:srgbClr val="ABC7FF"/>
              </a:gs>
              <a:gs pos="100000">
                <a:srgbClr val="DBE5FF"/>
              </a:gs>
            </a:gsLst>
            <a:lin ang="16200000" scaled="0"/>
          </a:gradFill>
          <a:ln cap="flat" cmpd="sng" w="9525">
            <a:solidFill>
              <a:srgbClr val="5A89FA"/>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0" i="0" sz="2000" u="none" cap="none" strike="noStrike">
              <a:solidFill>
                <a:schemeClr val="dk2"/>
              </a:solidFill>
              <a:latin typeface="Arial"/>
              <a:ea typeface="Arial"/>
              <a:cs typeface="Arial"/>
              <a:sym typeface="Arial"/>
            </a:endParaRPr>
          </a:p>
          <a:p>
            <a:pPr indent="0" lvl="0" marL="0" marR="0" rtl="0" algn="ctr">
              <a:lnSpc>
                <a:spcPct val="100000"/>
              </a:lnSpc>
              <a:spcBef>
                <a:spcPts val="0"/>
              </a:spcBef>
              <a:spcAft>
                <a:spcPts val="0"/>
              </a:spcAft>
              <a:buClr>
                <a:schemeClr val="dk2"/>
              </a:buClr>
              <a:buSzPts val="2000"/>
              <a:buFont typeface="Arial"/>
              <a:buNone/>
            </a:pPr>
            <a:r>
              <a:rPr b="0" i="0" lang="fr-CA" sz="2000" u="none" cap="none" strike="noStrike">
                <a:solidFill>
                  <a:schemeClr val="dk2"/>
                </a:solidFill>
                <a:latin typeface="Arial"/>
                <a:ea typeface="Arial"/>
                <a:cs typeface="Arial"/>
                <a:sym typeface="Arial"/>
              </a:rPr>
              <a:t>Modèle de </a:t>
            </a:r>
            <a:endParaRPr/>
          </a:p>
          <a:p>
            <a:pPr indent="0" lvl="0" marL="0" marR="0" rtl="0" algn="ctr">
              <a:lnSpc>
                <a:spcPct val="100000"/>
              </a:lnSpc>
              <a:spcBef>
                <a:spcPts val="0"/>
              </a:spcBef>
              <a:spcAft>
                <a:spcPts val="0"/>
              </a:spcAft>
              <a:buClr>
                <a:schemeClr val="dk2"/>
              </a:buClr>
              <a:buSzPts val="2000"/>
              <a:buFont typeface="Arial"/>
              <a:buNone/>
            </a:pPr>
            <a:r>
              <a:rPr b="0" i="0" lang="fr-CA" sz="2000" u="none" cap="none" strike="noStrike">
                <a:solidFill>
                  <a:schemeClr val="dk2"/>
                </a:solidFill>
                <a:latin typeface="Arial"/>
                <a:ea typeface="Arial"/>
                <a:cs typeface="Arial"/>
                <a:sym typeface="Arial"/>
              </a:rPr>
              <a:t>classification</a:t>
            </a:r>
            <a:endParaRPr/>
          </a:p>
        </p:txBody>
      </p:sp>
      <p:cxnSp>
        <p:nvCxnSpPr>
          <p:cNvPr id="62" name="Google Shape;62;p6"/>
          <p:cNvCxnSpPr/>
          <p:nvPr/>
        </p:nvCxnSpPr>
        <p:spPr>
          <a:xfrm>
            <a:off x="1259632" y="3212976"/>
            <a:ext cx="1728192" cy="0"/>
          </a:xfrm>
          <a:prstGeom prst="straightConnector1">
            <a:avLst/>
          </a:prstGeom>
          <a:noFill/>
          <a:ln cap="flat" cmpd="sng" w="57150">
            <a:solidFill>
              <a:schemeClr val="dk1"/>
            </a:solidFill>
            <a:prstDash val="solid"/>
            <a:round/>
            <a:headEnd len="sm" w="sm" type="none"/>
            <a:tailEnd len="med" w="med" type="triangle"/>
          </a:ln>
        </p:spPr>
      </p:cxnSp>
      <p:cxnSp>
        <p:nvCxnSpPr>
          <p:cNvPr id="63" name="Google Shape;63;p6"/>
          <p:cNvCxnSpPr/>
          <p:nvPr/>
        </p:nvCxnSpPr>
        <p:spPr>
          <a:xfrm>
            <a:off x="6228184" y="3212976"/>
            <a:ext cx="1728192" cy="0"/>
          </a:xfrm>
          <a:prstGeom prst="straightConnector1">
            <a:avLst/>
          </a:prstGeom>
          <a:noFill/>
          <a:ln cap="flat" cmpd="sng" w="57150">
            <a:solidFill>
              <a:schemeClr val="dk1"/>
            </a:solidFill>
            <a:prstDash val="solid"/>
            <a:round/>
            <a:headEnd len="sm" w="sm" type="none"/>
            <a:tailEnd len="med" w="med" type="triangle"/>
          </a:ln>
        </p:spPr>
      </p:cxnSp>
      <p:sp>
        <p:nvSpPr>
          <p:cNvPr id="64" name="Google Shape;64;p6"/>
          <p:cNvSpPr txBox="1"/>
          <p:nvPr/>
        </p:nvSpPr>
        <p:spPr>
          <a:xfrm>
            <a:off x="201295" y="3537882"/>
            <a:ext cx="3020379"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CA" sz="2000">
                <a:solidFill>
                  <a:schemeClr val="dk1"/>
                </a:solidFill>
                <a:latin typeface="Arial"/>
                <a:ea typeface="Arial"/>
                <a:cs typeface="Arial"/>
                <a:sym typeface="Arial"/>
              </a:rPr>
              <a:t>Ensemble de prédicteurs</a:t>
            </a:r>
            <a:endParaRPr/>
          </a:p>
          <a:p>
            <a:pPr indent="0" lvl="0" marL="0" marR="0" rtl="0" algn="ctr">
              <a:spcBef>
                <a:spcPts val="0"/>
              </a:spcBef>
              <a:spcAft>
                <a:spcPts val="0"/>
              </a:spcAft>
              <a:buNone/>
            </a:pPr>
            <a:r>
              <a:rPr lang="fr-CA" sz="2000">
                <a:solidFill>
                  <a:schemeClr val="dk1"/>
                </a:solidFill>
                <a:latin typeface="Arial"/>
                <a:ea typeface="Arial"/>
                <a:cs typeface="Arial"/>
                <a:sym typeface="Arial"/>
              </a:rPr>
              <a:t>X</a:t>
            </a:r>
            <a:endParaRPr/>
          </a:p>
        </p:txBody>
      </p:sp>
      <p:sp>
        <p:nvSpPr>
          <p:cNvPr id="65" name="Google Shape;65;p6"/>
          <p:cNvSpPr txBox="1"/>
          <p:nvPr/>
        </p:nvSpPr>
        <p:spPr>
          <a:xfrm>
            <a:off x="6446186" y="3537882"/>
            <a:ext cx="1967205"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CA" sz="2000">
                <a:solidFill>
                  <a:schemeClr val="dk1"/>
                </a:solidFill>
                <a:latin typeface="Arial"/>
                <a:ea typeface="Arial"/>
                <a:cs typeface="Arial"/>
                <a:sym typeface="Arial"/>
              </a:rPr>
              <a:t>Label de classe</a:t>
            </a:r>
            <a:endParaRPr/>
          </a:p>
          <a:p>
            <a:pPr indent="0" lvl="0" marL="0" marR="0" rtl="0" algn="ctr">
              <a:spcBef>
                <a:spcPts val="0"/>
              </a:spcBef>
              <a:spcAft>
                <a:spcPts val="0"/>
              </a:spcAft>
              <a:buNone/>
            </a:pPr>
            <a:r>
              <a:rPr lang="fr-CA" sz="2000">
                <a:solidFill>
                  <a:schemeClr val="dk1"/>
                </a:solidFill>
                <a:latin typeface="Arial"/>
                <a:ea typeface="Arial"/>
                <a:cs typeface="Arial"/>
                <a:sym typeface="Arial"/>
              </a:rPr>
              <a:t>y</a:t>
            </a:r>
            <a:endParaRPr sz="200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7"/>
          <p:cNvSpPr txBox="1"/>
          <p:nvPr>
            <p:ph type="title"/>
          </p:nvPr>
        </p:nvSpPr>
        <p:spPr>
          <a:xfrm>
            <a:off x="130630" y="44624"/>
            <a:ext cx="8850085" cy="84908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CA" sz="3600"/>
              <a:t>Modèles de classification | Descriptif</a:t>
            </a:r>
            <a:endParaRPr sz="3600"/>
          </a:p>
        </p:txBody>
      </p:sp>
      <p:sp>
        <p:nvSpPr>
          <p:cNvPr id="71" name="Google Shape;71;p7"/>
          <p:cNvSpPr txBox="1"/>
          <p:nvPr>
            <p:ph idx="1" type="body"/>
          </p:nvPr>
        </p:nvSpPr>
        <p:spPr>
          <a:xfrm>
            <a:off x="152400" y="908721"/>
            <a:ext cx="8839200" cy="5217444"/>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240"/>
              <a:buFont typeface="Corbel"/>
              <a:buChar char="•"/>
            </a:pPr>
            <a:r>
              <a:rPr lang="fr-CA"/>
              <a:t>Descriptif</a:t>
            </a:r>
            <a:endParaRPr/>
          </a:p>
          <a:p>
            <a:pPr indent="-285750" lvl="1" marL="742950" rtl="0" algn="l">
              <a:spcBef>
                <a:spcPts val="480"/>
              </a:spcBef>
              <a:spcAft>
                <a:spcPts val="0"/>
              </a:spcAft>
              <a:buClr>
                <a:schemeClr val="dk1"/>
              </a:buClr>
              <a:buSzPts val="2400"/>
              <a:buChar char="⮚"/>
            </a:pPr>
            <a:r>
              <a:rPr lang="fr-CA"/>
              <a:t>Le modèle sert comme outil pour la distinction d'objets de différentes classes</a:t>
            </a:r>
            <a:endParaRPr/>
          </a:p>
          <a:p>
            <a:pPr indent="0" lvl="1" marL="457200" rtl="0" algn="l">
              <a:spcBef>
                <a:spcPts val="480"/>
              </a:spcBef>
              <a:spcAft>
                <a:spcPts val="0"/>
              </a:spcAft>
              <a:buClr>
                <a:schemeClr val="dk1"/>
              </a:buClr>
              <a:buSzPts val="2400"/>
              <a:buNone/>
            </a:pPr>
            <a:r>
              <a:t/>
            </a:r>
            <a:endParaRPr/>
          </a:p>
        </p:txBody>
      </p:sp>
      <p:pic>
        <p:nvPicPr>
          <p:cNvPr id="72" name="Google Shape;72;p7"/>
          <p:cNvPicPr preferRelativeResize="0"/>
          <p:nvPr/>
        </p:nvPicPr>
        <p:blipFill rotWithShape="1">
          <a:blip r:embed="rId3">
            <a:alphaModFix/>
          </a:blip>
          <a:srcRect b="0" l="0" r="0" t="0"/>
          <a:stretch/>
        </p:blipFill>
        <p:spPr>
          <a:xfrm>
            <a:off x="827584" y="3501008"/>
            <a:ext cx="6343650" cy="1943100"/>
          </a:xfrm>
          <a:prstGeom prst="rect">
            <a:avLst/>
          </a:prstGeom>
          <a:noFill/>
          <a:ln>
            <a:noFill/>
          </a:ln>
        </p:spPr>
      </p:pic>
      <p:sp>
        <p:nvSpPr>
          <p:cNvPr id="73" name="Google Shape;73;p7"/>
          <p:cNvSpPr/>
          <p:nvPr/>
        </p:nvSpPr>
        <p:spPr>
          <a:xfrm flipH="1" rot="-5400000">
            <a:off x="2981522" y="1006326"/>
            <a:ext cx="340239" cy="4320481"/>
          </a:xfrm>
          <a:prstGeom prst="leftBrace">
            <a:avLst>
              <a:gd fmla="val 8333" name="adj1"/>
              <a:gd fmla="val 50000" name="adj2"/>
            </a:avLst>
          </a:prstGeom>
          <a:noFill/>
          <a:ln cap="flat" cmpd="sng" w="38100">
            <a:solidFill>
              <a:schemeClr val="accent1"/>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0" i="0" sz="2000" u="none" cap="none" strike="noStrike">
              <a:solidFill>
                <a:schemeClr val="dk2"/>
              </a:solidFill>
              <a:latin typeface="Arial"/>
              <a:ea typeface="Arial"/>
              <a:cs typeface="Arial"/>
              <a:sym typeface="Arial"/>
            </a:endParaRPr>
          </a:p>
        </p:txBody>
      </p:sp>
      <p:sp>
        <p:nvSpPr>
          <p:cNvPr id="74" name="Google Shape;74;p7"/>
          <p:cNvSpPr/>
          <p:nvPr/>
        </p:nvSpPr>
        <p:spPr>
          <a:xfrm flipH="1" rot="-5400000">
            <a:off x="6368545" y="2352029"/>
            <a:ext cx="340239" cy="1629073"/>
          </a:xfrm>
          <a:prstGeom prst="leftBrace">
            <a:avLst>
              <a:gd fmla="val 8333" name="adj1"/>
              <a:gd fmla="val 50000" name="adj2"/>
            </a:avLst>
          </a:prstGeom>
          <a:noFill/>
          <a:ln cap="flat" cmpd="sng" w="38100">
            <a:solidFill>
              <a:schemeClr val="accent1"/>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0" i="0" sz="2000" u="none" cap="none" strike="noStrike">
              <a:solidFill>
                <a:schemeClr val="dk2"/>
              </a:solidFill>
              <a:latin typeface="Arial"/>
              <a:ea typeface="Arial"/>
              <a:cs typeface="Arial"/>
              <a:sym typeface="Arial"/>
            </a:endParaRPr>
          </a:p>
        </p:txBody>
      </p:sp>
      <p:sp>
        <p:nvSpPr>
          <p:cNvPr id="75" name="Google Shape;75;p7"/>
          <p:cNvSpPr txBox="1"/>
          <p:nvPr/>
        </p:nvSpPr>
        <p:spPr>
          <a:xfrm>
            <a:off x="2455264" y="2544953"/>
            <a:ext cx="156966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CA" sz="1800">
                <a:solidFill>
                  <a:schemeClr val="dk1"/>
                </a:solidFill>
                <a:latin typeface="Arial"/>
                <a:ea typeface="Arial"/>
                <a:cs typeface="Arial"/>
                <a:sym typeface="Arial"/>
              </a:rPr>
              <a:t>Prédicteurs X</a:t>
            </a:r>
            <a:endParaRPr sz="1800">
              <a:solidFill>
                <a:schemeClr val="dk1"/>
              </a:solidFill>
              <a:latin typeface="Arial"/>
              <a:ea typeface="Arial"/>
              <a:cs typeface="Arial"/>
              <a:sym typeface="Arial"/>
            </a:endParaRPr>
          </a:p>
        </p:txBody>
      </p:sp>
      <p:sp>
        <p:nvSpPr>
          <p:cNvPr id="76" name="Google Shape;76;p7"/>
          <p:cNvSpPr txBox="1"/>
          <p:nvPr/>
        </p:nvSpPr>
        <p:spPr>
          <a:xfrm>
            <a:off x="5723432" y="2544952"/>
            <a:ext cx="12234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CA" sz="1800">
                <a:solidFill>
                  <a:schemeClr val="dk1"/>
                </a:solidFill>
                <a:latin typeface="Arial"/>
                <a:ea typeface="Arial"/>
                <a:cs typeface="Arial"/>
                <a:sym typeface="Arial"/>
              </a:rPr>
              <a:t>Classes Y</a:t>
            </a:r>
            <a:endParaRPr sz="1800">
              <a:solidFill>
                <a:schemeClr val="dk1"/>
              </a:solidFill>
              <a:latin typeface="Arial"/>
              <a:ea typeface="Arial"/>
              <a:cs typeface="Arial"/>
              <a:sym typeface="Arial"/>
            </a:endParaRPr>
          </a:p>
        </p:txBody>
      </p:sp>
      <p:sp>
        <p:nvSpPr>
          <p:cNvPr id="77" name="Google Shape;77;p7"/>
          <p:cNvSpPr/>
          <p:nvPr/>
        </p:nvSpPr>
        <p:spPr>
          <a:xfrm>
            <a:off x="4211960" y="5444108"/>
            <a:ext cx="2448272" cy="937220"/>
          </a:xfrm>
          <a:prstGeom prst="wedgeEllipseCallout">
            <a:avLst>
              <a:gd fmla="val -86726" name="adj1"/>
              <a:gd fmla="val -70805" name="adj2"/>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0" i="0" lang="fr-CA" sz="2000" u="none" cap="none" strike="noStrike">
                <a:solidFill>
                  <a:schemeClr val="dk2"/>
                </a:solidFill>
                <a:latin typeface="Arial"/>
                <a:ea typeface="Arial"/>
                <a:cs typeface="Arial"/>
                <a:sym typeface="Arial"/>
              </a:rPr>
              <a:t>Description des classes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8"/>
          <p:cNvSpPr txBox="1"/>
          <p:nvPr>
            <p:ph type="title"/>
          </p:nvPr>
        </p:nvSpPr>
        <p:spPr>
          <a:xfrm>
            <a:off x="130630" y="44624"/>
            <a:ext cx="8850085" cy="84908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CA" sz="3600"/>
              <a:t>Modèles de classification | Predictif</a:t>
            </a:r>
            <a:endParaRPr sz="3600"/>
          </a:p>
        </p:txBody>
      </p:sp>
      <p:sp>
        <p:nvSpPr>
          <p:cNvPr id="83" name="Google Shape;83;p8"/>
          <p:cNvSpPr txBox="1"/>
          <p:nvPr>
            <p:ph idx="1" type="body"/>
          </p:nvPr>
        </p:nvSpPr>
        <p:spPr>
          <a:xfrm>
            <a:off x="152400" y="908721"/>
            <a:ext cx="8839200" cy="5217444"/>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240"/>
              <a:buFont typeface="Corbel"/>
              <a:buChar char="•"/>
            </a:pPr>
            <a:r>
              <a:rPr lang="fr-CA"/>
              <a:t>Prédictif</a:t>
            </a:r>
            <a:endParaRPr/>
          </a:p>
          <a:p>
            <a:pPr indent="-285750" lvl="1" marL="742950" rtl="0" algn="l">
              <a:spcBef>
                <a:spcPts val="480"/>
              </a:spcBef>
              <a:spcAft>
                <a:spcPts val="0"/>
              </a:spcAft>
              <a:buClr>
                <a:schemeClr val="dk1"/>
              </a:buClr>
              <a:buSzPts val="2400"/>
              <a:buChar char="⮚"/>
            </a:pPr>
            <a:r>
              <a:rPr lang="fr-CA"/>
              <a:t>Le modèle est utilisé pour prédire le label de classe d'objets inconnus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9"/>
          <p:cNvSpPr txBox="1"/>
          <p:nvPr>
            <p:ph type="title"/>
          </p:nvPr>
        </p:nvSpPr>
        <p:spPr>
          <a:xfrm>
            <a:off x="130630" y="44624"/>
            <a:ext cx="8850085" cy="84908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CA"/>
              <a:t>Construction du modèle | approche</a:t>
            </a:r>
            <a:endParaRPr/>
          </a:p>
        </p:txBody>
      </p:sp>
      <p:graphicFrame>
        <p:nvGraphicFramePr>
          <p:cNvPr id="89" name="Google Shape;89;p9"/>
          <p:cNvGraphicFramePr/>
          <p:nvPr/>
        </p:nvGraphicFramePr>
        <p:xfrm>
          <a:off x="1093788" y="1143000"/>
          <a:ext cx="6951662" cy="5181600"/>
        </p:xfrm>
        <a:graphic>
          <a:graphicData uri="http://schemas.openxmlformats.org/presentationml/2006/ole">
            <mc:AlternateContent>
              <mc:Choice Requires="v">
                <p:oleObj r:id="rId4" imgH="5181600" imgW="6951662" progId="" spid="_x0000_s1">
                  <p:embed/>
                </p:oleObj>
              </mc:Choice>
              <mc:Fallback>
                <p:oleObj r:id="rId5" imgH="5181600" imgW="6951662" progId="">
                  <p:embed/>
                  <p:pic>
                    <p:nvPicPr>
                      <p:cNvPr id="89" name="Google Shape;89;p9"/>
                      <p:cNvPicPr preferRelativeResize="0"/>
                      <p:nvPr/>
                    </p:nvPicPr>
                    <p:blipFill rotWithShape="1">
                      <a:blip r:embed="rId6">
                        <a:alphaModFix/>
                      </a:blip>
                      <a:srcRect b="0" l="0" r="0" t="0"/>
                      <a:stretch/>
                    </p:blipFill>
                    <p:spPr>
                      <a:xfrm>
                        <a:off x="1093788" y="1143000"/>
                        <a:ext cx="6951662" cy="5181600"/>
                      </a:xfrm>
                      <a:prstGeom prst="rect">
                        <a:avLst/>
                      </a:prstGeom>
                      <a:noFill/>
                      <a:ln>
                        <a:noFill/>
                      </a:ln>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0"/>
          <p:cNvSpPr txBox="1"/>
          <p:nvPr>
            <p:ph type="title"/>
          </p:nvPr>
        </p:nvSpPr>
        <p:spPr>
          <a:xfrm>
            <a:off x="130630" y="44624"/>
            <a:ext cx="8850085" cy="84908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CA"/>
              <a:t>Techniques de classification</a:t>
            </a:r>
            <a:endParaRPr/>
          </a:p>
        </p:txBody>
      </p:sp>
      <p:sp>
        <p:nvSpPr>
          <p:cNvPr id="95" name="Google Shape;95;p10"/>
          <p:cNvSpPr txBox="1"/>
          <p:nvPr>
            <p:ph idx="1" type="body"/>
          </p:nvPr>
        </p:nvSpPr>
        <p:spPr>
          <a:xfrm>
            <a:off x="152400" y="908721"/>
            <a:ext cx="8839200" cy="5217444"/>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240"/>
              <a:buFont typeface="Corbel"/>
              <a:buChar char="•"/>
            </a:pPr>
            <a:r>
              <a:rPr lang="fr-CA"/>
              <a:t>Classificateurs de base</a:t>
            </a:r>
            <a:endParaRPr/>
          </a:p>
          <a:p>
            <a:pPr indent="-285750" lvl="1" marL="742950" rtl="0" algn="l">
              <a:spcBef>
                <a:spcPts val="480"/>
              </a:spcBef>
              <a:spcAft>
                <a:spcPts val="0"/>
              </a:spcAft>
              <a:buClr>
                <a:schemeClr val="dk1"/>
              </a:buClr>
              <a:buSzPts val="2400"/>
              <a:buChar char="⮚"/>
            </a:pPr>
            <a:r>
              <a:rPr lang="fr-CA"/>
              <a:t> Decision Tree based Methods</a:t>
            </a:r>
            <a:endParaRPr/>
          </a:p>
          <a:p>
            <a:pPr indent="-285750" lvl="1" marL="742950" rtl="0" algn="l">
              <a:spcBef>
                <a:spcPts val="480"/>
              </a:spcBef>
              <a:spcAft>
                <a:spcPts val="0"/>
              </a:spcAft>
              <a:buClr>
                <a:schemeClr val="dk1"/>
              </a:buClr>
              <a:buSzPts val="2400"/>
              <a:buChar char="⮚"/>
            </a:pPr>
            <a:r>
              <a:rPr lang="fr-CA"/>
              <a:t>Rule-based Methods</a:t>
            </a:r>
            <a:endParaRPr/>
          </a:p>
          <a:p>
            <a:pPr indent="-285750" lvl="1" marL="742950" rtl="0" algn="l">
              <a:spcBef>
                <a:spcPts val="480"/>
              </a:spcBef>
              <a:spcAft>
                <a:spcPts val="0"/>
              </a:spcAft>
              <a:buClr>
                <a:srgbClr val="FF0000"/>
              </a:buClr>
              <a:buSzPts val="2400"/>
              <a:buChar char="⮚"/>
            </a:pPr>
            <a:r>
              <a:rPr b="1" lang="fr-CA">
                <a:solidFill>
                  <a:srgbClr val="FF0000"/>
                </a:solidFill>
              </a:rPr>
              <a:t>Nearest-neighbor</a:t>
            </a:r>
            <a:endParaRPr/>
          </a:p>
          <a:p>
            <a:pPr indent="-285750" lvl="1" marL="742950" rtl="0" algn="l">
              <a:spcBef>
                <a:spcPts val="480"/>
              </a:spcBef>
              <a:spcAft>
                <a:spcPts val="0"/>
              </a:spcAft>
              <a:buClr>
                <a:srgbClr val="FF0000"/>
              </a:buClr>
              <a:buSzPts val="2400"/>
              <a:buChar char="⮚"/>
            </a:pPr>
            <a:r>
              <a:rPr lang="fr-CA">
                <a:solidFill>
                  <a:srgbClr val="FF0000"/>
                </a:solidFill>
              </a:rPr>
              <a:t>Naïve Bayes </a:t>
            </a:r>
            <a:r>
              <a:rPr lang="fr-CA"/>
              <a:t>et Bayesian Belief Networks</a:t>
            </a:r>
            <a:endParaRPr/>
          </a:p>
          <a:p>
            <a:pPr indent="-285750" lvl="1" marL="742950" rtl="0" algn="l">
              <a:spcBef>
                <a:spcPts val="480"/>
              </a:spcBef>
              <a:spcAft>
                <a:spcPts val="0"/>
              </a:spcAft>
              <a:buClr>
                <a:schemeClr val="dk1"/>
              </a:buClr>
              <a:buSzPts val="2400"/>
              <a:buChar char="⮚"/>
            </a:pPr>
            <a:r>
              <a:rPr lang="fr-CA"/>
              <a:t>Support Vector Machines</a:t>
            </a:r>
            <a:endParaRPr/>
          </a:p>
          <a:p>
            <a:pPr indent="-200660" lvl="0" marL="342900" rtl="0" algn="l">
              <a:spcBef>
                <a:spcPts val="560"/>
              </a:spcBef>
              <a:spcAft>
                <a:spcPts val="0"/>
              </a:spcAft>
              <a:buClr>
                <a:schemeClr val="dk1"/>
              </a:buClr>
              <a:buSzPts val="2240"/>
              <a:buFont typeface="Corbel"/>
              <a:buNone/>
            </a:pPr>
            <a:r>
              <a:t/>
            </a:r>
            <a:endParaRPr/>
          </a:p>
          <a:p>
            <a:pPr indent="-342900" lvl="0" marL="342900" rtl="0" algn="l">
              <a:spcBef>
                <a:spcPts val="560"/>
              </a:spcBef>
              <a:spcAft>
                <a:spcPts val="0"/>
              </a:spcAft>
              <a:buClr>
                <a:schemeClr val="dk1"/>
              </a:buClr>
              <a:buSzPts val="2240"/>
              <a:buFont typeface="Corbel"/>
              <a:buChar char="•"/>
            </a:pPr>
            <a:r>
              <a:rPr lang="fr-CA"/>
              <a:t>Classificateurs d'ensemble</a:t>
            </a:r>
            <a:endParaRPr/>
          </a:p>
          <a:p>
            <a:pPr indent="-285750" lvl="1" marL="742950" rtl="0" algn="l">
              <a:spcBef>
                <a:spcPts val="480"/>
              </a:spcBef>
              <a:spcAft>
                <a:spcPts val="0"/>
              </a:spcAft>
              <a:buClr>
                <a:schemeClr val="dk1"/>
              </a:buClr>
              <a:buSzPts val="2400"/>
              <a:buChar char="⮚"/>
            </a:pPr>
            <a:r>
              <a:rPr lang="fr-CA"/>
              <a:t>Boosting, Bagging, </a:t>
            </a:r>
            <a:r>
              <a:rPr lang="fr-CA">
                <a:solidFill>
                  <a:srgbClr val="FF0000"/>
                </a:solidFill>
              </a:rPr>
              <a:t>Random Forests</a:t>
            </a:r>
            <a:endParaRPr/>
          </a:p>
          <a:p>
            <a:pPr indent="-200660" lvl="0" marL="342900" rtl="0" algn="l">
              <a:spcBef>
                <a:spcPts val="560"/>
              </a:spcBef>
              <a:spcAft>
                <a:spcPts val="0"/>
              </a:spcAft>
              <a:buClr>
                <a:schemeClr val="dk1"/>
              </a:buClr>
              <a:buSzPts val="2240"/>
              <a:buFont typeface="Corbel"/>
              <a:buNone/>
            </a:pPr>
            <a:r>
              <a:t/>
            </a:r>
            <a:endParaRPr/>
          </a:p>
          <a:p>
            <a:pPr indent="-200660" lvl="0" marL="342900" rtl="0" algn="l">
              <a:spcBef>
                <a:spcPts val="560"/>
              </a:spcBef>
              <a:spcAft>
                <a:spcPts val="0"/>
              </a:spcAft>
              <a:buClr>
                <a:schemeClr val="dk1"/>
              </a:buClr>
              <a:buSzPts val="2240"/>
              <a:buFont typeface="Corbel"/>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1"/>
          <p:cNvSpPr txBox="1"/>
          <p:nvPr>
            <p:ph type="title"/>
          </p:nvPr>
        </p:nvSpPr>
        <p:spPr>
          <a:xfrm>
            <a:off x="130630" y="44624"/>
            <a:ext cx="8850085" cy="84908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CA"/>
              <a:t>Classificateur | Nearest neighbor</a:t>
            </a:r>
            <a:endParaRPr/>
          </a:p>
        </p:txBody>
      </p:sp>
      <p:sp>
        <p:nvSpPr>
          <p:cNvPr id="101" name="Google Shape;101;p11"/>
          <p:cNvSpPr txBox="1"/>
          <p:nvPr>
            <p:ph idx="1" type="body"/>
          </p:nvPr>
        </p:nvSpPr>
        <p:spPr>
          <a:xfrm>
            <a:off x="152400" y="908721"/>
            <a:ext cx="8839200" cy="5217444"/>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240"/>
              <a:buFont typeface="Corbel"/>
              <a:buChar char="•"/>
            </a:pPr>
            <a:r>
              <a:rPr b="1" lang="fr-CA"/>
              <a:t>Objectif</a:t>
            </a:r>
            <a:r>
              <a:rPr lang="fr-CA"/>
              <a:t>: trouver la donnée d'apprentissage la plus proche de la donnée de test et classifier l'instance de test comme étant de la même classe</a:t>
            </a:r>
            <a:endParaRPr/>
          </a:p>
        </p:txBody>
      </p:sp>
      <p:pic>
        <p:nvPicPr>
          <p:cNvPr id="102" name="Google Shape;102;p11"/>
          <p:cNvPicPr preferRelativeResize="0"/>
          <p:nvPr/>
        </p:nvPicPr>
        <p:blipFill rotWithShape="1">
          <a:blip r:embed="rId3">
            <a:alphaModFix/>
          </a:blip>
          <a:srcRect b="0" l="0" r="0" t="0"/>
          <a:stretch/>
        </p:blipFill>
        <p:spPr>
          <a:xfrm>
            <a:off x="539552" y="2492896"/>
            <a:ext cx="7662478" cy="342868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2"/>
          <p:cNvSpPr txBox="1"/>
          <p:nvPr>
            <p:ph type="title"/>
          </p:nvPr>
        </p:nvSpPr>
        <p:spPr>
          <a:xfrm>
            <a:off x="130630" y="44624"/>
            <a:ext cx="8850085" cy="84908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CA"/>
              <a:t>Classificateur | k-Nearest neighbor</a:t>
            </a:r>
            <a:endParaRPr/>
          </a:p>
        </p:txBody>
      </p:sp>
      <p:sp>
        <p:nvSpPr>
          <p:cNvPr id="108" name="Google Shape;108;p12"/>
          <p:cNvSpPr txBox="1"/>
          <p:nvPr>
            <p:ph idx="1" type="body"/>
          </p:nvPr>
        </p:nvSpPr>
        <p:spPr>
          <a:xfrm>
            <a:off x="152400" y="908721"/>
            <a:ext cx="8839200" cy="5217444"/>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240"/>
              <a:buFont typeface="Corbel"/>
              <a:buChar char="•"/>
            </a:pPr>
            <a:r>
              <a:rPr b="1" lang="fr-CA"/>
              <a:t>Objectif</a:t>
            </a:r>
            <a:r>
              <a:rPr lang="fr-CA"/>
              <a:t>: trouver les </a:t>
            </a:r>
            <a:r>
              <a:rPr b="1" i="1" lang="fr-CA"/>
              <a:t>k</a:t>
            </a:r>
            <a:r>
              <a:rPr lang="fr-CA"/>
              <a:t> instances d'apprentissage qui sont les plus proches de la donnée de test et classifier l'instance de test comme étant de la même classe que la classe majoritaire des </a:t>
            </a:r>
            <a:r>
              <a:rPr b="1" i="1" lang="fr-CA"/>
              <a:t>k</a:t>
            </a:r>
            <a:r>
              <a:rPr lang="fr-CA"/>
              <a:t> instances</a:t>
            </a:r>
            <a:endParaRPr/>
          </a:p>
          <a:p>
            <a:pPr indent="-200660" lvl="0" marL="342900" rtl="0" algn="l">
              <a:spcBef>
                <a:spcPts val="560"/>
              </a:spcBef>
              <a:spcAft>
                <a:spcPts val="0"/>
              </a:spcAft>
              <a:buClr>
                <a:schemeClr val="dk1"/>
              </a:buClr>
              <a:buSzPts val="2240"/>
              <a:buFont typeface="Corbel"/>
              <a:buNone/>
            </a:pPr>
            <a:r>
              <a:t/>
            </a:r>
            <a:endParaRPr/>
          </a:p>
        </p:txBody>
      </p:sp>
      <p:pic>
        <p:nvPicPr>
          <p:cNvPr id="109" name="Google Shape;109;p12"/>
          <p:cNvPicPr preferRelativeResize="0"/>
          <p:nvPr/>
        </p:nvPicPr>
        <p:blipFill rotWithShape="1">
          <a:blip r:embed="rId3">
            <a:alphaModFix/>
          </a:blip>
          <a:srcRect b="0" l="0" r="0" t="0"/>
          <a:stretch/>
        </p:blipFill>
        <p:spPr>
          <a:xfrm>
            <a:off x="2276475" y="2924944"/>
            <a:ext cx="4591050" cy="27908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3"/>
          <p:cNvSpPr txBox="1"/>
          <p:nvPr>
            <p:ph type="title"/>
          </p:nvPr>
        </p:nvSpPr>
        <p:spPr>
          <a:xfrm>
            <a:off x="130630" y="44624"/>
            <a:ext cx="8850085" cy="84908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CA"/>
              <a:t>Algorithme k-NN</a:t>
            </a:r>
            <a:endParaRPr/>
          </a:p>
        </p:txBody>
      </p:sp>
      <p:sp>
        <p:nvSpPr>
          <p:cNvPr id="115" name="Google Shape;115;p13"/>
          <p:cNvSpPr txBox="1"/>
          <p:nvPr>
            <p:ph idx="1" type="body"/>
          </p:nvPr>
        </p:nvSpPr>
        <p:spPr>
          <a:xfrm>
            <a:off x="152400" y="908721"/>
            <a:ext cx="8839200" cy="521744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240"/>
              <a:buFont typeface="Corbel"/>
              <a:buNone/>
            </a:pPr>
            <a:r>
              <a:rPr lang="fr-CA"/>
              <a:t>1: Soit 𝑘 le nombre de proches voisins et 𝐷 l'ensemble des instances d'apprentissage. </a:t>
            </a:r>
            <a:endParaRPr/>
          </a:p>
          <a:p>
            <a:pPr indent="0" lvl="0" marL="0" rtl="0" algn="l">
              <a:spcBef>
                <a:spcPts val="560"/>
              </a:spcBef>
              <a:spcAft>
                <a:spcPts val="0"/>
              </a:spcAft>
              <a:buSzPts val="2240"/>
              <a:buFont typeface="Corbel"/>
              <a:buNone/>
            </a:pPr>
            <a:r>
              <a:rPr lang="fr-CA"/>
              <a:t>2: Pour chaque instance test 𝑧 = 𝐱 ′ , 𝑦 ′ faire </a:t>
            </a:r>
            <a:endParaRPr/>
          </a:p>
          <a:p>
            <a:pPr indent="0" lvl="0" marL="0" rtl="0" algn="l">
              <a:spcBef>
                <a:spcPts val="560"/>
              </a:spcBef>
              <a:spcAft>
                <a:spcPts val="0"/>
              </a:spcAft>
              <a:buSzPts val="2240"/>
              <a:buFont typeface="Corbel"/>
              <a:buNone/>
            </a:pPr>
            <a:r>
              <a:rPr lang="fr-CA"/>
              <a:t>3: Calculer 𝑑 𝐱 ′ , 𝐱 , la </a:t>
            </a:r>
            <a:r>
              <a:rPr lang="fr-CA" u="sng"/>
              <a:t>distance</a:t>
            </a:r>
            <a:r>
              <a:rPr lang="fr-CA"/>
              <a:t> entre 𝑧 et chaque instance, 𝐱, 𝑦 ∈ 𝐷. </a:t>
            </a:r>
            <a:endParaRPr/>
          </a:p>
          <a:p>
            <a:pPr indent="0" lvl="0" marL="0" rtl="0" algn="l">
              <a:spcBef>
                <a:spcPts val="560"/>
              </a:spcBef>
              <a:spcAft>
                <a:spcPts val="0"/>
              </a:spcAft>
              <a:buSzPts val="2240"/>
              <a:buFont typeface="Corbel"/>
              <a:buNone/>
            </a:pPr>
            <a:r>
              <a:rPr lang="fr-CA"/>
              <a:t>4: Sélectionner 𝐷𝑧 ⊆ 𝐷, l'ensemble des  𝑘 plus proches instances d'apprentissage  de 𝑧. </a:t>
            </a:r>
            <a:endParaRPr/>
          </a:p>
          <a:p>
            <a:pPr indent="0" lvl="0" marL="0" rtl="0" algn="l">
              <a:spcBef>
                <a:spcPts val="560"/>
              </a:spcBef>
              <a:spcAft>
                <a:spcPts val="0"/>
              </a:spcAft>
              <a:buSzPts val="2240"/>
              <a:buFont typeface="Corbel"/>
              <a:buNone/>
            </a:pPr>
            <a:r>
              <a:rPr lang="fr-CA"/>
              <a:t>5: 𝑦 ′ = argmax 𝑣 𝑥 𝐼 𝑣 = 𝑦𝑖 𝑖 ,𝑦𝑖 ∈𝐷𝑧 </a:t>
            </a:r>
            <a:endParaRPr/>
          </a:p>
          <a:p>
            <a:pPr indent="0" lvl="0" marL="0" rtl="0" algn="l">
              <a:spcBef>
                <a:spcPts val="560"/>
              </a:spcBef>
              <a:spcAft>
                <a:spcPts val="0"/>
              </a:spcAft>
              <a:buSzPts val="2240"/>
              <a:buFont typeface="Corbel"/>
              <a:buNone/>
            </a:pPr>
            <a:r>
              <a:rPr lang="fr-CA"/>
              <a:t>6: fin pour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4"/>
          <p:cNvSpPr txBox="1"/>
          <p:nvPr>
            <p:ph type="title"/>
          </p:nvPr>
        </p:nvSpPr>
        <p:spPr>
          <a:xfrm>
            <a:off x="130630" y="44624"/>
            <a:ext cx="8850085" cy="84908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CA"/>
              <a:t>K-nearest neighbor</a:t>
            </a:r>
            <a:endParaRPr/>
          </a:p>
        </p:txBody>
      </p:sp>
      <p:sp>
        <p:nvSpPr>
          <p:cNvPr id="121" name="Google Shape;121;p14"/>
          <p:cNvSpPr txBox="1"/>
          <p:nvPr>
            <p:ph idx="1" type="body"/>
          </p:nvPr>
        </p:nvSpPr>
        <p:spPr>
          <a:xfrm>
            <a:off x="152400" y="4653135"/>
            <a:ext cx="8839200" cy="1473029"/>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240"/>
              <a:buFont typeface="Corbel"/>
              <a:buChar char="•"/>
            </a:pPr>
            <a:r>
              <a:rPr lang="fr-CA"/>
              <a:t>En Jaune, instance à classer</a:t>
            </a:r>
            <a:endParaRPr/>
          </a:p>
          <a:p>
            <a:pPr indent="0" lvl="0" marL="0" rtl="0" algn="l">
              <a:spcBef>
                <a:spcPts val="560"/>
              </a:spcBef>
              <a:spcAft>
                <a:spcPts val="0"/>
              </a:spcAft>
              <a:buSzPts val="2240"/>
              <a:buFont typeface="Corbel"/>
              <a:buNone/>
            </a:pPr>
            <a:r>
              <a:t/>
            </a:r>
            <a:endParaRPr/>
          </a:p>
        </p:txBody>
      </p:sp>
      <p:pic>
        <p:nvPicPr>
          <p:cNvPr id="122" name="Google Shape;122;p14"/>
          <p:cNvPicPr preferRelativeResize="0"/>
          <p:nvPr/>
        </p:nvPicPr>
        <p:blipFill rotWithShape="1">
          <a:blip r:embed="rId3">
            <a:alphaModFix/>
          </a:blip>
          <a:srcRect b="0" l="0" r="0" t="0"/>
          <a:stretch/>
        </p:blipFill>
        <p:spPr>
          <a:xfrm>
            <a:off x="979034" y="1439922"/>
            <a:ext cx="7153275" cy="2667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5"/>
          <p:cNvSpPr txBox="1"/>
          <p:nvPr>
            <p:ph type="title"/>
          </p:nvPr>
        </p:nvSpPr>
        <p:spPr>
          <a:xfrm>
            <a:off x="130630" y="44624"/>
            <a:ext cx="8850085" cy="84908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CA"/>
              <a:t>Choix de k</a:t>
            </a:r>
            <a:endParaRPr/>
          </a:p>
        </p:txBody>
      </p:sp>
      <p:sp>
        <p:nvSpPr>
          <p:cNvPr id="128" name="Google Shape;128;p15"/>
          <p:cNvSpPr txBox="1"/>
          <p:nvPr>
            <p:ph idx="1" type="body"/>
          </p:nvPr>
        </p:nvSpPr>
        <p:spPr>
          <a:xfrm>
            <a:off x="152400" y="908721"/>
            <a:ext cx="8839200" cy="5217444"/>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240"/>
              <a:buFont typeface="Corbel"/>
              <a:buChar char="•"/>
            </a:pPr>
            <a:r>
              <a:rPr lang="fr-CA"/>
              <a:t>Le choix de k n'est pas évident par la nature même de l'algorithme</a:t>
            </a:r>
            <a:endParaRPr/>
          </a:p>
          <a:p>
            <a:pPr indent="-342900" lvl="0" marL="342900" rtl="0" algn="l">
              <a:spcBef>
                <a:spcPts val="560"/>
              </a:spcBef>
              <a:spcAft>
                <a:spcPts val="0"/>
              </a:spcAft>
              <a:buClr>
                <a:schemeClr val="dk1"/>
              </a:buClr>
              <a:buSzPts val="2240"/>
              <a:buFont typeface="Corbel"/>
              <a:buChar char="•"/>
            </a:pPr>
            <a:r>
              <a:rPr lang="fr-CA"/>
              <a:t>Si k est très petit, on risque d'avoir le overfitting en raison du bruit dans les données d'apprentissage</a:t>
            </a:r>
            <a:endParaRPr/>
          </a:p>
          <a:p>
            <a:pPr indent="-342900" lvl="0" marL="342900" rtl="0" algn="l">
              <a:spcBef>
                <a:spcPts val="560"/>
              </a:spcBef>
              <a:spcAft>
                <a:spcPts val="0"/>
              </a:spcAft>
              <a:buClr>
                <a:schemeClr val="dk1"/>
              </a:buClr>
              <a:buSzPts val="2240"/>
              <a:buFont typeface="Corbel"/>
              <a:buChar char="•"/>
            </a:pPr>
            <a:r>
              <a:rPr lang="fr-CA"/>
              <a:t>si k est plus grand, on risque d'avoir des erreurs de mauvaise classification car le voisinage de l'instance de test devient plus grand et des points éloignés et non pertinents seront utilisés pour la classification </a:t>
            </a:r>
            <a:endParaRPr/>
          </a:p>
        </p:txBody>
      </p:sp>
      <p:pic>
        <p:nvPicPr>
          <p:cNvPr id="129" name="Google Shape;129;p15"/>
          <p:cNvPicPr preferRelativeResize="0"/>
          <p:nvPr/>
        </p:nvPicPr>
        <p:blipFill rotWithShape="1">
          <a:blip r:embed="rId3">
            <a:alphaModFix/>
          </a:blip>
          <a:srcRect b="0" l="0" r="0" t="0"/>
          <a:stretch/>
        </p:blipFill>
        <p:spPr>
          <a:xfrm>
            <a:off x="5380315" y="4509120"/>
            <a:ext cx="3600400" cy="187220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6"/>
          <p:cNvSpPr txBox="1"/>
          <p:nvPr>
            <p:ph type="title"/>
          </p:nvPr>
        </p:nvSpPr>
        <p:spPr>
          <a:xfrm>
            <a:off x="130630" y="44624"/>
            <a:ext cx="8850085" cy="84908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CA"/>
              <a:t>Vote de classe</a:t>
            </a:r>
            <a:endParaRPr/>
          </a:p>
        </p:txBody>
      </p:sp>
      <p:sp>
        <p:nvSpPr>
          <p:cNvPr id="135" name="Google Shape;135;p16"/>
          <p:cNvSpPr txBox="1"/>
          <p:nvPr>
            <p:ph idx="1" type="body"/>
          </p:nvPr>
        </p:nvSpPr>
        <p:spPr>
          <a:xfrm>
            <a:off x="152400" y="908721"/>
            <a:ext cx="8839200" cy="5217444"/>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240"/>
              <a:buFont typeface="Corbel"/>
              <a:buChar char="•"/>
            </a:pPr>
            <a:r>
              <a:rPr lang="fr-CA"/>
              <a:t>Prendre les labels de classe des k-proches voisins et prendre la classe majoritaire</a:t>
            </a:r>
            <a:endParaRPr/>
          </a:p>
          <a:p>
            <a:pPr indent="-200660" lvl="0" marL="342900" rtl="0" algn="l">
              <a:spcBef>
                <a:spcPts val="560"/>
              </a:spcBef>
              <a:spcAft>
                <a:spcPts val="0"/>
              </a:spcAft>
              <a:buClr>
                <a:schemeClr val="dk1"/>
              </a:buClr>
              <a:buSzPts val="2240"/>
              <a:buFont typeface="Corbel"/>
              <a:buNone/>
            </a:pPr>
            <a:r>
              <a:t/>
            </a:r>
            <a:endParaRPr/>
          </a:p>
          <a:p>
            <a:pPr indent="-200660" lvl="0" marL="342900" rtl="0" algn="l">
              <a:spcBef>
                <a:spcPts val="560"/>
              </a:spcBef>
              <a:spcAft>
                <a:spcPts val="0"/>
              </a:spcAft>
              <a:buClr>
                <a:schemeClr val="dk1"/>
              </a:buClr>
              <a:buSzPts val="2240"/>
              <a:buFont typeface="Corbel"/>
              <a:buNone/>
            </a:pPr>
            <a:r>
              <a:t/>
            </a:r>
            <a:endParaRPr/>
          </a:p>
          <a:p>
            <a:pPr indent="-200660" lvl="0" marL="342900" rtl="0" algn="l">
              <a:spcBef>
                <a:spcPts val="560"/>
              </a:spcBef>
              <a:spcAft>
                <a:spcPts val="0"/>
              </a:spcAft>
              <a:buClr>
                <a:schemeClr val="dk1"/>
              </a:buClr>
              <a:buSzPts val="2240"/>
              <a:buFont typeface="Corbel"/>
              <a:buNone/>
            </a:pPr>
            <a:r>
              <a:t/>
            </a:r>
            <a:endParaRPr/>
          </a:p>
          <a:p>
            <a:pPr indent="-200660" lvl="0" marL="342900" rtl="0" algn="l">
              <a:spcBef>
                <a:spcPts val="560"/>
              </a:spcBef>
              <a:spcAft>
                <a:spcPts val="0"/>
              </a:spcAft>
              <a:buClr>
                <a:schemeClr val="dk1"/>
              </a:buClr>
              <a:buSzPts val="2240"/>
              <a:buFont typeface="Corbel"/>
              <a:buNone/>
            </a:pPr>
            <a:r>
              <a:t/>
            </a:r>
            <a:endParaRPr/>
          </a:p>
          <a:p>
            <a:pPr indent="-342900" lvl="0" marL="342900" rtl="0" algn="l">
              <a:spcBef>
                <a:spcPts val="560"/>
              </a:spcBef>
              <a:spcAft>
                <a:spcPts val="0"/>
              </a:spcAft>
              <a:buClr>
                <a:schemeClr val="dk1"/>
              </a:buClr>
              <a:buSzPts val="2240"/>
              <a:buFont typeface="Corbel"/>
              <a:buChar char="•"/>
            </a:pPr>
            <a:r>
              <a:rPr lang="fr-CA"/>
              <a:t>v est un label de classe</a:t>
            </a:r>
            <a:endParaRPr/>
          </a:p>
          <a:p>
            <a:pPr indent="-342900" lvl="0" marL="342900" rtl="0" algn="l">
              <a:spcBef>
                <a:spcPts val="560"/>
              </a:spcBef>
              <a:spcAft>
                <a:spcPts val="0"/>
              </a:spcAft>
              <a:buClr>
                <a:schemeClr val="dk1"/>
              </a:buClr>
              <a:buSzPts val="2240"/>
              <a:buFont typeface="Corbel"/>
              <a:buChar char="•"/>
            </a:pPr>
            <a:r>
              <a:rPr lang="fr-CA"/>
              <a:t>y</a:t>
            </a:r>
            <a:r>
              <a:rPr baseline="-25000" lang="fr-CA"/>
              <a:t>i</a:t>
            </a:r>
            <a:r>
              <a:rPr lang="fr-CA"/>
              <a:t>: label de classe d'un voisin i</a:t>
            </a:r>
            <a:endParaRPr/>
          </a:p>
          <a:p>
            <a:pPr indent="-342900" lvl="0" marL="342900" rtl="0" algn="l">
              <a:spcBef>
                <a:spcPts val="560"/>
              </a:spcBef>
              <a:spcAft>
                <a:spcPts val="0"/>
              </a:spcAft>
              <a:buClr>
                <a:schemeClr val="dk1"/>
              </a:buClr>
              <a:buSzPts val="2240"/>
              <a:buFont typeface="Corbel"/>
              <a:buChar char="•"/>
            </a:pPr>
            <a:r>
              <a:rPr lang="fr-CA"/>
              <a:t>I(.) : fonction qui retourne 1 si l'argument est True et 0 autrement</a:t>
            </a:r>
            <a:endParaRPr/>
          </a:p>
        </p:txBody>
      </p:sp>
      <p:pic>
        <p:nvPicPr>
          <p:cNvPr id="136" name="Google Shape;136;p16"/>
          <p:cNvPicPr preferRelativeResize="0"/>
          <p:nvPr/>
        </p:nvPicPr>
        <p:blipFill rotWithShape="1">
          <a:blip r:embed="rId3">
            <a:alphaModFix/>
          </a:blip>
          <a:srcRect b="0" l="0" r="0" t="0"/>
          <a:stretch/>
        </p:blipFill>
        <p:spPr>
          <a:xfrm>
            <a:off x="1691680" y="2187019"/>
            <a:ext cx="5469520" cy="13304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7"/>
          <p:cNvSpPr txBox="1"/>
          <p:nvPr>
            <p:ph type="title"/>
          </p:nvPr>
        </p:nvSpPr>
        <p:spPr>
          <a:xfrm>
            <a:off x="130630" y="44624"/>
            <a:ext cx="8850085" cy="84908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CA"/>
              <a:t>Alternative</a:t>
            </a:r>
            <a:endParaRPr/>
          </a:p>
        </p:txBody>
      </p:sp>
      <p:sp>
        <p:nvSpPr>
          <p:cNvPr id="142" name="Google Shape;142;p17"/>
          <p:cNvSpPr txBox="1"/>
          <p:nvPr>
            <p:ph idx="1" type="body"/>
          </p:nvPr>
        </p:nvSpPr>
        <p:spPr>
          <a:xfrm>
            <a:off x="152400" y="908721"/>
            <a:ext cx="8839200" cy="5217444"/>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240"/>
              <a:buFont typeface="Corbel"/>
              <a:buChar char="•"/>
            </a:pPr>
            <a:r>
              <a:rPr lang="fr-CA"/>
              <a:t>On peut avoir une modification dans la règle de vote en procédant à une pondération de l'influence des voisins selon la distance</a:t>
            </a:r>
            <a:endParaRPr/>
          </a:p>
          <a:p>
            <a:pPr indent="-200660" lvl="0" marL="342900" rtl="0" algn="l">
              <a:spcBef>
                <a:spcPts val="560"/>
              </a:spcBef>
              <a:spcAft>
                <a:spcPts val="0"/>
              </a:spcAft>
              <a:buClr>
                <a:schemeClr val="dk1"/>
              </a:buClr>
              <a:buSzPts val="2240"/>
              <a:buFont typeface="Corbel"/>
              <a:buNone/>
            </a:pPr>
            <a:r>
              <a:t/>
            </a:r>
            <a:endParaRPr/>
          </a:p>
          <a:p>
            <a:pPr indent="-200660" lvl="0" marL="342900" rtl="0" algn="l">
              <a:spcBef>
                <a:spcPts val="560"/>
              </a:spcBef>
              <a:spcAft>
                <a:spcPts val="0"/>
              </a:spcAft>
              <a:buClr>
                <a:schemeClr val="dk1"/>
              </a:buClr>
              <a:buSzPts val="2240"/>
              <a:buFont typeface="Corbel"/>
              <a:buNone/>
            </a:pPr>
            <a:r>
              <a:t/>
            </a:r>
            <a:endParaRPr/>
          </a:p>
          <a:p>
            <a:pPr indent="-200660" lvl="0" marL="342900" rtl="0" algn="l">
              <a:spcBef>
                <a:spcPts val="560"/>
              </a:spcBef>
              <a:spcAft>
                <a:spcPts val="0"/>
              </a:spcAft>
              <a:buClr>
                <a:schemeClr val="dk1"/>
              </a:buClr>
              <a:buSzPts val="2240"/>
              <a:buFont typeface="Corbel"/>
              <a:buNone/>
            </a:pPr>
            <a:r>
              <a:t/>
            </a:r>
            <a:endParaRPr/>
          </a:p>
          <a:p>
            <a:pPr indent="-342900" lvl="0" marL="342900" rtl="0" algn="l">
              <a:spcBef>
                <a:spcPts val="560"/>
              </a:spcBef>
              <a:spcAft>
                <a:spcPts val="0"/>
              </a:spcAft>
              <a:buClr>
                <a:schemeClr val="dk1"/>
              </a:buClr>
              <a:buSzPts val="2240"/>
              <a:buFont typeface="Corbel"/>
              <a:buChar char="•"/>
            </a:pPr>
            <a:r>
              <a:rPr lang="fr-CA"/>
              <a:t>Coefficient:</a:t>
            </a:r>
            <a:endParaRPr/>
          </a:p>
        </p:txBody>
      </p:sp>
      <p:pic>
        <p:nvPicPr>
          <p:cNvPr id="143" name="Google Shape;143;p17"/>
          <p:cNvPicPr preferRelativeResize="0"/>
          <p:nvPr/>
        </p:nvPicPr>
        <p:blipFill rotWithShape="1">
          <a:blip r:embed="rId3">
            <a:alphaModFix/>
          </a:blip>
          <a:srcRect b="0" l="0" r="0" t="0"/>
          <a:stretch/>
        </p:blipFill>
        <p:spPr>
          <a:xfrm>
            <a:off x="2411760" y="2564904"/>
            <a:ext cx="4622726" cy="1115367"/>
          </a:xfrm>
          <a:prstGeom prst="rect">
            <a:avLst/>
          </a:prstGeom>
          <a:noFill/>
          <a:ln>
            <a:noFill/>
          </a:ln>
        </p:spPr>
      </p:pic>
      <p:pic>
        <p:nvPicPr>
          <p:cNvPr id="144" name="Google Shape;144;p17"/>
          <p:cNvPicPr preferRelativeResize="0"/>
          <p:nvPr/>
        </p:nvPicPr>
        <p:blipFill rotWithShape="1">
          <a:blip r:embed="rId4">
            <a:alphaModFix/>
          </a:blip>
          <a:srcRect b="0" l="0" r="0" t="0"/>
          <a:stretch/>
        </p:blipFill>
        <p:spPr>
          <a:xfrm>
            <a:off x="3275855" y="4653137"/>
            <a:ext cx="3609321" cy="68331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8"/>
          <p:cNvSpPr txBox="1"/>
          <p:nvPr>
            <p:ph type="title"/>
          </p:nvPr>
        </p:nvSpPr>
        <p:spPr>
          <a:xfrm>
            <a:off x="130630" y="44624"/>
            <a:ext cx="8850085" cy="84908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CA"/>
              <a:t>Conclusion</a:t>
            </a:r>
            <a:endParaRPr/>
          </a:p>
        </p:txBody>
      </p:sp>
      <p:sp>
        <p:nvSpPr>
          <p:cNvPr id="150" name="Google Shape;150;p18"/>
          <p:cNvSpPr txBox="1"/>
          <p:nvPr>
            <p:ph idx="1" type="body"/>
          </p:nvPr>
        </p:nvSpPr>
        <p:spPr>
          <a:xfrm>
            <a:off x="152400" y="908721"/>
            <a:ext cx="8839200" cy="5217444"/>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240"/>
              <a:buFont typeface="Corbel"/>
              <a:buChar char="•"/>
            </a:pPr>
            <a:r>
              <a:rPr lang="fr-CA"/>
              <a:t>Dans cette leçon, on a passé en revue les points suivants</a:t>
            </a:r>
            <a:endParaRPr/>
          </a:p>
          <a:p>
            <a:pPr indent="-285750" lvl="1" marL="742950" rtl="0" algn="l">
              <a:spcBef>
                <a:spcPts val="480"/>
              </a:spcBef>
              <a:spcAft>
                <a:spcPts val="0"/>
              </a:spcAft>
              <a:buClr>
                <a:schemeClr val="dk1"/>
              </a:buClr>
              <a:buSzPts val="2400"/>
              <a:buChar char="⮚"/>
            </a:pPr>
            <a:r>
              <a:rPr lang="fr-CA"/>
              <a:t>Classification</a:t>
            </a:r>
            <a:endParaRPr/>
          </a:p>
          <a:p>
            <a:pPr indent="-285750" lvl="1" marL="742950" rtl="0" algn="l">
              <a:spcBef>
                <a:spcPts val="480"/>
              </a:spcBef>
              <a:spcAft>
                <a:spcPts val="0"/>
              </a:spcAft>
              <a:buClr>
                <a:schemeClr val="dk1"/>
              </a:buClr>
              <a:buSzPts val="2400"/>
              <a:buChar char="⮚"/>
            </a:pPr>
            <a:r>
              <a:rPr lang="fr-CA"/>
              <a:t>K-nearest neighbor</a:t>
            </a:r>
            <a:endParaRPr/>
          </a:p>
          <a:p>
            <a:pPr indent="0" lvl="0" marL="0" rtl="0" algn="l">
              <a:spcBef>
                <a:spcPts val="560"/>
              </a:spcBef>
              <a:spcAft>
                <a:spcPts val="0"/>
              </a:spcAft>
              <a:buSzPts val="2240"/>
              <a:buFont typeface="Corbel"/>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Bd8_model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2016-06-15T14:43:51Z</dcterms:created>
  <dc:creator>HBenteftifa</dc:creator>
</cp:coreProperties>
</file>