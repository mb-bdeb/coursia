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Corbel"/>
      <p:regular r:id="rId19"/>
      <p:bold r:id="rId20"/>
      <p:italic r:id="rId21"/>
      <p:boldItalic r:id="rId22"/>
    </p:embeddedFont>
    <p:embeddedFont>
      <p:font typeface="Quattrocento Sans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V8fyV2L5djkHjtF7fOXHad8s1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bold.fntdata"/><Relationship Id="rId22" Type="http://schemas.openxmlformats.org/officeDocument/2006/relationships/font" Target="fonts/Corbel-boldItalic.fntdata"/><Relationship Id="rId21" Type="http://schemas.openxmlformats.org/officeDocument/2006/relationships/font" Target="fonts/Corbel-italic.fntdata"/><Relationship Id="rId24" Type="http://schemas.openxmlformats.org/officeDocument/2006/relationships/font" Target="fonts/QuattrocentoSans-bold.fntdata"/><Relationship Id="rId23" Type="http://schemas.openxmlformats.org/officeDocument/2006/relationships/font" Target="fonts/Quattrocento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boldItalic.fntdata"/><Relationship Id="rId25" Type="http://schemas.openxmlformats.org/officeDocument/2006/relationships/font" Target="fonts/QuattrocentoSans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Corbel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–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1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4"/>
          <p:cNvSpPr/>
          <p:nvPr/>
        </p:nvSpPr>
        <p:spPr>
          <a:xfrm>
            <a:off x="1" y="6524626"/>
            <a:ext cx="530225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4"/>
          <p:cNvSpPr/>
          <p:nvPr/>
        </p:nvSpPr>
        <p:spPr>
          <a:xfrm>
            <a:off x="481013" y="6464302"/>
            <a:ext cx="8662987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ckwell"/>
              <a:buNone/>
            </a:pPr>
            <a:r>
              <a:rPr b="0" i="0" lang="en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20/02/2021    Fouilles de données 420-BD8-BB</a:t>
            </a:r>
            <a:r>
              <a:rPr b="1" i="0" lang="en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- Hafed Benteftifa-Nesrine Zemirli </a:t>
            </a:r>
            <a:r>
              <a:rPr b="1" i="0" lang="en-CA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©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Évaluation des modèles</a:t>
            </a:r>
            <a:endParaRPr/>
          </a:p>
        </p:txBody>
      </p:sp>
      <p:sp>
        <p:nvSpPr>
          <p:cNvPr id="28" name="Google Shape;28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en-CA"/>
              <a:t>mesures de similarité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Agenda</a:t>
            </a:r>
            <a:endParaRPr/>
          </a:p>
        </p:txBody>
      </p:sp>
      <p:sp>
        <p:nvSpPr>
          <p:cNvPr id="34" name="Google Shape;34;p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cette présentation, on présente les points suivants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Mesures de similarité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Distance euclidienne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Distance Manhattan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Distance Minkowski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Similarité Cosine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Similarité Jaccard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Mesure de la similarité</a:t>
            </a:r>
            <a:endParaRPr/>
          </a:p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Il n’y a pas de définition unique de la similarité entre objets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Différentes mesures de distances d(x,y)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La définition de la similarité entre objets dépend de 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type de données considérées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type de similarité recherchée</a:t>
            </a:r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830" y="3674436"/>
            <a:ext cx="1219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7624" y="3789040"/>
            <a:ext cx="3828982" cy="2670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Similarité</a:t>
            </a:r>
            <a:endParaRPr/>
          </a:p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La similarité dans le contexte de fouille de données est décrite comme une </a:t>
            </a:r>
            <a:r>
              <a:rPr lang="en-CA" u="sng"/>
              <a:t>distance</a:t>
            </a:r>
            <a:r>
              <a:rPr lang="en-CA"/>
              <a:t> avec les </a:t>
            </a:r>
            <a:r>
              <a:rPr lang="en-CA" u="sng"/>
              <a:t>dimensions représentant les features </a:t>
            </a:r>
            <a:r>
              <a:rPr lang="en-CA"/>
              <a:t>des objets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Si la distance est petite, on aura une très grande similarité</a:t>
            </a:r>
            <a:br>
              <a:rPr lang="en-CA"/>
            </a:b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Si la distance est grande, on aura une très faible similarité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Similarité | suite</a:t>
            </a:r>
            <a:endParaRPr/>
          </a:p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Important: la similarité est une mesure subjective et elle est dépendante du domaine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doit faire attention lors du calcul de distance sur la base des features/dimensions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Les valeurs relatives de chaque feature devront être normalisées afin d’éviter d’avoir une des features dominer le reste dans le calcul de la distance</a:t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477770" y="4725144"/>
            <a:ext cx="8188460" cy="46166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 similarité est une mesure dans l’intervalle 0 à 1 inclusivement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Distances</a:t>
            </a:r>
            <a:endParaRPr/>
          </a:p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152400" y="5589239"/>
            <a:ext cx="8839200" cy="536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Corbel"/>
              <a:buChar char="•"/>
            </a:pPr>
            <a:r>
              <a:rPr lang="en-CA" sz="1400"/>
              <a:t>Réf: https://towardsdatascience.com/9-distance-measures-in-data-science-918109d069fa</a:t>
            </a:r>
            <a:endParaRPr/>
          </a:p>
        </p:txBody>
      </p:sp>
      <p:pic>
        <p:nvPicPr>
          <p:cNvPr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3792" y="893710"/>
            <a:ext cx="4607966" cy="4524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Distance euclidienne</a:t>
            </a:r>
            <a:endParaRPr/>
          </a:p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C’est la distance la plus commune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La distance euclidienne entre deux points est la longueur du path reliant les deux points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utilise le théorème de pythagore</a:t>
            </a:r>
            <a:endParaRPr/>
          </a:p>
        </p:txBody>
      </p:sp>
      <p:grpSp>
        <p:nvGrpSpPr>
          <p:cNvPr id="69" name="Google Shape;69;p7"/>
          <p:cNvGrpSpPr/>
          <p:nvPr/>
        </p:nvGrpSpPr>
        <p:grpSpPr>
          <a:xfrm>
            <a:off x="130630" y="3124980"/>
            <a:ext cx="4478051" cy="2389795"/>
            <a:chOff x="1403648" y="3271453"/>
            <a:chExt cx="4478051" cy="2389795"/>
          </a:xfrm>
        </p:grpSpPr>
        <p:cxnSp>
          <p:nvCxnSpPr>
            <p:cNvPr id="70" name="Google Shape;70;p7"/>
            <p:cNvCxnSpPr/>
            <p:nvPr/>
          </p:nvCxnSpPr>
          <p:spPr>
            <a:xfrm>
              <a:off x="1763688" y="3356992"/>
              <a:ext cx="0" cy="230425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" name="Google Shape;71;p7"/>
            <p:cNvCxnSpPr/>
            <p:nvPr/>
          </p:nvCxnSpPr>
          <p:spPr>
            <a:xfrm flipH="1">
              <a:off x="1403648" y="5373216"/>
              <a:ext cx="4312096" cy="8384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" name="Google Shape;72;p7"/>
            <p:cNvSpPr/>
            <p:nvPr/>
          </p:nvSpPr>
          <p:spPr>
            <a:xfrm>
              <a:off x="2555776" y="4005064"/>
              <a:ext cx="216024" cy="216024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4668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5053608" y="4689140"/>
              <a:ext cx="216024" cy="216024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rgbClr val="007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" name="Google Shape;74;p7"/>
            <p:cNvCxnSpPr>
              <a:endCxn id="73" idx="2"/>
            </p:cNvCxnSpPr>
            <p:nvPr/>
          </p:nvCxnSpPr>
          <p:spPr>
            <a:xfrm>
              <a:off x="2915808" y="4126952"/>
              <a:ext cx="2137800" cy="670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pic>
          <p:nvPicPr>
            <p:cNvPr id="75" name="Google Shape;7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14824" y="3271453"/>
              <a:ext cx="1666875" cy="819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" name="Google Shape;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2839" y="2975743"/>
            <a:ext cx="2117080" cy="222293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/>
        </p:nvSpPr>
        <p:spPr>
          <a:xfrm>
            <a:off x="5450360" y="5859129"/>
            <a:ext cx="369364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Ref: https://fr.wikipedia.org/wiki/Distance_de_Manhattan</a:t>
            </a: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5411864" y="5233641"/>
            <a:ext cx="3147015" cy="369332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Distance euclidienne: en vert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Distance Manhattan</a:t>
            </a:r>
            <a:endParaRPr/>
          </a:p>
        </p:txBody>
      </p:sp>
      <p:sp>
        <p:nvSpPr>
          <p:cNvPr id="84" name="Google Shape;84;p8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C’est la distance entre deux points calculées comme étant la somme des </a:t>
            </a:r>
            <a:r>
              <a:rPr lang="en-CA" u="sng"/>
              <a:t>differences absolues </a:t>
            </a:r>
            <a:r>
              <a:rPr lang="en-CA"/>
              <a:t>des </a:t>
            </a:r>
            <a:r>
              <a:rPr lang="en-CA" u="sng"/>
              <a:t>coordonnées cartésiennes</a:t>
            </a:r>
            <a:r>
              <a:rPr lang="en-CA"/>
              <a:t>.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Avec les points P1 (x1, y1) et P2 (x2,y2), on aura</a:t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539552" y="3515596"/>
            <a:ext cx="45127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474747"/>
                </a:solidFill>
                <a:latin typeface="Open Sans"/>
                <a:ea typeface="Open Sans"/>
                <a:cs typeface="Open Sans"/>
                <a:sym typeface="Open Sans"/>
              </a:rPr>
              <a:t> distance Manhattan = |x1 – x2| + |y1 – y2|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4168" y="3212976"/>
            <a:ext cx="2117080" cy="222293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 txBox="1"/>
          <p:nvPr/>
        </p:nvSpPr>
        <p:spPr>
          <a:xfrm>
            <a:off x="5450360" y="5995360"/>
            <a:ext cx="369364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Ref: https://fr.wikipedia.org/wiki/Distance_de_Manhattan</a:t>
            </a:r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5471846" y="5313550"/>
            <a:ext cx="3307316" cy="646331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Distance mahattan: rouge ou vert </a:t>
            </a:r>
            <a:b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 jaune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Distance Minkowski</a:t>
            </a:r>
            <a:endParaRPr/>
          </a:p>
        </p:txBody>
      </p: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C’est la forme généralisée de la distance euclidienne et de la distance Manhattan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λ = 1 : Distance Manhattan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λ = 2: Distance euclidienne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λ = ∞: Distance Chebyshev</a:t>
            </a:r>
            <a:endParaRPr/>
          </a:p>
        </p:txBody>
      </p:sp>
      <p:pic>
        <p:nvPicPr>
          <p:cNvPr id="95" name="Google Shape;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1800" y="1844824"/>
            <a:ext cx="320040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Similarité Cosine</a:t>
            </a:r>
            <a:endParaRPr/>
          </a:p>
        </p:txBody>
      </p:sp>
      <p:sp>
        <p:nvSpPr>
          <p:cNvPr id="101" name="Google Shape;101;p10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C’est le produit normalisé (dot product) des deux attributs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Bien adapté pour des vecteurs</a:t>
            </a:r>
            <a:endParaRPr/>
          </a:p>
        </p:txBody>
      </p:sp>
      <p:pic>
        <p:nvPicPr>
          <p:cNvPr id="102" name="Google Shape;1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760" y="1772816"/>
            <a:ext cx="369570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Similarité Jaccard</a:t>
            </a:r>
            <a:endParaRPr/>
          </a:p>
        </p:txBody>
      </p:sp>
      <p:sp>
        <p:nvSpPr>
          <p:cNvPr id="108" name="Google Shape;108;p11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considère dans ce cas des ensembles sur lesquels on desire effectuer une mesure de similarité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Elle est définie comme étant la cardinalité de l’intersection des ensembles divisée par la cardinalité de l’union des ensembles.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Exemple: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 = { e1, e2, e3, e4} et B={x1, e2, x3, e4, x5}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Union (A,B) = {e1, e2, e3, e4, x1, e2, x3, e4, x5}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Intersection (A,B) = {e2, e4}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Donc J(A,B) = 2 / 7 = 0,286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Référence</a:t>
            </a:r>
            <a:endParaRPr/>
          </a:p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https://towardsdatascience.com/9-distance-measures-in-data-science-918109d069fa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Conclusion</a:t>
            </a:r>
            <a:endParaRPr/>
          </a:p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cette présentation, on a passé en revue les points suivants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Mesures de similarité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Distance euclidienne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Distance Manhattan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Distance Minkowski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Similarité Cosine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Similarité Jaccard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2016-05-09T10:10:53Z</dcterms:created>
  <dc:creator>hafv72012</dc:creator>
</cp:coreProperties>
</file>