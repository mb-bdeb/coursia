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9144000"/>
  <p:notesSz cx="6858000" cy="9144000"/>
  <p:embeddedFontLst>
    <p:embeddedFont>
      <p:font typeface="Corbel"/>
      <p:regular r:id="rId22"/>
      <p:bold r:id="rId23"/>
      <p:italic r:id="rId24"/>
      <p:boldItalic r:id="rId25"/>
    </p:embeddedFont>
    <p:embeddedFont>
      <p:font typeface="Tahoma"/>
      <p:regular r:id="rId26"/>
      <p:bold r:id="rId27"/>
    </p:embeddedFont>
    <p:embeddedFont>
      <p:font typeface="Quattrocento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2" roundtripDataSignature="AMtx7mjxnF1w1feGJKFgD4Fa7sLcSJYNm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CE842DC-CFEF-4F69-A0BE-B08A33B19964}">
  <a:tblStyle styleId="{CCE842DC-CFEF-4F69-A0BE-B08A33B19964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AEEFF"/>
          </a:solidFill>
        </a:fill>
      </a:tcStyle>
    </a:wholeTbl>
    <a:band1H>
      <a:tcTxStyle/>
      <a:tcStyle>
        <a:fill>
          <a:solidFill>
            <a:srgbClr val="D1DBFE"/>
          </a:solidFill>
        </a:fill>
      </a:tcStyle>
    </a:band1H>
    <a:band2H>
      <a:tcTxStyle/>
    </a:band2H>
    <a:band1V>
      <a:tcTxStyle/>
      <a:tcStyle>
        <a:fill>
          <a:solidFill>
            <a:srgbClr val="D1DBFE"/>
          </a:solidFill>
        </a:fill>
      </a:tcStyle>
    </a:band1V>
    <a:band2V>
      <a:tcTxStyle/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Corbel-regular.fntdata"/><Relationship Id="rId21" Type="http://schemas.openxmlformats.org/officeDocument/2006/relationships/slide" Target="slides/slide15.xml"/><Relationship Id="rId24" Type="http://schemas.openxmlformats.org/officeDocument/2006/relationships/font" Target="fonts/Corbel-italic.fntdata"/><Relationship Id="rId23" Type="http://schemas.openxmlformats.org/officeDocument/2006/relationships/font" Target="fonts/Corbel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Tahoma-regular.fntdata"/><Relationship Id="rId25" Type="http://schemas.openxmlformats.org/officeDocument/2006/relationships/font" Target="fonts/Corbel-boldItalic.fntdata"/><Relationship Id="rId28" Type="http://schemas.openxmlformats.org/officeDocument/2006/relationships/font" Target="fonts/QuattrocentoSans-regular.fntdata"/><Relationship Id="rId27" Type="http://schemas.openxmlformats.org/officeDocument/2006/relationships/font" Target="fonts/Tahoma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QuattrocentoSans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QuattrocentoSans-boldItalic.fntdata"/><Relationship Id="rId30" Type="http://schemas.openxmlformats.org/officeDocument/2006/relationships/font" Target="fonts/QuattrocentoSans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7"/>
          <p:cNvSpPr txBox="1"/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FF6400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5" name="Google Shape;15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Quattrocento Sans"/>
              <a:buNone/>
              <a:defRPr b="0" i="0" sz="32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descr="Résultats de recherche d'images pour « java logo »" id="16" name="Google Shape;16;p1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ésultats de recherche d'images pour « java logo »" id="17" name="Google Shape;17;p1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ésultats de recherche d'images pour « java logo »" id="18" name="Google Shape;18;p1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Résultats de recherche d'images pour « java logo »" id="19" name="Google Shape;19;p17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8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000" u="none" cap="none" strike="noStrike">
                <a:solidFill>
                  <a:srgbClr val="FF6400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18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  <a:defRPr b="0" i="0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⮚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rbe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Char char="–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rbe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•"/>
              <a:defRPr b="0" i="0" sz="2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/>
          <p:nvPr/>
        </p:nvSpPr>
        <p:spPr>
          <a:xfrm>
            <a:off x="1" y="6496050"/>
            <a:ext cx="9144000" cy="363538"/>
          </a:xfrm>
          <a:prstGeom prst="rect">
            <a:avLst/>
          </a:prstGeom>
          <a:solidFill>
            <a:srgbClr val="02298A"/>
          </a:solidFill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6"/>
          <p:cNvSpPr/>
          <p:nvPr/>
        </p:nvSpPr>
        <p:spPr>
          <a:xfrm>
            <a:off x="1" y="6524626"/>
            <a:ext cx="530225" cy="582211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A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6"/>
          <p:cNvSpPr/>
          <p:nvPr/>
        </p:nvSpPr>
        <p:spPr>
          <a:xfrm>
            <a:off x="481013" y="6464302"/>
            <a:ext cx="8662987" cy="582211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Rockwell"/>
              <a:buNone/>
            </a:pPr>
            <a:r>
              <a:rPr b="0" i="0" lang="en-CA" sz="16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02/07/2019    Apprentissage supervisée 420-A52-BB</a:t>
            </a:r>
            <a:r>
              <a:rPr b="1" i="0" lang="en-CA" sz="1600" u="none" cap="none" strike="noStrike">
                <a:solidFill>
                  <a:schemeClr val="lt1"/>
                </a:solidFill>
                <a:latin typeface="Rockwell"/>
                <a:ea typeface="Rockwell"/>
                <a:cs typeface="Rockwell"/>
                <a:sym typeface="Rockwell"/>
              </a:rPr>
              <a:t> - Hafed Benteftifa </a:t>
            </a:r>
            <a:r>
              <a:rPr b="1" i="0" lang="en-CA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©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6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"/>
          <p:cNvSpPr txBox="1"/>
          <p:nvPr>
            <p:ph type="ctrTitle"/>
          </p:nvPr>
        </p:nvSpPr>
        <p:spPr>
          <a:xfrm>
            <a:off x="685800" y="2130427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Naïve Bayes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Agenda</a:t>
            </a:r>
            <a:endParaRPr/>
          </a:p>
        </p:txBody>
      </p:sp>
      <p:sp>
        <p:nvSpPr>
          <p:cNvPr id="33" name="Google Shape;33;p2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Dans cette présentation, on présente les points suivants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Probabilité conditionnelle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Classificateur naive-bayes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idx="12" type="sldNum"/>
          </p:nvPr>
        </p:nvSpPr>
        <p:spPr>
          <a:xfrm>
            <a:off x="6552567" y="6238310"/>
            <a:ext cx="2133962" cy="449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68"/>
              <a:buFont typeface="Arial"/>
              <a:buNone/>
            </a:pPr>
            <a:fld id="{00000000-1234-1234-1234-123412341234}" type="slidenum">
              <a:rPr lang="en-CA" sz="1368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368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"/>
          <p:cNvSpPr txBox="1"/>
          <p:nvPr>
            <p:ph type="title"/>
          </p:nvPr>
        </p:nvSpPr>
        <p:spPr>
          <a:xfrm>
            <a:off x="401815" y="236881"/>
            <a:ext cx="8742185" cy="10778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CA"/>
              <a:t>Probabilité</a:t>
            </a:r>
            <a:endParaRPr b="0"/>
          </a:p>
        </p:txBody>
      </p:sp>
      <p:sp>
        <p:nvSpPr>
          <p:cNvPr id="40" name="Google Shape;40;p3"/>
          <p:cNvSpPr txBox="1"/>
          <p:nvPr>
            <p:ph idx="1" type="body"/>
          </p:nvPr>
        </p:nvSpPr>
        <p:spPr>
          <a:xfrm>
            <a:off x="336656" y="1344586"/>
            <a:ext cx="8545351" cy="4821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13870" lvl="0" marL="45611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240"/>
              <a:buFont typeface="Corbel"/>
              <a:buNone/>
            </a:pPr>
            <a:r>
              <a:t/>
            </a:r>
            <a:endParaRPr/>
          </a:p>
          <a:p>
            <a:pPr indent="-456110" lvl="0" marL="456110" rtl="0" algn="l">
              <a:lnSpc>
                <a:spcPct val="110000"/>
              </a:lnSpc>
              <a:spcBef>
                <a:spcPts val="547"/>
              </a:spcBef>
              <a:spcAft>
                <a:spcPts val="0"/>
              </a:spcAft>
              <a:buSzPts val="2189"/>
              <a:buFont typeface="Corbel"/>
              <a:buNone/>
            </a:pPr>
            <a:r>
              <a:rPr lang="en-CA" sz="2736"/>
              <a:t>     </a:t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206337" y="1344586"/>
            <a:ext cx="8666166" cy="4821777"/>
          </a:xfrm>
          <a:prstGeom prst="rect">
            <a:avLst/>
          </a:prstGeom>
          <a:noFill/>
          <a:ln>
            <a:noFill/>
          </a:ln>
        </p:spPr>
        <p:txBody>
          <a:bodyPr anchorCtr="0" anchor="t" bIns="44575" lIns="89175" spcFirstLastPara="1" rIns="89175" wrap="square" tIns="44575">
            <a:noAutofit/>
          </a:bodyPr>
          <a:lstStyle/>
          <a:p>
            <a:pPr indent="-533400" lvl="0" marL="5334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94"/>
              <a:buFont typeface="Tahoma"/>
              <a:buChar char="•"/>
            </a:pPr>
            <a:r>
              <a:rPr lang="en-CA" sz="2394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Probabilité à-priori, conditionelle et joint probability pour une variable aléatoire </a:t>
            </a:r>
            <a:endParaRPr/>
          </a:p>
          <a:p>
            <a:pPr indent="-457200" lvl="1" marL="979488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ahoma"/>
              <a:buChar char="–"/>
            </a:pPr>
            <a:r>
              <a:rPr b="0" i="0" lang="en-CA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Probabilité à-priori</a:t>
            </a:r>
            <a:r>
              <a:rPr b="0" i="0" lang="en-CA" sz="1652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: P( C ) et P(X)</a:t>
            </a:r>
            <a:endParaRPr b="0" i="0" sz="1652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57200" lvl="1" marL="979488" marR="0" rtl="0" algn="l">
              <a:lnSpc>
                <a:spcPct val="120000"/>
              </a:lnSpc>
              <a:spcBef>
                <a:spcPts val="410"/>
              </a:spcBef>
              <a:spcAft>
                <a:spcPts val="0"/>
              </a:spcAft>
              <a:buClr>
                <a:schemeClr val="dk1"/>
              </a:buClr>
              <a:buSzPts val="2052"/>
              <a:buFont typeface="Tahoma"/>
              <a:buChar char="–"/>
            </a:pPr>
            <a:r>
              <a:rPr b="0" i="0" lang="en-CA" sz="2052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Probabilité à postériori: P(C/X) et P(X/C)</a:t>
            </a:r>
            <a:endParaRPr b="0" i="0" sz="2052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326897" lvl="1" marL="979488" marR="0" rtl="0" algn="l">
              <a:lnSpc>
                <a:spcPct val="110000"/>
              </a:lnSpc>
              <a:spcBef>
                <a:spcPts val="410"/>
              </a:spcBef>
              <a:spcAft>
                <a:spcPts val="0"/>
              </a:spcAft>
              <a:buClr>
                <a:schemeClr val="dk1"/>
              </a:buClr>
              <a:buSzPts val="2052"/>
              <a:buFont typeface="Tahoma"/>
              <a:buNone/>
            </a:pPr>
            <a:r>
              <a:t/>
            </a:r>
            <a:endParaRPr b="0" i="0" sz="2052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457200" lvl="1" marL="979488" marR="0" rtl="0" algn="l">
              <a:lnSpc>
                <a:spcPct val="110000"/>
              </a:lnSpc>
              <a:spcBef>
                <a:spcPts val="410"/>
              </a:spcBef>
              <a:spcAft>
                <a:spcPts val="0"/>
              </a:spcAft>
              <a:buClr>
                <a:schemeClr val="dk1"/>
              </a:buClr>
              <a:buSzPts val="2052"/>
              <a:buFont typeface="Tahoma"/>
              <a:buChar char="–"/>
            </a:pPr>
            <a:r>
              <a:rPr b="0" i="0" lang="en-CA" sz="2052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Independence: </a:t>
            </a:r>
            <a:endParaRPr b="0" i="0" sz="2052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1" marL="522288" marR="0" rtl="0" algn="l">
              <a:lnSpc>
                <a:spcPct val="11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394"/>
              <a:buFont typeface="Tahoma"/>
              <a:buNone/>
            </a:pPr>
            <a:r>
              <a:t/>
            </a:r>
            <a:endParaRPr b="0" i="0" sz="2394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533400" lvl="0" marL="533400" marR="0" rtl="0" algn="l">
              <a:lnSpc>
                <a:spcPct val="110000"/>
              </a:lnSpc>
              <a:spcBef>
                <a:spcPts val="479"/>
              </a:spcBef>
              <a:spcAft>
                <a:spcPts val="0"/>
              </a:spcAft>
              <a:buClr>
                <a:schemeClr val="dk1"/>
              </a:buClr>
              <a:buSzPts val="2394"/>
              <a:buFont typeface="Tahoma"/>
              <a:buChar char="•"/>
            </a:pPr>
            <a:r>
              <a:rPr lang="en-CA" sz="2394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Règle de Bayes</a:t>
            </a:r>
            <a:endParaRPr sz="2394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42" name="Google Shape;4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2962" y="5241995"/>
            <a:ext cx="3090987" cy="901368"/>
          </a:xfrm>
          <a:prstGeom prst="rect">
            <a:avLst/>
          </a:prstGeom>
          <a:solidFill>
            <a:srgbClr val="CCFFFF"/>
          </a:solidFill>
          <a:ln>
            <a:noFill/>
          </a:ln>
        </p:spPr>
      </p:pic>
      <p:pic>
        <p:nvPicPr>
          <p:cNvPr id="43" name="Google Shape;4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68455" y="3803191"/>
            <a:ext cx="6157539" cy="34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61361" y="5233323"/>
            <a:ext cx="4144394" cy="878291"/>
          </a:xfrm>
          <a:prstGeom prst="rect">
            <a:avLst/>
          </a:prstGeom>
          <a:solidFill>
            <a:srgbClr val="CCFFFF"/>
          </a:solidFill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Théorème de Bayes</a:t>
            </a:r>
            <a:endParaRPr/>
          </a:p>
        </p:txBody>
      </p:sp>
      <p:sp>
        <p:nvSpPr>
          <p:cNvPr id="50" name="Google Shape;50;p4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On considère la probabilité d'un évènement A</a:t>
            </a:r>
            <a:endParaRPr/>
          </a:p>
          <a:p>
            <a:pPr indent="-20066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  <a:p>
            <a:pPr indent="-20066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Théorème de Bayes: prédire la probabilité de l'évènement A sachant que maintenant un évènement B s'est déjà produit</a:t>
            </a:r>
            <a:endParaRPr/>
          </a:p>
          <a:p>
            <a:pPr indent="-20066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Probabilité conditionnelle de A sachant l'occurrence de B</a:t>
            </a:r>
            <a:endParaRPr/>
          </a:p>
        </p:txBody>
      </p:sp>
      <p:sp>
        <p:nvSpPr>
          <p:cNvPr id="51" name="Google Shape;51;p4"/>
          <p:cNvSpPr txBox="1"/>
          <p:nvPr/>
        </p:nvSpPr>
        <p:spPr>
          <a:xfrm>
            <a:off x="2828276" y="1700808"/>
            <a:ext cx="3454792" cy="369332"/>
          </a:xfrm>
          <a:prstGeom prst="rect">
            <a:avLst/>
          </a:prstGeom>
          <a:gradFill>
            <a:gsLst>
              <a:gs pos="0">
                <a:srgbClr val="BFD1FF"/>
              </a:gs>
              <a:gs pos="35000">
                <a:srgbClr val="CFDEFF"/>
              </a:gs>
              <a:gs pos="100000">
                <a:srgbClr val="EAEEFF"/>
              </a:gs>
            </a:gsLst>
            <a:lin ang="16200000" scaled="0"/>
          </a:gradFill>
          <a:ln cap="flat" cmpd="sng" w="9525">
            <a:solidFill>
              <a:srgbClr val="B0BF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P(A)  est une valeur entre 0 et 1</a:t>
            </a:r>
            <a:endParaRPr/>
          </a:p>
        </p:txBody>
      </p:sp>
      <p:sp>
        <p:nvSpPr>
          <p:cNvPr id="52" name="Google Shape;52;p4"/>
          <p:cNvSpPr txBox="1"/>
          <p:nvPr/>
        </p:nvSpPr>
        <p:spPr>
          <a:xfrm>
            <a:off x="2882514" y="3833083"/>
            <a:ext cx="3082895" cy="369332"/>
          </a:xfrm>
          <a:prstGeom prst="rect">
            <a:avLst/>
          </a:prstGeom>
          <a:gradFill>
            <a:gsLst>
              <a:gs pos="0">
                <a:srgbClr val="BFD1FF"/>
              </a:gs>
              <a:gs pos="35000">
                <a:srgbClr val="CFDEFF"/>
              </a:gs>
              <a:gs pos="100000">
                <a:srgbClr val="EAEEFF"/>
              </a:gs>
            </a:gsLst>
            <a:lin ang="16200000" scaled="0"/>
          </a:gradFill>
          <a:ln cap="flat" cmpd="sng" w="9525">
            <a:solidFill>
              <a:srgbClr val="B0BF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 est un évènement  a-priori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4"/>
          <p:cNvSpPr txBox="1"/>
          <p:nvPr/>
        </p:nvSpPr>
        <p:spPr>
          <a:xfrm>
            <a:off x="2856065" y="5035140"/>
            <a:ext cx="313579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P(A/B) = P(B|A) * P(A) / P(B)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Exemple 1</a:t>
            </a:r>
            <a:endParaRPr/>
          </a:p>
        </p:txBody>
      </p:sp>
      <p:sp>
        <p:nvSpPr>
          <p:cNvPr id="59" name="Google Shape;59;p5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On considère un match de Hockey entre les Canadiens et les Bruins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On sait que les canadiens ont un joueur star, prenons par exemple P.K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P(canadiens gagnent le match) = 0.4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Maintenant, considérons le cas où l'on sait que P.K ne va pas jouer car il est blessé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A: canadiens gagnent le match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B: P.K est blessé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A ce moment, on considère P(A/B)</a:t>
            </a:r>
            <a:endParaRPr/>
          </a:p>
          <a:p>
            <a:pPr indent="-20066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Exemple 2</a:t>
            </a:r>
            <a:endParaRPr/>
          </a:p>
        </p:txBody>
      </p:sp>
      <p:sp>
        <p:nvSpPr>
          <p:cNvPr id="65" name="Google Shape;65;p6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On considère un échantillon de personnes sur lesquels on veut determiner la probabilité qu'une des personnes ait une maladie A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Selon le contexte, on a peut être P(A) = . 3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Maintenant, supposons qu'on a pu avoir des informations supplémentaires sur les personnes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Age, poids, origine ethnique, etc…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Est ce qu'il y'a une modification de la probabilité d'avoir cette maladie ?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Exemple: age comme prédicteur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P(A/B) = .4  peut être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Naïve Bayes et classification</a:t>
            </a:r>
            <a:endParaRPr/>
          </a:p>
        </p:txBody>
      </p:sp>
      <p:sp>
        <p:nvSpPr>
          <p:cNvPr id="71" name="Google Shape;71;p7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On considère l'évènement A comme étant </a:t>
            </a:r>
            <a:r>
              <a:rPr lang="en-CA" u="sng"/>
              <a:t>la cible ou Target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On considère les évènements a-priori B1, B2, …, Bn comme étant les prédicteurs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Objectif: trouver la probabilité</a:t>
            </a:r>
            <a:endParaRPr/>
          </a:p>
        </p:txBody>
      </p:sp>
      <p:sp>
        <p:nvSpPr>
          <p:cNvPr id="72" name="Google Shape;72;p7"/>
          <p:cNvSpPr txBox="1"/>
          <p:nvPr/>
        </p:nvSpPr>
        <p:spPr>
          <a:xfrm>
            <a:off x="3203848" y="3517443"/>
            <a:ext cx="1556836" cy="369332"/>
          </a:xfrm>
          <a:prstGeom prst="rect">
            <a:avLst/>
          </a:prstGeom>
          <a:gradFill>
            <a:gsLst>
              <a:gs pos="0">
                <a:srgbClr val="BFD1FF"/>
              </a:gs>
              <a:gs pos="35000">
                <a:srgbClr val="CFDEFF"/>
              </a:gs>
              <a:gs pos="100000">
                <a:srgbClr val="EAEEFF"/>
              </a:gs>
            </a:gsLst>
            <a:lin ang="16200000" scaled="0"/>
          </a:gradFill>
          <a:ln cap="flat" cmpd="sng" w="9525">
            <a:solidFill>
              <a:srgbClr val="B0BF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P(y/X1,…,Xn)</a:t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1813293" y="4436038"/>
            <a:ext cx="6048672" cy="369332"/>
          </a:xfrm>
          <a:prstGeom prst="rect">
            <a:avLst/>
          </a:prstGeom>
          <a:gradFill>
            <a:gsLst>
              <a:gs pos="0">
                <a:srgbClr val="9EF09E"/>
              </a:gs>
              <a:gs pos="35000">
                <a:srgbClr val="BDF2BD"/>
              </a:gs>
              <a:gs pos="100000">
                <a:srgbClr val="E5FAE5"/>
              </a:gs>
            </a:gsLst>
            <a:lin ang="16200000" scaled="0"/>
          </a:gradFill>
          <a:ln cap="flat" cmpd="sng" w="9525">
            <a:solidFill>
              <a:srgbClr val="009C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P(A | X1,…,Xn) = P (X1,…,Xn  | y) * P(y) / P(X1,…,Xn)   </a:t>
            </a:r>
            <a:endParaRPr/>
          </a:p>
        </p:txBody>
      </p:sp>
      <p:sp>
        <p:nvSpPr>
          <p:cNvPr id="74" name="Google Shape;74;p7"/>
          <p:cNvSpPr/>
          <p:nvPr/>
        </p:nvSpPr>
        <p:spPr>
          <a:xfrm>
            <a:off x="2051720" y="5169967"/>
            <a:ext cx="626469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P(X1,…,Xn) est une constante pour toutes les classes</a:t>
            </a:r>
            <a:endParaRPr sz="180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800"/>
              <a:t>Classification bayésienne naïve | Hypothèse d’indépendance</a:t>
            </a:r>
            <a:endParaRPr/>
          </a:p>
        </p:txBody>
      </p:sp>
      <p:sp>
        <p:nvSpPr>
          <p:cNvPr id="80" name="Google Shape;80;p8"/>
          <p:cNvSpPr txBox="1"/>
          <p:nvPr>
            <p:ph idx="1" type="body"/>
          </p:nvPr>
        </p:nvSpPr>
        <p:spPr>
          <a:xfrm>
            <a:off x="152400" y="1340768"/>
            <a:ext cx="8991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Le problème est le calcul de P (X1,…,Xn  | y)</a:t>
            </a:r>
            <a:endParaRPr/>
          </a:p>
          <a:p>
            <a:pPr indent="-20066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Hypothèse Naïve : Indépendance des attributs 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P (Xi | y ) est estimée comme la fréquence relative des instances possédant la valeur Xi (i-ème attribut ) dans la classe y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81" name="Google Shape;81;p8"/>
          <p:cNvSpPr txBox="1"/>
          <p:nvPr/>
        </p:nvSpPr>
        <p:spPr>
          <a:xfrm>
            <a:off x="1259632" y="3294015"/>
            <a:ext cx="6408712" cy="646331"/>
          </a:xfrm>
          <a:prstGeom prst="rect">
            <a:avLst/>
          </a:prstGeom>
          <a:gradFill>
            <a:gsLst>
              <a:gs pos="0">
                <a:srgbClr val="BFD1FF"/>
              </a:gs>
              <a:gs pos="35000">
                <a:srgbClr val="CFDEFF"/>
              </a:gs>
              <a:gs pos="100000">
                <a:srgbClr val="EAEEFF"/>
              </a:gs>
            </a:gsLst>
            <a:lin ang="16200000" scaled="0"/>
          </a:gradFill>
          <a:ln cap="flat" cmpd="sng" w="9525">
            <a:solidFill>
              <a:srgbClr val="B0BFF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 (X1,…,Xn  | y) = P( X1 | y) *  P( X2 | y) *  …. P( Xn | y) 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9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2800"/>
              <a:t>Classification bayésienne naïve | Hypothèse d’indépendance</a:t>
            </a:r>
            <a:endParaRPr/>
          </a:p>
        </p:txBody>
      </p:sp>
      <p:sp>
        <p:nvSpPr>
          <p:cNvPr id="87" name="Google Shape;87;p9"/>
          <p:cNvSpPr txBox="1"/>
          <p:nvPr>
            <p:ph idx="1" type="body"/>
          </p:nvPr>
        </p:nvSpPr>
        <p:spPr>
          <a:xfrm>
            <a:off x="152400" y="1340768"/>
            <a:ext cx="89916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L’hypothèse d’indépendance :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fait que le calcul est possible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trouve un modèle de classification optimal si hypothèse satisfaite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mais est rarement satisfaite en pratique. Étant donné que les attributs (variables) sont souvent corrélés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Pour éliminer cette limitation 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⮚"/>
            </a:pPr>
            <a:r>
              <a:rPr b="1" lang="en-CA">
                <a:solidFill>
                  <a:srgbClr val="FF0000"/>
                </a:solidFill>
              </a:rPr>
              <a:t>Arbres de décision</a:t>
            </a:r>
            <a:r>
              <a:rPr lang="en-CA"/>
              <a:t>, qui traitent un attributs à la fois, en considérant les attributs les plus importants en premiers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0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Construction du modèle</a:t>
            </a:r>
            <a:endParaRPr/>
          </a:p>
        </p:txBody>
      </p:sp>
      <p:sp>
        <p:nvSpPr>
          <p:cNvPr id="93" name="Google Shape;93;p10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On dispose de l'ensemble des données d'apprentissage: training dataset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Sur la base de ce dataset, on génère un modèle qui fournit les probabilités conditionnelles de la cible pour toutes les valeurs des prédicteurs.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Classificateur NB</a:t>
            </a:r>
            <a:endParaRPr/>
          </a:p>
        </p:txBody>
      </p:sp>
      <p:sp>
        <p:nvSpPr>
          <p:cNvPr id="99" name="Google Shape;99;p11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Dans le cas d’un seul prédicteur, le classificateur NB calcule la probabilité d’un évènement, soit: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Calculer la probabilité à priori pour les labels de classe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Trouver la probabilité likelihood pour chaque attribut pour chaque classe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Utiliser la formule de Bayes et calculer la probabilité à posteriori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Prendre une décision en trouvant la classe qui a la plus grande probabilité.</a:t>
            </a:r>
            <a:endParaRPr/>
          </a:p>
        </p:txBody>
      </p:sp>
      <p:pic>
        <p:nvPicPr>
          <p:cNvPr id="100" name="Google Shape;1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568" y="5013176"/>
            <a:ext cx="3090987" cy="901368"/>
          </a:xfrm>
          <a:prstGeom prst="rect">
            <a:avLst/>
          </a:prstGeom>
          <a:solidFill>
            <a:srgbClr val="CCFFFF"/>
          </a:solidFill>
          <a:ln>
            <a:noFill/>
          </a:ln>
        </p:spPr>
      </p:pic>
      <p:pic>
        <p:nvPicPr>
          <p:cNvPr id="101" name="Google Shape;10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21967" y="5004504"/>
            <a:ext cx="4144394" cy="878291"/>
          </a:xfrm>
          <a:prstGeom prst="rect">
            <a:avLst/>
          </a:prstGeom>
          <a:solidFill>
            <a:srgbClr val="CCFFFF"/>
          </a:solidFill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2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Exemple</a:t>
            </a:r>
            <a:endParaRPr/>
          </a:p>
        </p:txBody>
      </p:sp>
      <p:sp>
        <p:nvSpPr>
          <p:cNvPr id="107" name="Google Shape;107;p12"/>
          <p:cNvSpPr txBox="1"/>
          <p:nvPr>
            <p:ph idx="1" type="body"/>
          </p:nvPr>
        </p:nvSpPr>
        <p:spPr>
          <a:xfrm>
            <a:off x="152400" y="908721"/>
            <a:ext cx="8839200" cy="1080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Trouver la probabilité de jouer quand la météo est overcast</a:t>
            </a:r>
            <a:endParaRPr/>
          </a:p>
        </p:txBody>
      </p:sp>
      <p:graphicFrame>
        <p:nvGraphicFramePr>
          <p:cNvPr id="108" name="Google Shape;108;p12"/>
          <p:cNvGraphicFramePr/>
          <p:nvPr/>
        </p:nvGraphicFramePr>
        <p:xfrm>
          <a:off x="2267744" y="14487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{CCE842DC-CFEF-4F69-A0BE-B08A33B19964}</a:tableStyleId>
              </a:tblPr>
              <a:tblGrid>
                <a:gridCol w="3048000"/>
                <a:gridCol w="3048000"/>
              </a:tblGrid>
              <a:tr h="326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u="none" cap="none" strike="noStrike"/>
                        <a:t>Météo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/>
                        <a:t>Jouer</a:t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326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/>
                        <a:t>Sunny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/>
                        <a:t>No</a:t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326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/>
                        <a:t>Sunny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/>
                        <a:t>No</a:t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326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/>
                        <a:t>Overcast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/>
                        <a:t>Yes</a:t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326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/>
                        <a:t>Rainy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/>
                        <a:t>Yes</a:t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326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/>
                        <a:t>Rainy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/>
                        <a:t>Yes</a:t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326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/>
                        <a:t>Rainy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/>
                        <a:t>No</a:t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326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/>
                        <a:t>Overcast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/>
                        <a:t>Yes</a:t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326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/>
                        <a:t>Sunny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/>
                        <a:t>No</a:t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326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/>
                        <a:t>Sunny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/>
                        <a:t>Yes</a:t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326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/>
                        <a:t>Rainy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/>
                        <a:t>Yes</a:t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326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/>
                        <a:t>Sunny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/>
                        <a:t>Yes</a:t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326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/>
                        <a:t>Overcast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/>
                        <a:t>Yes</a:t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326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/>
                        <a:t>Overcast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/>
                        <a:t>Yes</a:t>
                      </a:r>
                      <a:endParaRPr sz="1400"/>
                    </a:p>
                  </a:txBody>
                  <a:tcPr marT="45725" marB="45725" marR="91450" marL="91450"/>
                </a:tc>
              </a:tr>
              <a:tr h="326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/>
                        <a:t>Rainy</a:t>
                      </a:r>
                      <a:endParaRPr sz="14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/>
                        <a:t>No</a:t>
                      </a:r>
                      <a:endParaRPr sz="14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Avantages de Naïve Bayes</a:t>
            </a:r>
            <a:endParaRPr/>
          </a:p>
        </p:txBody>
      </p:sp>
      <p:sp>
        <p:nvSpPr>
          <p:cNvPr id="114" name="Google Shape;114;p13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Simple et rapide à implémenter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Fonctionne bien en présence de bruit et dans le cas de données manquantes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Donne en plus les probabilités associées avec le résultat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Très bien adapté pour des données catégoriques (non numérique)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Inconvénients</a:t>
            </a:r>
            <a:endParaRPr/>
          </a:p>
        </p:txBody>
      </p:sp>
      <p:sp>
        <p:nvSpPr>
          <p:cNvPr id="120" name="Google Shape;120;p14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Assumption majeure: les prédicteurs sont indépendants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C'est l'aspect naïve bayes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Précision limitée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Binning peut être necessaire dans le cas de plage numérique assez large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Cas de tranche d'age au lieu de la variable age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5"/>
          <p:cNvSpPr txBox="1"/>
          <p:nvPr>
            <p:ph type="title"/>
          </p:nvPr>
        </p:nvSpPr>
        <p:spPr>
          <a:xfrm>
            <a:off x="130630" y="44624"/>
            <a:ext cx="8850085" cy="8490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Conclusion</a:t>
            </a:r>
            <a:endParaRPr/>
          </a:p>
        </p:txBody>
      </p:sp>
      <p:sp>
        <p:nvSpPr>
          <p:cNvPr id="126" name="Google Shape;126;p15"/>
          <p:cNvSpPr txBox="1"/>
          <p:nvPr>
            <p:ph idx="1" type="body"/>
          </p:nvPr>
        </p:nvSpPr>
        <p:spPr>
          <a:xfrm>
            <a:off x="152400" y="908721"/>
            <a:ext cx="8839200" cy="5217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Corbel"/>
              <a:buChar char="•"/>
            </a:pPr>
            <a:r>
              <a:rPr lang="en-CA"/>
              <a:t>Dans cette présentation, on a passé en revue les points suivants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Probabilité conditionnelle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⮚"/>
            </a:pPr>
            <a:r>
              <a:rPr lang="en-CA"/>
              <a:t>Classificateur naive-bayes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SzPts val="2240"/>
              <a:buFont typeface="Corbe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d8_model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2016-05-09T10:10:53Z</dcterms:created>
  <dc:creator>hafv72012</dc:creator>
</cp:coreProperties>
</file>