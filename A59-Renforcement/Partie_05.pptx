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6858000" cx="12192000"/>
  <p:notesSz cx="6858000" cy="9144000"/>
  <p:embeddedFontLst>
    <p:embeddedFont>
      <p:font typeface="Play"/>
      <p:regular r:id="rId49"/>
      <p:bold r:id="rId50"/>
    </p:embeddedFont>
    <p:embeddedFont>
      <p:font typeface="Candara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gVcAR0OMWs2QzAD4hGaLB6a5IP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Candara-regular.fntdata"/><Relationship Id="rId50" Type="http://schemas.openxmlformats.org/officeDocument/2006/relationships/font" Target="fonts/Play-bold.fntdata"/><Relationship Id="rId53" Type="http://schemas.openxmlformats.org/officeDocument/2006/relationships/font" Target="fonts/Candara-italic.fntdata"/><Relationship Id="rId52" Type="http://schemas.openxmlformats.org/officeDocument/2006/relationships/font" Target="fonts/Candara-bold.fntdata"/><Relationship Id="rId11" Type="http://schemas.openxmlformats.org/officeDocument/2006/relationships/slide" Target="slides/slide7.xml"/><Relationship Id="rId55" Type="http://customschemas.google.com/relationships/presentationmetadata" Target="metadata"/><Relationship Id="rId10" Type="http://schemas.openxmlformats.org/officeDocument/2006/relationships/slide" Target="slides/slide6.xml"/><Relationship Id="rId54" Type="http://schemas.openxmlformats.org/officeDocument/2006/relationships/font" Target="fonts/Candara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56aa6cdf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56aa6c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56aa6cdf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56aa6cd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56aa6cdf9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56aa6cd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56aa6cdf9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56aa6cdf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7.png"/><Relationship Id="rId4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45.png"/><Relationship Id="rId13" Type="http://schemas.openxmlformats.org/officeDocument/2006/relationships/image" Target="../media/image51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6.png"/><Relationship Id="rId4" Type="http://schemas.openxmlformats.org/officeDocument/2006/relationships/image" Target="../media/image46.png"/><Relationship Id="rId9" Type="http://schemas.openxmlformats.org/officeDocument/2006/relationships/image" Target="../media/image32.png"/><Relationship Id="rId5" Type="http://schemas.openxmlformats.org/officeDocument/2006/relationships/image" Target="../media/image52.png"/><Relationship Id="rId6" Type="http://schemas.openxmlformats.org/officeDocument/2006/relationships/image" Target="../media/image41.png"/><Relationship Id="rId7" Type="http://schemas.openxmlformats.org/officeDocument/2006/relationships/image" Target="../media/image54.png"/><Relationship Id="rId8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84220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00"/>
              <a:buFont typeface="Arial"/>
              <a:buNone/>
            </a:pPr>
            <a:r>
              <a:rPr lang="fr-CA" sz="16600">
                <a:latin typeface="Arial"/>
                <a:ea typeface="Arial"/>
                <a:cs typeface="Arial"/>
                <a:sym typeface="Arial"/>
              </a:rPr>
              <a:t>Q-Learning</a:t>
            </a:r>
            <a:endParaRPr sz="16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412" y="251275"/>
            <a:ext cx="12021588" cy="635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00123" y="5482774"/>
            <a:ext cx="21240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7925" y="5482774"/>
            <a:ext cx="21240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12" y="251275"/>
            <a:ext cx="212407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49" y="0"/>
            <a:ext cx="12003932" cy="6789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2242" y="1690688"/>
            <a:ext cx="21240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3118" y="5665956"/>
            <a:ext cx="21240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7406" y="5665956"/>
            <a:ext cx="21240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91" y="0"/>
            <a:ext cx="1660187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676" y="768541"/>
            <a:ext cx="11692647" cy="4309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676" y="768541"/>
            <a:ext cx="1783405" cy="943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40" y="737034"/>
            <a:ext cx="11930975" cy="5383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40" y="737034"/>
            <a:ext cx="1742701" cy="922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2825" y="68094"/>
            <a:ext cx="7610528" cy="6468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56aa6cdf9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5000"/>
              <a:t>Valeurs d’initilaition</a:t>
            </a:r>
            <a:endParaRPr sz="5000"/>
          </a:p>
        </p:txBody>
      </p:sp>
      <p:sp>
        <p:nvSpPr>
          <p:cNvPr id="128" name="Google Shape;128;g3d56aa6cdf9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fr-CA" sz="3800"/>
              <a:t>Nous allons supposer que :</a:t>
            </a:r>
            <a:endParaRPr b="1" sz="3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8939" lvl="0" marL="457200" rtl="0" algn="l">
              <a:spcBef>
                <a:spcPts val="1000"/>
              </a:spcBef>
              <a:spcAft>
                <a:spcPts val="0"/>
              </a:spcAft>
              <a:buClr>
                <a:srgbClr val="1F2328"/>
              </a:buClr>
              <a:buSzPct val="100000"/>
              <a:buChar char="-"/>
            </a:pPr>
            <a:r>
              <a:rPr lang="fr-CA" sz="2900">
                <a:solidFill>
                  <a:srgbClr val="1F2328"/>
                </a:solidFill>
                <a:highlight>
                  <a:srgbClr val="FFFFFF"/>
                </a:highlight>
              </a:rPr>
              <a:t>α = 0.1, γ = 0.1</a:t>
            </a:r>
            <a:endParaRPr sz="29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98939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ct val="100000"/>
              <a:buChar char="-"/>
            </a:pPr>
            <a:r>
              <a:rPr lang="fr-CA" sz="2900">
                <a:solidFill>
                  <a:srgbClr val="1F2328"/>
                </a:solidFill>
                <a:highlight>
                  <a:srgbClr val="FFFFFF"/>
                </a:highlight>
              </a:rPr>
              <a:t>Les récomponses sont fixés à -1</a:t>
            </a:r>
            <a:r>
              <a:rPr lang="fr-CA" sz="4500"/>
              <a:t> </a:t>
            </a:r>
            <a:endParaRPr sz="4500"/>
          </a:p>
          <a:p>
            <a:pPr indent="-398939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ct val="116000"/>
              <a:buChar char="-"/>
            </a:pPr>
            <a:r>
              <a:rPr lang="fr-CA" sz="2500">
                <a:solidFill>
                  <a:srgbClr val="1F2328"/>
                </a:solidFill>
                <a:highlight>
                  <a:srgbClr val="FFFFFF"/>
                </a:highlight>
              </a:rPr>
              <a:t>La Q-table est initialisée avec les valeurs de la dispositive suivante. </a:t>
            </a:r>
            <a:endParaRPr sz="25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98939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ct val="116000"/>
              <a:buChar char="-"/>
            </a:pPr>
            <a:r>
              <a:rPr lang="fr-CA" sz="2500">
                <a:solidFill>
                  <a:srgbClr val="1F2328"/>
                </a:solidFill>
                <a:highlight>
                  <a:srgbClr val="FFFFFF"/>
                </a:highlight>
              </a:rPr>
              <a:t>Le nombre d’états : 7 états (S1, S2, S3, S4, S5, S6 et S7).</a:t>
            </a:r>
            <a:endParaRPr sz="25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98939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ct val="116000"/>
              <a:buChar char="-"/>
            </a:pPr>
            <a:r>
              <a:rPr lang="fr-CA" sz="2500">
                <a:solidFill>
                  <a:srgbClr val="1F2328"/>
                </a:solidFill>
                <a:highlight>
                  <a:srgbClr val="FFFFFF"/>
                </a:highlight>
              </a:rPr>
              <a:t>L’état initial est l’état S1.</a:t>
            </a:r>
            <a:endParaRPr sz="25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98939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ct val="116000"/>
              <a:buChar char="-"/>
            </a:pPr>
            <a:r>
              <a:rPr lang="fr-CA" sz="2500">
                <a:solidFill>
                  <a:srgbClr val="1F2328"/>
                </a:solidFill>
                <a:highlight>
                  <a:srgbClr val="FFFFFF"/>
                </a:highlight>
              </a:rPr>
              <a:t>Les états finaux sont S8 (-10) et S9 (+10).</a:t>
            </a:r>
            <a:endParaRPr sz="25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56394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ct val="100000"/>
              <a:buChar char="-"/>
            </a:pPr>
            <a:r>
              <a:rPr lang="fr-CA" sz="2176">
                <a:solidFill>
                  <a:srgbClr val="1F2328"/>
                </a:solidFill>
                <a:highlight>
                  <a:srgbClr val="FFFFFF"/>
                </a:highlight>
              </a:rPr>
              <a:t>Dans la table présentée, nous allons mettre uniquement S1, S2 et S6 à titre d’exemple.</a:t>
            </a:r>
            <a:endParaRPr sz="2176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56aa6cdf9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CA" sz="5800">
                <a:latin typeface="Arial"/>
                <a:ea typeface="Arial"/>
                <a:cs typeface="Arial"/>
                <a:sym typeface="Arial"/>
              </a:rPr>
              <a:t>Initialisiation de la q-table</a:t>
            </a:r>
            <a:endParaRPr/>
          </a:p>
        </p:txBody>
      </p:sp>
      <p:sp>
        <p:nvSpPr>
          <p:cNvPr id="134" name="Google Shape;134;g3d56aa6cdf9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5800"/>
              <a:t>valeurs aléatoires</a:t>
            </a:r>
            <a:endParaRPr sz="5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006" y="677490"/>
            <a:ext cx="9369436" cy="5888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56aa6cdf9_0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CA" sz="9600"/>
              <a:t>Récompenses</a:t>
            </a:r>
            <a:endParaRPr sz="8200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0641" y="141729"/>
            <a:ext cx="7488924" cy="6574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56aa6cdf9_0_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-CA" sz="9600">
                <a:latin typeface="Arial"/>
                <a:ea typeface="Arial"/>
                <a:cs typeface="Arial"/>
                <a:sym typeface="Arial"/>
              </a:rPr>
              <a:t>Scénario</a:t>
            </a:r>
            <a:endParaRPr/>
          </a:p>
        </p:txBody>
      </p:sp>
      <p:sp>
        <p:nvSpPr>
          <p:cNvPr id="155" name="Google Shape;155;g3d56aa6cdf9_0_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Agent commence par S1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Les deux actions possibles: Aller à droite et aller en bas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Nous allons mettre à jour la Q(S1, droite)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Q(S1, droite) = 1 (expected, ce que vous avez dans la table initiale = valeur aléatoire fausse que nous allons corriger)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Nous allons calculer Q(S1, droite)  (observed)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Nous allons claculer la différence temporelle TD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TD = Q(S1, droite) </a:t>
            </a:r>
            <a:r>
              <a:rPr i="1" lang="fr-CA">
                <a:solidFill>
                  <a:srgbClr val="FF0000"/>
                </a:solidFill>
              </a:rPr>
              <a:t>observed</a:t>
            </a:r>
            <a:r>
              <a:rPr lang="fr-CA"/>
              <a:t> - Q(S1, droite) </a:t>
            </a:r>
            <a:r>
              <a:rPr i="1" lang="fr-CA">
                <a:solidFill>
                  <a:srgbClr val="FF0000"/>
                </a:solidFill>
              </a:rPr>
              <a:t>expected</a:t>
            </a:r>
            <a:endParaRPr i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Équation de mise à jour finale: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g3d56aa6cdf9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427" y="5175375"/>
            <a:ext cx="4587350" cy="82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557" y="93621"/>
            <a:ext cx="7159480" cy="6670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9972" y="134640"/>
            <a:ext cx="7252055" cy="6588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5804" y="87548"/>
            <a:ext cx="8745722" cy="653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9176" y="107004"/>
            <a:ext cx="4625607" cy="1180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4745" y="0"/>
            <a:ext cx="912251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1126" y="87548"/>
            <a:ext cx="5109747" cy="1303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6728" y="87549"/>
            <a:ext cx="921854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7898" y="87549"/>
            <a:ext cx="5196202" cy="132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324" y="0"/>
            <a:ext cx="94873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9812" y="5847399"/>
            <a:ext cx="1909864" cy="101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9812" y="5564277"/>
            <a:ext cx="1909864" cy="101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8775" y="5200538"/>
            <a:ext cx="430901" cy="101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2367" y="0"/>
            <a:ext cx="4625607" cy="1180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063" y="0"/>
            <a:ext cx="96718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7540" y="5409567"/>
            <a:ext cx="1909864" cy="101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3007" y="5847399"/>
            <a:ext cx="1909864" cy="101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0816" y="5001580"/>
            <a:ext cx="593388" cy="101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7400" y="58364"/>
            <a:ext cx="4625607" cy="1180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120" y="0"/>
            <a:ext cx="948775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9446" y="5835783"/>
            <a:ext cx="1909864" cy="101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9446" y="5347907"/>
            <a:ext cx="1909864" cy="101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07038" y="4649445"/>
            <a:ext cx="742543" cy="101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027" y="0"/>
            <a:ext cx="989594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9897" y="5368924"/>
            <a:ext cx="2124075" cy="1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81934" y="4822825"/>
            <a:ext cx="1062038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826" y="0"/>
            <a:ext cx="1001434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9099" y="5368925"/>
            <a:ext cx="2124075" cy="1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6571" y="4708187"/>
            <a:ext cx="1332690" cy="214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770" y="0"/>
            <a:ext cx="994245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191" y="4283869"/>
            <a:ext cx="1062038" cy="1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9643" y="5368924"/>
            <a:ext cx="1767586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096" y="0"/>
            <a:ext cx="1006980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1851" y="4990290"/>
            <a:ext cx="1119053" cy="1867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0188" y="5447489"/>
            <a:ext cx="1741624" cy="141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471" y="0"/>
            <a:ext cx="990305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9897" y="5368924"/>
            <a:ext cx="2124075" cy="1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4120" y="4990290"/>
            <a:ext cx="1196876" cy="186771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6011694" y="2227634"/>
            <a:ext cx="593387" cy="632298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003" y="0"/>
            <a:ext cx="97219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2922" y="5349469"/>
            <a:ext cx="2124075" cy="150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27661" y="4795738"/>
            <a:ext cx="1229336" cy="186771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/>
          <p:nvPr/>
        </p:nvSpPr>
        <p:spPr>
          <a:xfrm>
            <a:off x="6011694" y="2227634"/>
            <a:ext cx="593387" cy="632298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987" y="0"/>
            <a:ext cx="986202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12110" y="4990290"/>
            <a:ext cx="1119053" cy="1867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6443" y="5338508"/>
            <a:ext cx="1119053" cy="151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917" y="0"/>
            <a:ext cx="98321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9898" y="5368924"/>
            <a:ext cx="2092186" cy="1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9838" y="4990290"/>
            <a:ext cx="1362245" cy="1867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/>
          <p:nvPr>
            <p:ph idx="1" type="body"/>
          </p:nvPr>
        </p:nvSpPr>
        <p:spPr>
          <a:xfrm>
            <a:off x="838200" y="58048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505"/>
              <a:buNone/>
            </a:pPr>
            <a:r>
              <a:rPr lang="fr-CA" sz="19800">
                <a:latin typeface="Arial"/>
                <a:ea typeface="Arial"/>
                <a:cs typeface="Arial"/>
                <a:sym typeface="Arial"/>
              </a:rPr>
              <a:t>Exercice 2</a:t>
            </a:r>
            <a:endParaRPr sz="19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0035" y="846307"/>
            <a:ext cx="8271930" cy="548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7890" y="5729493"/>
            <a:ext cx="2124075" cy="603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9928" y="4882441"/>
            <a:ext cx="1062038" cy="1450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513" y="0"/>
            <a:ext cx="919097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5795" y="6381346"/>
            <a:ext cx="1695691" cy="476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5677" y="5281375"/>
            <a:ext cx="535810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297" y="0"/>
            <a:ext cx="1049340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9080" y="5534938"/>
            <a:ext cx="2404720" cy="1323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1940" y="4890818"/>
            <a:ext cx="1410763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145" y="0"/>
            <a:ext cx="1022571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9897" y="5368924"/>
            <a:ext cx="2288958" cy="148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8204" y="5028406"/>
            <a:ext cx="1500651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368" y="0"/>
            <a:ext cx="1045926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9897" y="5476672"/>
            <a:ext cx="2405734" cy="138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5753" y="4964906"/>
            <a:ext cx="1529878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991" y="0"/>
            <a:ext cx="984001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8553" y="5368924"/>
            <a:ext cx="1695691" cy="1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3004" y="4840387"/>
            <a:ext cx="1003004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982" y="0"/>
            <a:ext cx="955403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3184" y="5368924"/>
            <a:ext cx="1699834" cy="1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9896" y="4931179"/>
            <a:ext cx="1073121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3929" y="0"/>
            <a:ext cx="980414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0441" y="5894962"/>
            <a:ext cx="2124075" cy="963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9483" y="5261920"/>
            <a:ext cx="1138587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4938" y="0"/>
            <a:ext cx="892212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9898" y="5573949"/>
            <a:ext cx="1637164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8481" y="5028406"/>
            <a:ext cx="818582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28" y="0"/>
            <a:ext cx="1000754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5697" y="6311901"/>
            <a:ext cx="2124075" cy="54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5677" y="5300830"/>
            <a:ext cx="944095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819" y="0"/>
            <a:ext cx="986836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6106" y="5368925"/>
            <a:ext cx="2124075" cy="1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1146" y="4833903"/>
            <a:ext cx="1219035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003" y="0"/>
            <a:ext cx="101459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4922" y="5368925"/>
            <a:ext cx="2124075" cy="14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0852" y="4822825"/>
            <a:ext cx="1198146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380" y="539688"/>
            <a:ext cx="2202442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1872" y="535877"/>
            <a:ext cx="2303586" cy="1353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6658" y="520117"/>
            <a:ext cx="2303586" cy="1364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8070" y="2712252"/>
            <a:ext cx="2587782" cy="151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0061" y="2728420"/>
            <a:ext cx="2631445" cy="1528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94097" y="2728420"/>
            <a:ext cx="2591662" cy="1528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7712" y="4935536"/>
            <a:ext cx="2221159" cy="1316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25512" y="4921367"/>
            <a:ext cx="2256816" cy="133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8969" y="4937157"/>
            <a:ext cx="2252150" cy="133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87761" y="4935537"/>
            <a:ext cx="2221808" cy="1316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94291" y="4935537"/>
            <a:ext cx="2233786" cy="131693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8"/>
          <p:cNvSpPr/>
          <p:nvPr/>
        </p:nvSpPr>
        <p:spPr>
          <a:xfrm>
            <a:off x="2204552" y="6332981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4537956" y="6382494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8"/>
          <p:cNvSpPr/>
          <p:nvPr/>
        </p:nvSpPr>
        <p:spPr>
          <a:xfrm>
            <a:off x="6783758" y="6350811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8"/>
          <p:cNvSpPr/>
          <p:nvPr/>
        </p:nvSpPr>
        <p:spPr>
          <a:xfrm>
            <a:off x="9158495" y="6367978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2684" y="2725172"/>
            <a:ext cx="2561378" cy="151865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8"/>
          <p:cNvSpPr/>
          <p:nvPr/>
        </p:nvSpPr>
        <p:spPr>
          <a:xfrm>
            <a:off x="2356952" y="4248011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8"/>
          <p:cNvSpPr/>
          <p:nvPr/>
        </p:nvSpPr>
        <p:spPr>
          <a:xfrm>
            <a:off x="4690356" y="4297524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8"/>
          <p:cNvSpPr/>
          <p:nvPr/>
        </p:nvSpPr>
        <p:spPr>
          <a:xfrm>
            <a:off x="6936158" y="4265841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8"/>
          <p:cNvSpPr/>
          <p:nvPr/>
        </p:nvSpPr>
        <p:spPr>
          <a:xfrm>
            <a:off x="9310895" y="4283008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3745" y="547493"/>
            <a:ext cx="2262413" cy="1327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1237" y="530635"/>
            <a:ext cx="2235715" cy="13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8"/>
          <p:cNvSpPr/>
          <p:nvPr/>
        </p:nvSpPr>
        <p:spPr>
          <a:xfrm>
            <a:off x="2227249" y="1919849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8"/>
          <p:cNvSpPr/>
          <p:nvPr/>
        </p:nvSpPr>
        <p:spPr>
          <a:xfrm>
            <a:off x="4560653" y="1969362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8"/>
          <p:cNvSpPr/>
          <p:nvPr/>
        </p:nvSpPr>
        <p:spPr>
          <a:xfrm>
            <a:off x="6806455" y="1937679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8"/>
          <p:cNvSpPr/>
          <p:nvPr/>
        </p:nvSpPr>
        <p:spPr>
          <a:xfrm>
            <a:off x="9181192" y="1954846"/>
            <a:ext cx="642026" cy="40018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8"/>
          <p:cNvSpPr/>
          <p:nvPr/>
        </p:nvSpPr>
        <p:spPr>
          <a:xfrm>
            <a:off x="0" y="262643"/>
            <a:ext cx="12070763" cy="210690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8"/>
          <p:cNvSpPr/>
          <p:nvPr/>
        </p:nvSpPr>
        <p:spPr>
          <a:xfrm>
            <a:off x="-3242" y="2613501"/>
            <a:ext cx="12070763" cy="210690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8"/>
          <p:cNvSpPr/>
          <p:nvPr/>
        </p:nvSpPr>
        <p:spPr>
          <a:xfrm>
            <a:off x="22697" y="4769803"/>
            <a:ext cx="12070763" cy="2106904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8"/>
          <p:cNvSpPr/>
          <p:nvPr/>
        </p:nvSpPr>
        <p:spPr>
          <a:xfrm>
            <a:off x="439361" y="1862684"/>
            <a:ext cx="768485" cy="706412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rgbClr val="622F1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CA" sz="32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#1</a:t>
            </a:r>
            <a:endParaRPr b="0" i="0" sz="32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392" name="Google Shape;392;p38"/>
          <p:cNvSpPr/>
          <p:nvPr/>
        </p:nvSpPr>
        <p:spPr>
          <a:xfrm>
            <a:off x="484756" y="4262176"/>
            <a:ext cx="768485" cy="706412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rgbClr val="622F1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CA" sz="2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#2</a:t>
            </a:r>
            <a:endParaRPr b="0" i="0" sz="2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393" name="Google Shape;393;p38"/>
          <p:cNvSpPr/>
          <p:nvPr/>
        </p:nvSpPr>
        <p:spPr>
          <a:xfrm>
            <a:off x="431436" y="6268260"/>
            <a:ext cx="768485" cy="706412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rgbClr val="622F1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CA" sz="28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#3</a:t>
            </a:r>
            <a:endParaRPr b="0" i="0" sz="2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273" l="0" r="0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ndara"/>
              <a:buNone/>
            </a:pPr>
            <a:r>
              <a:rPr i="1" lang="fr-CA" sz="6600">
                <a:highlight>
                  <a:srgbClr val="FFFF00"/>
                </a:highlight>
                <a:latin typeface="Candara"/>
                <a:ea typeface="Candara"/>
                <a:cs typeface="Candara"/>
                <a:sym typeface="Candara"/>
              </a:rPr>
              <a:t>Références</a:t>
            </a:r>
            <a:endParaRPr/>
          </a:p>
        </p:txBody>
      </p:sp>
      <p:sp>
        <p:nvSpPr>
          <p:cNvPr id="405" name="Google Shape;405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CA"/>
              <a:t>https://www.youtube.com/watch?v=TiAXhVAZQl8&amp;t=1s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2024-10-17T18:33:48Z</dcterms:created>
  <dc:creator>Rehouma, Haythem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615819-ba40-4aaf-a034-39fd1d37cddf_Enabled">
    <vt:lpwstr>true</vt:lpwstr>
  </property>
  <property fmtid="{D5CDD505-2E9C-101B-9397-08002B2CF9AE}" pid="3" name="MSIP_Label_6b615819-ba40-4aaf-a034-39fd1d37cddf_SetDate">
    <vt:lpwstr>2025-04-16T23:57:21Z</vt:lpwstr>
  </property>
  <property fmtid="{D5CDD505-2E9C-101B-9397-08002B2CF9AE}" pid="4" name="MSIP_Label_6b615819-ba40-4aaf-a034-39fd1d37cddf_Method">
    <vt:lpwstr>Standard</vt:lpwstr>
  </property>
  <property fmtid="{D5CDD505-2E9C-101B-9397-08002B2CF9AE}" pid="5" name="MSIP_Label_6b615819-ba40-4aaf-a034-39fd1d37cddf_Name">
    <vt:lpwstr>defa4170-0d19-0005-0004-bc88714345d2</vt:lpwstr>
  </property>
  <property fmtid="{D5CDD505-2E9C-101B-9397-08002B2CF9AE}" pid="6" name="MSIP_Label_6b615819-ba40-4aaf-a034-39fd1d37cddf_SiteId">
    <vt:lpwstr>f9182dd7-4234-41fb-9e9c-dd20d493b548</vt:lpwstr>
  </property>
  <property fmtid="{D5CDD505-2E9C-101B-9397-08002B2CF9AE}" pid="7" name="MSIP_Label_6b615819-ba40-4aaf-a034-39fd1d37cddf_ActionId">
    <vt:lpwstr>c1a9cb5a-81c8-4089-b023-074e6034eb48</vt:lpwstr>
  </property>
  <property fmtid="{D5CDD505-2E9C-101B-9397-08002B2CF9AE}" pid="8" name="MSIP_Label_6b615819-ba40-4aaf-a034-39fd1d37cddf_ContentBits">
    <vt:lpwstr>0</vt:lpwstr>
  </property>
</Properties>
</file>