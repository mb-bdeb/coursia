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7099300" cy="10234600"/>
  <p:embeddedFontLst>
    <p:embeddedFont>
      <p:font typeface="Candara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i8gEmqjOmnMcdGu5mvTPHO9eMI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andara-bold.fntdata"/><Relationship Id="rId12" Type="http://schemas.openxmlformats.org/officeDocument/2006/relationships/slide" Target="slides/slide7.xml"/><Relationship Id="rId34" Type="http://schemas.openxmlformats.org/officeDocument/2006/relationships/font" Target="fonts/Candara-regular.fntdata"/><Relationship Id="rId15" Type="http://schemas.openxmlformats.org/officeDocument/2006/relationships/slide" Target="slides/slide10.xml"/><Relationship Id="rId37" Type="http://schemas.openxmlformats.org/officeDocument/2006/relationships/font" Target="fonts/Candara-boldItalic.fntdata"/><Relationship Id="rId14" Type="http://schemas.openxmlformats.org/officeDocument/2006/relationships/slide" Target="slides/slide9.xml"/><Relationship Id="rId36" Type="http://schemas.openxmlformats.org/officeDocument/2006/relationships/font" Target="fonts/Candara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710905" y="4862233"/>
            <a:ext cx="5677500" cy="4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4020340" y="9722708"/>
            <a:ext cx="30774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[cut demo of moving around in grid world program]</a:t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2188" y="768350"/>
            <a:ext cx="51165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39700" y="768350"/>
            <a:ext cx="68214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just shows V and Q values, snapshots on next slides.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992188" y="768350"/>
            <a:ext cx="51165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992188" y="768350"/>
            <a:ext cx="51165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710905" y="4862233"/>
            <a:ext cx="5677500" cy="46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39700" y="768350"/>
            <a:ext cx="68199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start by equations that characterize these quantities through mutual recursions.  [step through this by writing on slide, one step at a time]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Recursive characterization of V* in terms of V*; not necessarily helpful; but it is a characterization.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this is a set of equations that needs to be satisfied; but it could have multiple solutions (it does not, but at this stage of our knowledge it could).</a:t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39700" y="768350"/>
            <a:ext cx="6819900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computational complexity: S * A * S   times number of iterations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updates not in place [if in place, it means something else and not even clear what it means]</a:t>
            </a:r>
            <a:endParaRPr/>
          </a:p>
        </p:txBody>
      </p:sp>
      <p:sp>
        <p:nvSpPr>
          <p:cNvPr id="197" name="Google Shape;197;p10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139700" y="768350"/>
            <a:ext cx="6821488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139700" y="768350"/>
            <a:ext cx="6821488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2" name="Google Shape;282;p1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139700" y="768350"/>
            <a:ext cx="6821488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3" name="Google Shape;313;p1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7" name="Google Shape;347;p1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3" name="Google Shape;363;p2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1" name="Google Shape;371;p2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1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9" name="Google Shape;379;p2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7" name="Google Shape;387;p2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3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5" name="Google Shape;395;p2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4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5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3" name="Google Shape;403;p2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5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1" name="Google Shape;411;p2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6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:notes"/>
          <p:cNvSpPr/>
          <p:nvPr>
            <p:ph idx="2" type="sldImg"/>
          </p:nvPr>
        </p:nvSpPr>
        <p:spPr>
          <a:xfrm>
            <a:off x="992188" y="768350"/>
            <a:ext cx="5116512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9" name="Google Shape;419;p2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 zero living reward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7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8:notes"/>
          <p:cNvSpPr/>
          <p:nvPr>
            <p:ph idx="2" type="sldImg"/>
          </p:nvPr>
        </p:nvSpPr>
        <p:spPr>
          <a:xfrm>
            <a:off x="992188" y="768350"/>
            <a:ext cx="51165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7" name="Google Shape;427;p28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28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0"/>
          <p:cNvSpPr txBox="1"/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1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3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33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33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3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3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34"/>
          <p:cNvSpPr txBox="1"/>
          <p:nvPr>
            <p:ph idx="1" type="body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  <a:defRPr b="1" i="0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  <a:defRPr b="1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34"/>
          <p:cNvSpPr txBox="1"/>
          <p:nvPr>
            <p:ph idx="2" type="body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9250" lvl="2" marL="1371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34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  <a:defRPr b="1" i="0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  <a:defRPr b="1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34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9250" lvl="2" marL="1371600" marR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3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3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3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3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3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3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3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7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1" type="body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8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8"/>
          <p:cNvSpPr txBox="1"/>
          <p:nvPr>
            <p:ph idx="1" type="body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3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3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39"/>
          <p:cNvSpPr txBox="1"/>
          <p:nvPr>
            <p:ph idx="1" type="body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3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3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3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0"/>
          <p:cNvSpPr txBox="1"/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40"/>
          <p:cNvSpPr txBox="1"/>
          <p:nvPr>
            <p:ph idx="1" type="body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4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9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10" Type="http://schemas.openxmlformats.org/officeDocument/2006/relationships/image" Target="../media/image25.png"/><Relationship Id="rId9" Type="http://schemas.openxmlformats.org/officeDocument/2006/relationships/image" Target="../media/image46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33.png"/><Relationship Id="rId8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10" Type="http://schemas.openxmlformats.org/officeDocument/2006/relationships/image" Target="../media/image25.png"/><Relationship Id="rId9" Type="http://schemas.openxmlformats.org/officeDocument/2006/relationships/image" Target="../media/image46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33.png"/><Relationship Id="rId8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4800"/>
              <a:t>L03: Markov Decision Processes (MDPs) II</a:t>
            </a:r>
            <a:br>
              <a:rPr lang="en-US" sz="4800"/>
            </a:br>
            <a:r>
              <a:rPr lang="en-US" sz="2500"/>
              <a:t>(slides from Berkeley CS188)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Example: Grid World</a:t>
            </a:r>
            <a:endParaRPr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0735" y="1371600"/>
            <a:ext cx="4495800" cy="348499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228600" y="1493838"/>
            <a:ext cx="6477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maze-like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agent lives in a grid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Walls block the agent’s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8001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Noisy movement: actions do not always go as planned</a:t>
            </a:r>
            <a:endParaRPr b="0" i="0" sz="2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 of the time, the action North takes the agent North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 of the time, North takes the agent West; 10% East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there is a wall in the direction the agent would have been taken, the agent stays 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8001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Noto Sans Symbols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agent receives rewards each time 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“living” reward each step (can be negative)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rewards come at the end (good or bad)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8001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Goal: maximize sum of (discounted) rewards</a:t>
            </a:r>
            <a:endParaRPr b="0" i="0" sz="2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135" y="1373299"/>
            <a:ext cx="4439266" cy="319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10800" y="3896549"/>
            <a:ext cx="457200" cy="244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7801" y="3886200"/>
            <a:ext cx="509618" cy="218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77400" y="2895600"/>
            <a:ext cx="433322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Dan\Dropbox\Office\CS 188\Ketrina Art\MDPs\AgentTopDown.png" id="103" name="Google Shape;10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71422" y="3581400"/>
            <a:ext cx="815578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Recap: MDPs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Markov decision processes:</a:t>
            </a:r>
            <a:endParaRPr/>
          </a:p>
          <a:p>
            <a:pPr indent="-2857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States S</a:t>
            </a:r>
            <a:endParaRPr/>
          </a:p>
          <a:p>
            <a:pPr indent="-2857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 A</a:t>
            </a:r>
            <a:endParaRPr/>
          </a:p>
          <a:p>
            <a:pPr indent="-2857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Transitions P(s’|s,a) (or T(s,a,s’))</a:t>
            </a:r>
            <a:endParaRPr/>
          </a:p>
          <a:p>
            <a:pPr indent="-2857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Rewards R(s,a,s’) (and discount γ)</a:t>
            </a:r>
            <a:endParaRPr/>
          </a:p>
          <a:p>
            <a:pPr indent="-2857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state s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indent="-1333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Quantities:</a:t>
            </a:r>
            <a:endParaRPr/>
          </a:p>
          <a:p>
            <a:pPr indent="-2857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= map of states to actions</a:t>
            </a:r>
            <a:endParaRPr/>
          </a:p>
          <a:p>
            <a:pPr indent="-2857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Utility = sum of discounted rewards</a:t>
            </a:r>
            <a:endParaRPr/>
          </a:p>
          <a:p>
            <a:pPr indent="0" lvl="1" marL="609575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7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3347" y="2689813"/>
            <a:ext cx="5502350" cy="21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Optimal Quantities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457200" y="1143000"/>
            <a:ext cx="6705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0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value (utility) of a state 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37" lvl="1" marL="742913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 = expected utility starting in s and acting optimally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0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The value (utility) of a q-state (s,a):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37" lvl="1" marL="742913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(s,a) = expected utility starting out having taken action a from state s and (thereafter) acting optimally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37" lvl="1" marL="742913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optimal policy: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37" lvl="1" marL="742913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(s) = optimal action from state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732838" y="2209800"/>
            <a:ext cx="350700" cy="2763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615363" y="4468813"/>
            <a:ext cx="350700" cy="2763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 flipH="1">
            <a:off x="7504063" y="2498725"/>
            <a:ext cx="1403400" cy="80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21" name="Google Shape;121;p4"/>
          <p:cNvCxnSpPr/>
          <p:nvPr/>
        </p:nvCxnSpPr>
        <p:spPr>
          <a:xfrm flipH="1">
            <a:off x="8381863" y="2498725"/>
            <a:ext cx="525600" cy="80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8907463" y="2498725"/>
            <a:ext cx="525600" cy="6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23" name="Google Shape;123;p4"/>
          <p:cNvSpPr/>
          <p:nvPr/>
        </p:nvSpPr>
        <p:spPr>
          <a:xfrm>
            <a:off x="8264525" y="3305175"/>
            <a:ext cx="292200" cy="287400"/>
          </a:xfrm>
          <a:prstGeom prst="ellipse">
            <a:avLst/>
          </a:prstGeom>
          <a:solidFill>
            <a:srgbClr val="008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 flipH="1">
            <a:off x="7696163" y="3592513"/>
            <a:ext cx="690600" cy="46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4"/>
          <p:cNvCxnSpPr/>
          <p:nvPr/>
        </p:nvCxnSpPr>
        <p:spPr>
          <a:xfrm>
            <a:off x="8386763" y="3592513"/>
            <a:ext cx="757200" cy="38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4"/>
          <p:cNvCxnSpPr/>
          <p:nvPr/>
        </p:nvCxnSpPr>
        <p:spPr>
          <a:xfrm flipH="1">
            <a:off x="7945463" y="3592513"/>
            <a:ext cx="441300" cy="863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8386763" y="3592513"/>
            <a:ext cx="423900" cy="8637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4"/>
          <p:cNvSpPr txBox="1"/>
          <p:nvPr/>
        </p:nvSpPr>
        <p:spPr>
          <a:xfrm>
            <a:off x="8674100" y="2740025"/>
            <a:ext cx="292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9083675" y="2209800"/>
            <a:ext cx="2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8991600" y="4456113"/>
            <a:ext cx="381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8556625" y="3305175"/>
            <a:ext cx="58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s,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4"/>
          <p:cNvCxnSpPr/>
          <p:nvPr/>
        </p:nvCxnSpPr>
        <p:spPr>
          <a:xfrm flipH="1">
            <a:off x="7388088" y="4745038"/>
            <a:ext cx="1401900" cy="40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p4"/>
          <p:cNvCxnSpPr/>
          <p:nvPr/>
        </p:nvCxnSpPr>
        <p:spPr>
          <a:xfrm flipH="1">
            <a:off x="8264388" y="4745038"/>
            <a:ext cx="525600" cy="403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" name="Google Shape;134;p4"/>
          <p:cNvCxnSpPr/>
          <p:nvPr/>
        </p:nvCxnSpPr>
        <p:spPr>
          <a:xfrm>
            <a:off x="8789988" y="4745038"/>
            <a:ext cx="527100" cy="34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35" name="Google Shape;135;p4"/>
          <p:cNvSpPr txBox="1"/>
          <p:nvPr/>
        </p:nvSpPr>
        <p:spPr>
          <a:xfrm>
            <a:off x="9723438" y="4016375"/>
            <a:ext cx="2163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(s,a,s’) is a </a:t>
            </a:r>
            <a:br>
              <a:rPr b="0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transition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924800" y="4008438"/>
            <a:ext cx="8193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s,a,s’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9723438" y="2076450"/>
            <a:ext cx="1052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 is a </a:t>
            </a:r>
            <a:r>
              <a:rPr b="0" i="1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9723438" y="3048000"/>
            <a:ext cx="1295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(s, a) is a </a:t>
            </a:r>
            <a:r>
              <a:rPr b="0" i="1" lang="en-US" sz="2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q-state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7696200" y="6488112"/>
            <a:ext cx="4495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Gridworld Values V*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1 at 12.15.55 AM.png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2735" y="1083733"/>
            <a:ext cx="6286532" cy="579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Gridworld: Q*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1 at 12.16.02 AM.png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3424" y="1143000"/>
            <a:ext cx="6245153" cy="574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Solving MDPs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6187" y="1667339"/>
            <a:ext cx="7313614" cy="4275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Bellman Equations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5" y="1219677"/>
            <a:ext cx="8551863" cy="514254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/>
        </p:nvSpPr>
        <p:spPr>
          <a:xfrm>
            <a:off x="4871850" y="2057400"/>
            <a:ext cx="55626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be optimal: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Step 1: Take correct first 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Step 2: Keep being optimal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Bellman Equations</a:t>
            </a:r>
            <a:endParaRPr/>
          </a:p>
        </p:txBody>
      </p:sp>
      <p:sp>
        <p:nvSpPr>
          <p:cNvPr id="171" name="Google Shape;171;p9"/>
          <p:cNvSpPr txBox="1"/>
          <p:nvPr>
            <p:ph idx="1" type="body"/>
          </p:nvPr>
        </p:nvSpPr>
        <p:spPr>
          <a:xfrm>
            <a:off x="457200" y="1371600"/>
            <a:ext cx="8610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Definition of “optimal utility” via expectimax recurrence gives a simple one-step lookahead relationship amongst optimal utility values</a:t>
            </a:r>
            <a:endParaRPr/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These are the Bellman equations, and they characterize optimal values in a way we’ll use over and over</a:t>
            </a:r>
            <a:endParaRPr b="0" i="0" sz="1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082" lvl="0" marL="342882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247" y="2971800"/>
            <a:ext cx="3076881" cy="4052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73" name="Google Shape;1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243" y="4356100"/>
            <a:ext cx="6950388" cy="690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74" name="Google Shape;17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1873" y="3614737"/>
            <a:ext cx="5556003" cy="5932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9"/>
          <p:cNvGrpSpPr/>
          <p:nvPr/>
        </p:nvGrpSpPr>
        <p:grpSpPr>
          <a:xfrm>
            <a:off x="8610600" y="1371600"/>
            <a:ext cx="3048000" cy="2754586"/>
            <a:chOff x="2400" y="1401"/>
            <a:chExt cx="1392" cy="1258"/>
          </a:xfrm>
        </p:grpSpPr>
        <p:sp>
          <p:nvSpPr>
            <p:cNvPr id="176" name="Google Shape;176;p9"/>
            <p:cNvSpPr/>
            <p:nvPr/>
          </p:nvSpPr>
          <p:spPr>
            <a:xfrm>
              <a:off x="3070" y="1488"/>
              <a:ext cx="155" cy="124"/>
            </a:xfrm>
            <a:prstGeom prst="triangle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" name="Google Shape;177;p9"/>
            <p:cNvGrpSpPr/>
            <p:nvPr/>
          </p:nvGrpSpPr>
          <p:grpSpPr>
            <a:xfrm>
              <a:off x="2529" y="1617"/>
              <a:ext cx="1263" cy="361"/>
              <a:chOff x="1584" y="1680"/>
              <a:chExt cx="2352" cy="336"/>
            </a:xfrm>
          </p:grpSpPr>
          <p:cxnSp>
            <p:nvCxnSpPr>
              <p:cNvPr id="178" name="Google Shape;178;p9"/>
              <p:cNvCxnSpPr/>
              <p:nvPr/>
            </p:nvCxnSpPr>
            <p:spPr>
              <a:xfrm flipH="1">
                <a:off x="1584" y="1680"/>
                <a:ext cx="1152" cy="33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79" name="Google Shape;179;p9"/>
              <p:cNvCxnSpPr/>
              <p:nvPr/>
            </p:nvCxnSpPr>
            <p:spPr>
              <a:xfrm>
                <a:off x="2736" y="1680"/>
                <a:ext cx="1200" cy="2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80" name="Google Shape;180;p9"/>
              <p:cNvCxnSpPr/>
              <p:nvPr/>
            </p:nvCxnSpPr>
            <p:spPr>
              <a:xfrm flipH="1">
                <a:off x="2304" y="1680"/>
                <a:ext cx="432" cy="33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81" name="Google Shape;181;p9"/>
              <p:cNvCxnSpPr/>
              <p:nvPr/>
            </p:nvCxnSpPr>
            <p:spPr>
              <a:xfrm>
                <a:off x="2736" y="1680"/>
                <a:ext cx="432" cy="2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182" name="Google Shape;182;p9"/>
            <p:cNvSpPr/>
            <p:nvPr/>
          </p:nvSpPr>
          <p:spPr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3" name="Google Shape;183;p9"/>
            <p:cNvGrpSpPr/>
            <p:nvPr/>
          </p:nvGrpSpPr>
          <p:grpSpPr>
            <a:xfrm>
              <a:off x="2400" y="2107"/>
              <a:ext cx="1057" cy="386"/>
              <a:chOff x="1536" y="2400"/>
              <a:chExt cx="1584" cy="624"/>
            </a:xfrm>
          </p:grpSpPr>
          <p:cxnSp>
            <p:nvCxnSpPr>
              <p:cNvPr id="184" name="Google Shape;184;p9"/>
              <p:cNvCxnSpPr/>
              <p:nvPr/>
            </p:nvCxnSpPr>
            <p:spPr>
              <a:xfrm flipH="1">
                <a:off x="1536" y="2400"/>
                <a:ext cx="776" cy="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85" name="Google Shape;185;p9"/>
              <p:cNvCxnSpPr/>
              <p:nvPr/>
            </p:nvCxnSpPr>
            <p:spPr>
              <a:xfrm>
                <a:off x="2312" y="2400"/>
                <a:ext cx="808" cy="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86" name="Google Shape;186;p9"/>
              <p:cNvCxnSpPr/>
              <p:nvPr/>
            </p:nvCxnSpPr>
            <p:spPr>
              <a:xfrm flipH="1">
                <a:off x="2021" y="2400"/>
                <a:ext cx="291" cy="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87" name="Google Shape;187;p9"/>
              <p:cNvCxnSpPr/>
              <p:nvPr/>
            </p:nvCxnSpPr>
            <p:spPr>
              <a:xfrm>
                <a:off x="2312" y="2400"/>
                <a:ext cx="280" cy="62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188" name="Google Shape;188;p9"/>
            <p:cNvSpPr txBox="1"/>
            <p:nvPr/>
          </p:nvSpPr>
          <p:spPr>
            <a:xfrm>
              <a:off x="3071" y="1680"/>
              <a:ext cx="129" cy="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9"/>
            <p:cNvSpPr txBox="1"/>
            <p:nvPr/>
          </p:nvSpPr>
          <p:spPr>
            <a:xfrm>
              <a:off x="3216" y="1401"/>
              <a:ext cx="129" cy="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3024" y="1920"/>
              <a:ext cx="559" cy="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8000"/>
                  </a:solidFill>
                  <a:latin typeface="Calibri"/>
                  <a:ea typeface="Calibri"/>
                  <a:cs typeface="Calibri"/>
                  <a:sym typeface="Calibri"/>
                </a:rPr>
                <a:t>s,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9"/>
            <p:cNvSpPr txBox="1"/>
            <p:nvPr/>
          </p:nvSpPr>
          <p:spPr>
            <a:xfrm>
              <a:off x="2609" y="2261"/>
              <a:ext cx="504" cy="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s,a,s’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3019" y="2499"/>
              <a:ext cx="154" cy="123"/>
            </a:xfrm>
            <a:prstGeom prst="triangle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9"/>
            <p:cNvSpPr txBox="1"/>
            <p:nvPr/>
          </p:nvSpPr>
          <p:spPr>
            <a:xfrm>
              <a:off x="3096" y="2448"/>
              <a:ext cx="331" cy="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s’</a:t>
              </a:r>
              <a:endParaRPr b="0" i="0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Value Iteration</a:t>
            </a:r>
            <a:endParaRPr/>
          </a:p>
        </p:txBody>
      </p:sp>
      <p:sp>
        <p:nvSpPr>
          <p:cNvPr id="200" name="Google Shape;200;p10"/>
          <p:cNvSpPr txBox="1"/>
          <p:nvPr>
            <p:ph idx="1" type="body"/>
          </p:nvPr>
        </p:nvSpPr>
        <p:spPr>
          <a:xfrm>
            <a:off x="457200" y="1447800"/>
            <a:ext cx="11277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Bellman equations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characterize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the optimal values:</a:t>
            </a:r>
            <a:endParaRPr/>
          </a:p>
          <a:p>
            <a:pPr indent="-1650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0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0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0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 iteration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computes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them:</a:t>
            </a:r>
            <a:endParaRPr/>
          </a:p>
          <a:p>
            <a:pPr indent="-1650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6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6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6" lvl="1" marL="742913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 iteration is just a fixed point solution method</a:t>
            </a:r>
            <a:endParaRPr/>
          </a:p>
          <a:p>
            <a:pPr indent="-285736" lvl="1" marL="742913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though the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vectors are also interpretable as time-limited values</a:t>
            </a:r>
            <a:endParaRPr/>
          </a:p>
        </p:txBody>
      </p:sp>
      <p:pic>
        <p:nvPicPr>
          <p:cNvPr descr="txp_fig"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4343400"/>
            <a:ext cx="7266933" cy="6909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0"/>
          <p:cNvGrpSpPr/>
          <p:nvPr/>
        </p:nvGrpSpPr>
        <p:grpSpPr>
          <a:xfrm>
            <a:off x="9220200" y="1524000"/>
            <a:ext cx="2209800" cy="2427288"/>
            <a:chOff x="2400" y="1209"/>
            <a:chExt cx="1392" cy="1529"/>
          </a:xfrm>
        </p:grpSpPr>
        <p:sp>
          <p:nvSpPr>
            <p:cNvPr id="203" name="Google Shape;203;p10"/>
            <p:cNvSpPr/>
            <p:nvPr/>
          </p:nvSpPr>
          <p:spPr>
            <a:xfrm>
              <a:off x="3070" y="1488"/>
              <a:ext cx="155" cy="124"/>
            </a:xfrm>
            <a:prstGeom prst="triangle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4" name="Google Shape;204;p10"/>
            <p:cNvGrpSpPr/>
            <p:nvPr/>
          </p:nvGrpSpPr>
          <p:grpSpPr>
            <a:xfrm>
              <a:off x="2529" y="1617"/>
              <a:ext cx="1263" cy="361"/>
              <a:chOff x="1584" y="1680"/>
              <a:chExt cx="2352" cy="336"/>
            </a:xfrm>
          </p:grpSpPr>
          <p:cxnSp>
            <p:nvCxnSpPr>
              <p:cNvPr id="205" name="Google Shape;205;p10"/>
              <p:cNvCxnSpPr/>
              <p:nvPr/>
            </p:nvCxnSpPr>
            <p:spPr>
              <a:xfrm flipH="1">
                <a:off x="1584" y="1680"/>
                <a:ext cx="1152" cy="33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06" name="Google Shape;206;p10"/>
              <p:cNvCxnSpPr/>
              <p:nvPr/>
            </p:nvCxnSpPr>
            <p:spPr>
              <a:xfrm>
                <a:off x="2736" y="1680"/>
                <a:ext cx="1200" cy="2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07" name="Google Shape;207;p10"/>
              <p:cNvCxnSpPr/>
              <p:nvPr/>
            </p:nvCxnSpPr>
            <p:spPr>
              <a:xfrm flipH="1">
                <a:off x="2304" y="1680"/>
                <a:ext cx="432" cy="33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08" name="Google Shape;208;p10"/>
              <p:cNvCxnSpPr/>
              <p:nvPr/>
            </p:nvCxnSpPr>
            <p:spPr>
              <a:xfrm>
                <a:off x="2736" y="1680"/>
                <a:ext cx="432" cy="2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209" name="Google Shape;209;p10"/>
            <p:cNvSpPr/>
            <p:nvPr/>
          </p:nvSpPr>
          <p:spPr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0" name="Google Shape;210;p10"/>
            <p:cNvGrpSpPr/>
            <p:nvPr/>
          </p:nvGrpSpPr>
          <p:grpSpPr>
            <a:xfrm>
              <a:off x="2400" y="2107"/>
              <a:ext cx="1057" cy="386"/>
              <a:chOff x="1536" y="2400"/>
              <a:chExt cx="1584" cy="624"/>
            </a:xfrm>
          </p:grpSpPr>
          <p:cxnSp>
            <p:nvCxnSpPr>
              <p:cNvPr id="211" name="Google Shape;211;p10"/>
              <p:cNvCxnSpPr/>
              <p:nvPr/>
            </p:nvCxnSpPr>
            <p:spPr>
              <a:xfrm flipH="1">
                <a:off x="1536" y="2400"/>
                <a:ext cx="776" cy="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12" name="Google Shape;212;p10"/>
              <p:cNvCxnSpPr/>
              <p:nvPr/>
            </p:nvCxnSpPr>
            <p:spPr>
              <a:xfrm>
                <a:off x="2312" y="2400"/>
                <a:ext cx="808" cy="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13" name="Google Shape;213;p10"/>
              <p:cNvCxnSpPr/>
              <p:nvPr/>
            </p:nvCxnSpPr>
            <p:spPr>
              <a:xfrm flipH="1">
                <a:off x="2021" y="2400"/>
                <a:ext cx="291" cy="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dash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14" name="Google Shape;214;p10"/>
              <p:cNvCxnSpPr/>
              <p:nvPr/>
            </p:nvCxnSpPr>
            <p:spPr>
              <a:xfrm>
                <a:off x="2312" y="2400"/>
                <a:ext cx="280" cy="62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215" name="Google Shape;215;p10"/>
            <p:cNvSpPr txBox="1"/>
            <p:nvPr/>
          </p:nvSpPr>
          <p:spPr>
            <a:xfrm>
              <a:off x="3024" y="1680"/>
              <a:ext cx="1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0"/>
            <p:cNvSpPr txBox="1"/>
            <p:nvPr/>
          </p:nvSpPr>
          <p:spPr>
            <a:xfrm>
              <a:off x="2976" y="1209"/>
              <a:ext cx="62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V(s)</a:t>
              </a:r>
              <a:endParaRPr b="0" i="0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0"/>
            <p:cNvSpPr txBox="1"/>
            <p:nvPr/>
          </p:nvSpPr>
          <p:spPr>
            <a:xfrm>
              <a:off x="2976" y="1920"/>
              <a:ext cx="55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8000"/>
                  </a:solidFill>
                  <a:latin typeface="Calibri"/>
                  <a:ea typeface="Calibri"/>
                  <a:cs typeface="Calibri"/>
                  <a:sym typeface="Calibri"/>
                </a:rPr>
                <a:t>s,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0"/>
            <p:cNvSpPr txBox="1"/>
            <p:nvPr/>
          </p:nvSpPr>
          <p:spPr>
            <a:xfrm>
              <a:off x="2592" y="2265"/>
              <a:ext cx="5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s,a,s’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0"/>
            <p:cNvSpPr txBox="1"/>
            <p:nvPr/>
          </p:nvSpPr>
          <p:spPr>
            <a:xfrm>
              <a:off x="2688" y="2505"/>
              <a:ext cx="6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V(s’)</a:t>
              </a:r>
              <a:endParaRPr b="0" i="0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0"/>
          <p:cNvSpPr/>
          <p:nvPr/>
        </p:nvSpPr>
        <p:spPr>
          <a:xfrm>
            <a:off x="9601200" y="4038600"/>
            <a:ext cx="1600200" cy="1752600"/>
          </a:xfrm>
          <a:prstGeom prst="triangle">
            <a:avLst>
              <a:gd fmla="val 50000" name="adj"/>
            </a:avLst>
          </a:prstGeom>
          <a:solidFill>
            <a:srgbClr val="8FAA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243" y="2286000"/>
            <a:ext cx="6950388" cy="690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k=0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7.46 PM.png" id="229" name="Google Shape;2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791" y="1143000"/>
            <a:ext cx="6206418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k=1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7.51 PM.png" id="237" name="Google Shape;2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7545" y="1143000"/>
            <a:ext cx="617691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k=2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7.56 PM.png" id="245" name="Google Shape;2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400" y="1143000"/>
            <a:ext cx="6207201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k=2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742951" y="1942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22" y="5439965"/>
            <a:ext cx="7744906" cy="1066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4-08-10 at 7.47.56 PM.png" id="254" name="Google Shape;25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726" y="1697037"/>
            <a:ext cx="3903699" cy="38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4"/>
          <p:cNvSpPr/>
          <p:nvPr/>
        </p:nvSpPr>
        <p:spPr>
          <a:xfrm>
            <a:off x="4535461" y="1180555"/>
            <a:ext cx="185820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0</a:t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4535461" y="2696169"/>
            <a:ext cx="243528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0.9</a:t>
            </a:r>
            <a:endParaRPr/>
          </a:p>
        </p:txBody>
      </p:sp>
      <p:pic>
        <p:nvPicPr>
          <p:cNvPr id="257" name="Google Shape;25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4561" y="2166840"/>
            <a:ext cx="903893" cy="172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35461" y="3682454"/>
            <a:ext cx="1009791" cy="9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4"/>
          <p:cNvSpPr/>
          <p:nvPr/>
        </p:nvSpPr>
        <p:spPr>
          <a:xfrm>
            <a:off x="5721490" y="3669931"/>
            <a:ext cx="97334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=1</a:t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4444561" y="1257300"/>
            <a:ext cx="2435282" cy="85910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4626361" y="2728280"/>
            <a:ext cx="2435282" cy="85910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4503849" y="3743678"/>
            <a:ext cx="2435282" cy="85910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35461" y="4763786"/>
            <a:ext cx="1448002" cy="62873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4"/>
          <p:cNvSpPr/>
          <p:nvPr/>
        </p:nvSpPr>
        <p:spPr>
          <a:xfrm>
            <a:off x="5844002" y="4632717"/>
            <a:ext cx="155042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=0.8</a:t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4419316" y="4679270"/>
            <a:ext cx="2975109" cy="92122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78060" y="1804000"/>
            <a:ext cx="1357944" cy="85910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4"/>
          <p:cNvSpPr/>
          <p:nvPr/>
        </p:nvSpPr>
        <p:spPr>
          <a:xfrm>
            <a:off x="7581881" y="2767209"/>
            <a:ext cx="46089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=0.8*[0+0.9*1]</a:t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8496756" y="3669931"/>
            <a:ext cx="278153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=0.8*0.9</a:t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8615532" y="4629531"/>
            <a:ext cx="193514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=0.72</a:t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7581881" y="1543708"/>
            <a:ext cx="4476768" cy="4055706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7138832" y="1117600"/>
            <a:ext cx="762696" cy="543675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k=3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00 PM.png" id="279" name="Google Shape;2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7179" y="1143000"/>
            <a:ext cx="6177643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k=3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00 PM.png" id="287" name="Google Shape;2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455" y="857250"/>
            <a:ext cx="307929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3539" y="1117600"/>
            <a:ext cx="514422" cy="34294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9" name="Google Shape;289;p16"/>
          <p:cNvSpPr/>
          <p:nvPr/>
        </p:nvSpPr>
        <p:spPr>
          <a:xfrm>
            <a:off x="1794102" y="383888"/>
            <a:ext cx="7841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200" u="none" cap="none" strike="noStrike">
                <a:solidFill>
                  <a:schemeClr val="dk2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k=2</a:t>
            </a:r>
            <a:endParaRPr b="0" i="1" sz="32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455" y="4968767"/>
            <a:ext cx="7087589" cy="771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0425" y="2120830"/>
            <a:ext cx="1428949" cy="49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9491" y="2733643"/>
            <a:ext cx="1381318" cy="457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9491" y="3307573"/>
            <a:ext cx="276264" cy="36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19491" y="3846632"/>
            <a:ext cx="943107" cy="6287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p16"/>
          <p:cNvCxnSpPr/>
          <p:nvPr/>
        </p:nvCxnSpPr>
        <p:spPr>
          <a:xfrm rot="10800000">
            <a:off x="5777009" y="2368514"/>
            <a:ext cx="1133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16"/>
          <p:cNvCxnSpPr/>
          <p:nvPr/>
        </p:nvCxnSpPr>
        <p:spPr>
          <a:xfrm rot="10800000">
            <a:off x="5777009" y="2987639"/>
            <a:ext cx="1133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16"/>
          <p:cNvCxnSpPr/>
          <p:nvPr/>
        </p:nvCxnSpPr>
        <p:spPr>
          <a:xfrm rot="10800000">
            <a:off x="5710334" y="3488573"/>
            <a:ext cx="1133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16"/>
          <p:cNvCxnSpPr/>
          <p:nvPr/>
        </p:nvCxnSpPr>
        <p:spPr>
          <a:xfrm rot="10800000">
            <a:off x="5710334" y="4161001"/>
            <a:ext cx="1133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16"/>
          <p:cNvSpPr/>
          <p:nvPr/>
        </p:nvSpPr>
        <p:spPr>
          <a:xfrm>
            <a:off x="4200425" y="1259938"/>
            <a:ext cx="24481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200" u="none" cap="none" strike="noStrike">
                <a:solidFill>
                  <a:schemeClr val="dk2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Pour le 0.52 ?</a:t>
            </a:r>
            <a:endParaRPr b="0" i="1" sz="3200" u="none" cap="none" strike="noStrike">
              <a:solidFill>
                <a:schemeClr val="dk1"/>
              </a:solidFill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7342046" y="1981354"/>
            <a:ext cx="8787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0.8</a:t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7529477" y="2541517"/>
            <a:ext cx="46679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0</a:t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7324292" y="3044530"/>
            <a:ext cx="87716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0.9</a:t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7244263" y="3643321"/>
            <a:ext cx="107593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0.72</a:t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8299251" y="1823847"/>
            <a:ext cx="609600" cy="28511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60915" y="1938960"/>
            <a:ext cx="964827" cy="67723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/>
          <p:nvPr/>
        </p:nvSpPr>
        <p:spPr>
          <a:xfrm>
            <a:off x="8764736" y="1678668"/>
            <a:ext cx="3180768" cy="3197136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9211831" y="2715602"/>
            <a:ext cx="25458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=0.8.[0+0.9*0.72]</a:t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9256443" y="3183913"/>
            <a:ext cx="21691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=0.8.[0+0.648]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9270527" y="3669574"/>
            <a:ext cx="21691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=0.8.[0+0.648]</a:t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9353387" y="4114800"/>
            <a:ext cx="11352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=0.518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k=3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00 PM.png" id="318" name="Google Shape;3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455" y="857250"/>
            <a:ext cx="3079295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3539" y="1117600"/>
            <a:ext cx="514422" cy="34294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0" name="Google Shape;320;p17"/>
          <p:cNvSpPr/>
          <p:nvPr/>
        </p:nvSpPr>
        <p:spPr>
          <a:xfrm>
            <a:off x="1794102" y="383888"/>
            <a:ext cx="7841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200" u="none" cap="none" strike="noStrike">
                <a:solidFill>
                  <a:schemeClr val="dk2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k=2</a:t>
            </a:r>
            <a:endParaRPr b="0" i="1" sz="32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455" y="4968767"/>
            <a:ext cx="7087589" cy="771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0425" y="2120830"/>
            <a:ext cx="1428949" cy="49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9491" y="2733643"/>
            <a:ext cx="1381318" cy="457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9491" y="3307573"/>
            <a:ext cx="276264" cy="36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19491" y="3846632"/>
            <a:ext cx="943107" cy="6287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6" name="Google Shape;326;p17"/>
          <p:cNvCxnSpPr/>
          <p:nvPr/>
        </p:nvCxnSpPr>
        <p:spPr>
          <a:xfrm rot="10800000">
            <a:off x="5777009" y="2368514"/>
            <a:ext cx="1133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" name="Google Shape;327;p17"/>
          <p:cNvCxnSpPr/>
          <p:nvPr/>
        </p:nvCxnSpPr>
        <p:spPr>
          <a:xfrm rot="10800000">
            <a:off x="5777009" y="2987639"/>
            <a:ext cx="1133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8" name="Google Shape;328;p17"/>
          <p:cNvCxnSpPr/>
          <p:nvPr/>
        </p:nvCxnSpPr>
        <p:spPr>
          <a:xfrm rot="10800000">
            <a:off x="5710334" y="3488573"/>
            <a:ext cx="1133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17"/>
          <p:cNvCxnSpPr/>
          <p:nvPr/>
        </p:nvCxnSpPr>
        <p:spPr>
          <a:xfrm rot="10800000">
            <a:off x="5710334" y="4161001"/>
            <a:ext cx="1133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17"/>
          <p:cNvSpPr/>
          <p:nvPr/>
        </p:nvSpPr>
        <p:spPr>
          <a:xfrm>
            <a:off x="4200425" y="1259938"/>
            <a:ext cx="244810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200" u="none" cap="none" strike="noStrike">
                <a:solidFill>
                  <a:schemeClr val="dk2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Pour le 0.43 ?</a:t>
            </a:r>
            <a:endParaRPr b="0" i="1" sz="3200" u="none" cap="none" strike="noStrike">
              <a:solidFill>
                <a:schemeClr val="dk1"/>
              </a:solidFill>
              <a:highlight>
                <a:srgbClr val="00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7342046" y="1981354"/>
            <a:ext cx="8787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0.8</a:t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7529477" y="2541517"/>
            <a:ext cx="46679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0</a:t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7324292" y="3044530"/>
            <a:ext cx="87716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0.9</a:t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6990571" y="3786732"/>
            <a:ext cx="107593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0.72</a:t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8299251" y="1823847"/>
            <a:ext cx="609600" cy="28511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60915" y="1938960"/>
            <a:ext cx="964827" cy="67723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7"/>
          <p:cNvSpPr/>
          <p:nvPr/>
        </p:nvSpPr>
        <p:spPr>
          <a:xfrm>
            <a:off x="8764736" y="1678668"/>
            <a:ext cx="3180768" cy="3197136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9079584" y="2715602"/>
            <a:ext cx="281038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24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0.8.[0+0.9*0.72]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0.1 .[0+0.9*(-1)]</a:t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9571189" y="3679010"/>
            <a:ext cx="19223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=0.518 -0.09</a:t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9991945" y="4107667"/>
            <a:ext cx="11352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=0.428</a:t>
            </a:r>
            <a:endParaRPr/>
          </a:p>
        </p:txBody>
      </p:sp>
      <p:cxnSp>
        <p:nvCxnSpPr>
          <p:cNvPr id="341" name="Google Shape;341;p17"/>
          <p:cNvCxnSpPr/>
          <p:nvPr/>
        </p:nvCxnSpPr>
        <p:spPr>
          <a:xfrm rot="10800000">
            <a:off x="5781675" y="4274360"/>
            <a:ext cx="1033559" cy="2559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2" name="Google Shape;342;p17"/>
          <p:cNvSpPr/>
          <p:nvPr/>
        </p:nvSpPr>
        <p:spPr>
          <a:xfrm>
            <a:off x="7449456" y="4237048"/>
            <a:ext cx="49404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-1</a:t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7898328" y="3909842"/>
            <a:ext cx="14173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  <a:sym typeface="Arial"/>
              </a:rPr>
              <a:t>(en haut)</a:t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7870883" y="4414509"/>
            <a:ext cx="16578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(à </a:t>
            </a:r>
            <a:r>
              <a:rPr lang="en-US" sz="2400">
                <a:solidFill>
                  <a:schemeClr val="dk1"/>
                </a:solidFill>
                <a:highlight>
                  <a:srgbClr val="FFFF00"/>
                </a:highlight>
              </a:rPr>
              <a:t>droite</a:t>
            </a:r>
            <a:r>
              <a:rPr b="0" i="0" lang="en-US" sz="2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k=4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04 PM.png" id="352" name="Google Shape;3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900" y="1157098"/>
            <a:ext cx="6172200" cy="570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k=5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09 PM.png" id="360" name="Google Shape;3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2644" y="1143000"/>
            <a:ext cx="6186713" cy="57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k=6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13 PM.png" id="368" name="Google Shape;3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8972" y="1173166"/>
            <a:ext cx="6154057" cy="5684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k=7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19 PM.png" id="376" name="Google Shape;3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900" y="1148034"/>
            <a:ext cx="6172200" cy="570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k=8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25 PM.png" id="384" name="Google Shape;3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900" y="1175224"/>
            <a:ext cx="6172200" cy="56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k=9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28 PM.png" id="392" name="Google Shape;3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6198" y="1157224"/>
            <a:ext cx="6179605" cy="570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k=10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32 PM.png" id="400" name="Google Shape;4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7725" y="1143000"/>
            <a:ext cx="619655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k=11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37 PM.png" id="408" name="Google Shape;4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900" y="1138306"/>
            <a:ext cx="6172200" cy="5719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k=12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6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8.41 PM.png" id="416" name="Google Shape;41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7725" y="1143000"/>
            <a:ext cx="619655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k=100</a:t>
            </a:r>
            <a:endParaRPr b="0" i="0" sz="4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=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 = 0.9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Living reward = 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4-08-10 at 7.49.20 PM.png" id="424" name="Google Shape;42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746" y="1130418"/>
            <a:ext cx="6190508" cy="5727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Let’s write some code</a:t>
            </a:r>
            <a:endParaRPr/>
          </a:p>
        </p:txBody>
      </p:sp>
      <p:sp>
        <p:nvSpPr>
          <p:cNvPr id="431" name="Google Shape;431;p28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Gridworld Value Iteration Agent</a:t>
            </a:r>
            <a:endParaRPr/>
          </a:p>
        </p:txBody>
      </p:sp>
      <p:pic>
        <p:nvPicPr>
          <p:cNvPr descr="txp_fig" id="432" name="Google Shape;4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0809" y="2724050"/>
            <a:ext cx="3076881" cy="4052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33" name="Google Shape;43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0805" y="4108350"/>
            <a:ext cx="6950387" cy="690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34" name="Google Shape;43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7436" y="3366987"/>
            <a:ext cx="5556004" cy="593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haythem rehouma</dc:creator>
</cp:coreProperties>
</file>