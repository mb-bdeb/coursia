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jcHFaplfDoyGba4uyadUGE8a1F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710905" y="4862233"/>
            <a:ext cx="5677500" cy="46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 txBox="1"/>
          <p:nvPr>
            <p:ph idx="12" type="sldNum"/>
          </p:nvPr>
        </p:nvSpPr>
        <p:spPr>
          <a:xfrm>
            <a:off x="4020340" y="9722708"/>
            <a:ext cx="30774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4021138" y="972185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0" y="1044578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0" y="36576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1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1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3"/>
          <p:cNvSpPr txBox="1"/>
          <p:nvPr>
            <p:ph idx="2" type="body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457202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  <a:defRPr b="1" i="0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None/>
              <a:defRPr b="1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57202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9250" lvl="2" marL="13716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  <a:defRPr b="1" i="0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None/>
              <a:defRPr b="1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9250" lvl="2" marL="13716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16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 txBox="1"/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7"/>
          <p:cNvSpPr txBox="1"/>
          <p:nvPr>
            <p:ph idx="1" type="body"/>
          </p:nvPr>
        </p:nvSpPr>
        <p:spPr>
          <a:xfrm>
            <a:off x="3575051" y="273053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7"/>
          <p:cNvSpPr txBox="1"/>
          <p:nvPr>
            <p:ph idx="2" type="body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/>
          <p:nvPr>
            <p:ph type="title"/>
          </p:nvPr>
        </p:nvSpPr>
        <p:spPr>
          <a:xfrm>
            <a:off x="1792288" y="4800601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1792288" y="5367339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8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8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9"/>
          <p:cNvSpPr txBox="1"/>
          <p:nvPr>
            <p:ph idx="1" type="body"/>
          </p:nvPr>
        </p:nvSpPr>
        <p:spPr>
          <a:xfrm rot="5400000">
            <a:off x="3731418" y="-1928017"/>
            <a:ext cx="4729164" cy="11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9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9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 rot="5400000">
            <a:off x="4732337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541338" y="190503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/>
          <p:nvPr/>
        </p:nvSpPr>
        <p:spPr>
          <a:xfrm>
            <a:off x="0" y="1031242"/>
            <a:ext cx="12192000" cy="60959"/>
          </a:xfrm>
          <a:prstGeom prst="rect">
            <a:avLst/>
          </a:prstGeom>
          <a:gradFill>
            <a:gsLst>
              <a:gs pos="0">
                <a:srgbClr val="0000CC"/>
              </a:gs>
              <a:gs pos="100000">
                <a:schemeClr val="dk1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 txBox="1"/>
          <p:nvPr>
            <p:ph idx="1" type="subTitle"/>
          </p:nvPr>
        </p:nvSpPr>
        <p:spPr>
          <a:xfrm>
            <a:off x="0" y="36576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4800"/>
              <a:t>Q-Learning</a:t>
            </a:r>
            <a:br>
              <a:rPr lang="en-US" sz="4800"/>
            </a:br>
            <a:r>
              <a:rPr lang="en-US" sz="2500"/>
              <a:t>(slides from Berkeley CS188)</a:t>
            </a: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Reinforcement Learning</a:t>
            </a:r>
            <a:endParaRPr/>
          </a:p>
        </p:txBody>
      </p:sp>
      <p:sp>
        <p:nvSpPr>
          <p:cNvPr id="84" name="Google Shape;84;p2"/>
          <p:cNvSpPr txBox="1"/>
          <p:nvPr>
            <p:ph idx="1" type="body"/>
          </p:nvPr>
        </p:nvSpPr>
        <p:spPr>
          <a:xfrm>
            <a:off x="457200" y="1417637"/>
            <a:ext cx="110490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Still assume a Markov decision process (MDP):</a:t>
            </a:r>
            <a:endParaRPr/>
          </a:p>
          <a:p>
            <a:pPr indent="-285736" lvl="1" marL="742913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set of states s ∈ S</a:t>
            </a:r>
            <a:endParaRPr/>
          </a:p>
          <a:p>
            <a:pPr indent="-285736" lvl="1" marL="742913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set of actions (per state) A</a:t>
            </a:r>
            <a:endParaRPr/>
          </a:p>
          <a:p>
            <a:pPr indent="-285736" lvl="1" marL="742913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model T(s,a,s’)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reward function R(s,a,s’)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Still looking for a policy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π(s)</a:t>
            </a:r>
            <a:endParaRPr/>
          </a:p>
          <a:p>
            <a:pPr indent="-158736" lvl="1" marL="74291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New twist: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don’t know T or R</a:t>
            </a:r>
            <a:endParaRPr/>
          </a:p>
          <a:p>
            <a:pPr indent="-285736" lvl="1" marL="742913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 we don’t know which states are good or what the actions do</a:t>
            </a:r>
            <a:endParaRPr/>
          </a:p>
          <a:p>
            <a:pPr indent="-285736" lvl="1" marL="742913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actually try actions and states out to learn</a:t>
            </a:r>
            <a:endParaRPr/>
          </a:p>
        </p:txBody>
      </p:sp>
      <p:pic>
        <p:nvPicPr>
          <p:cNvPr id="85" name="Google Shape;8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3975" y="1950225"/>
            <a:ext cx="3815345" cy="29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3309" y="1951667"/>
            <a:ext cx="3767366" cy="2713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06672" y="4093028"/>
            <a:ext cx="388001" cy="207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6669" y="4084245"/>
            <a:ext cx="432485" cy="185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54004" y="3243571"/>
            <a:ext cx="367737" cy="662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Dan\Dropbox\Office\CS 188\Ketrina Art\MDPs\AgentTopDown.png" id="90" name="Google Shape;9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79201" y="3825576"/>
            <a:ext cx="692138" cy="646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Offline (MDPs) vs. Online (RL)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9176" y="2667000"/>
            <a:ext cx="454175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48180"/>
            <a:ext cx="4770142" cy="35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/>
        </p:nvSpPr>
        <p:spPr>
          <a:xfrm>
            <a:off x="1645942" y="5358825"/>
            <a:ext cx="3048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Offline Solution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7467600" y="5358825"/>
            <a:ext cx="3048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Online Learning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Active Reinforcement Learning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268" y="1447800"/>
            <a:ext cx="454175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4807" y="2365131"/>
            <a:ext cx="4805638" cy="2816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6192" y="4038600"/>
            <a:ext cx="4338616" cy="2263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Active Reinforcement Learning</a:t>
            </a: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228600" y="1371600"/>
            <a:ext cx="10210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Full reinforcement learning: optimal policies (like value iteration)</a:t>
            </a:r>
            <a:endParaRPr/>
          </a:p>
          <a:p>
            <a:pPr indent="-285736" lvl="1" marL="7429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don’t know the transitions T(s,a,s’)</a:t>
            </a:r>
            <a:endParaRPr/>
          </a:p>
          <a:p>
            <a:pPr indent="-285736" lvl="1" marL="7429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don’t know the rewards R(s,a,s’)</a:t>
            </a:r>
            <a:endParaRPr/>
          </a:p>
          <a:p>
            <a:pPr indent="-285736" lvl="1" marL="7429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choose the actions now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Goal: learn the optimal policy / values</a:t>
            </a:r>
            <a:endParaRPr/>
          </a:p>
          <a:p>
            <a:pPr indent="-133336" lvl="1" marL="7429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 this case:</a:t>
            </a:r>
            <a:endParaRPr/>
          </a:p>
          <a:p>
            <a:pPr indent="-285736" lvl="1" marL="7429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Learner makes choices!</a:t>
            </a:r>
            <a:endParaRPr/>
          </a:p>
          <a:p>
            <a:pPr indent="-285736" lvl="1" marL="7429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Fundamental tradeoff: exploration vs. exploitation</a:t>
            </a:r>
            <a:endParaRPr/>
          </a:p>
          <a:p>
            <a:pPr indent="-285736" lvl="1" marL="7429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NOT offline planning!  You actually take actions in the world and find out what happens…</a:t>
            </a:r>
            <a:endParaRPr/>
          </a:p>
        </p:txBody>
      </p:sp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5228" y="2133600"/>
            <a:ext cx="4239685" cy="2049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Q-Learning Al</a:t>
            </a:r>
            <a:r>
              <a:rPr lang="en-US"/>
              <a:t>gorithm</a:t>
            </a:r>
            <a:endParaRPr/>
          </a:p>
        </p:txBody>
      </p:sp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6299" y="1242625"/>
            <a:ext cx="8419400" cy="45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8471450" y="2080675"/>
            <a:ext cx="3627600" cy="479100"/>
          </a:xfrm>
          <a:prstGeom prst="wedgeRectCallout">
            <a:avLst>
              <a:gd fmla="val -36366" name="adj1"/>
              <a:gd fmla="val 164287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must explore in first episodes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543925" y="5136900"/>
            <a:ext cx="3627600" cy="479100"/>
          </a:xfrm>
          <a:prstGeom prst="wedgeRectCallout">
            <a:avLst>
              <a:gd fmla="val -15285" name="adj1"/>
              <a:gd fmla="val -123435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066275" y="4171300"/>
            <a:ext cx="6981300" cy="58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Q(s,a) </a:t>
            </a:r>
            <a:r>
              <a:rPr b="0" i="0" lang="en-US" sz="2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← (1 - α) Q(s,a) + </a:t>
            </a:r>
            <a:r>
              <a:rPr b="0" i="0" lang="en-US" sz="2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α [r + 𝛾 max</a:t>
            </a:r>
            <a:r>
              <a:rPr b="0" baseline="-25000" i="0" lang="en-US" sz="2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a’</a:t>
            </a:r>
            <a:r>
              <a:rPr b="0" i="0" lang="en-US" sz="2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Q(s’,a’)]</a:t>
            </a:r>
            <a:r>
              <a:rPr b="0" i="0" lang="en-US" sz="2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Q-Learning Properties</a:t>
            </a:r>
            <a:endParaRPr/>
          </a:p>
        </p:txBody>
      </p:sp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457200" y="1371600"/>
            <a:ext cx="95250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Amazing result: Q-learning converges to optimal policy -- even if you’re acting suboptimally!</a:t>
            </a:r>
            <a:endParaRPr/>
          </a:p>
          <a:p>
            <a:pPr indent="-101588" lvl="2" marL="114294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This is called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off-policy learning</a:t>
            </a:r>
            <a:endParaRPr/>
          </a:p>
          <a:p>
            <a:pPr indent="-101588" lvl="2" marL="114294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Caveats:</a:t>
            </a:r>
            <a:endParaRPr/>
          </a:p>
          <a:p>
            <a:pPr indent="-285736" lvl="1" marL="742913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have to explore enough</a:t>
            </a:r>
            <a:endParaRPr/>
          </a:p>
          <a:p>
            <a:pPr indent="-285736" lvl="1" marL="742913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have to eventually make the learning rate</a:t>
            </a:r>
            <a:endParaRPr/>
          </a:p>
          <a:p>
            <a:pPr indent="-285736" lvl="1" marL="742913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small enough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2042" y="2667000"/>
            <a:ext cx="3884915" cy="27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Let’s see a demo</a:t>
            </a:r>
            <a:endParaRPr/>
          </a:p>
        </p:txBody>
      </p:sp>
      <p:sp>
        <p:nvSpPr>
          <p:cNvPr id="137" name="Google Shape;137;p8"/>
          <p:cNvSpPr txBox="1"/>
          <p:nvPr>
            <p:ph idx="1" type="body"/>
          </p:nvPr>
        </p:nvSpPr>
        <p:spPr>
          <a:xfrm>
            <a:off x="406400" y="1397001"/>
            <a:ext cx="113793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/>
              <a:t>OpenAI: Mountain Car Environment</a:t>
            </a:r>
            <a:endParaRPr/>
          </a:p>
        </p:txBody>
      </p:sp>
      <p:pic>
        <p:nvPicPr>
          <p:cNvPr id="138" name="Google Shape;1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0" y="2316200"/>
            <a:ext cx="5715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haythem rehouma</dc:creator>
</cp:coreProperties>
</file>