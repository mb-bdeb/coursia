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1" r:id="rId28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orbel" panose="020B0503020204020204" pitchFamily="34" charset="0"/>
      <p:regular r:id="rId34"/>
      <p:bold r:id="rId35"/>
      <p:italic r:id="rId36"/>
      <p:boldItalic r:id="rId37"/>
    </p:embeddedFont>
    <p:embeddedFont>
      <p:font typeface="Quattrocento Sans" panose="020B0502050000020003" pitchFamily="34" charset="0"/>
      <p:regular r:id="rId38"/>
      <p:bold r:id="rId39"/>
      <p:italic r:id="rId40"/>
      <p:boldItalic r:id="rId41"/>
    </p:embeddedFont>
    <p:embeddedFont>
      <p:font typeface="Rockwell" panose="02060603020205020403" pitchFamily="18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iFiPbM8G07LKphYuh82WVQ5zYe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327204-BC57-4FBC-8941-96FF1A1090DB}">
  <a:tblStyle styleId="{51327204-BC57-4FBC-8941-96FF1A1090DB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AEEFF"/>
          </a:solidFill>
        </a:fill>
      </a:tcStyle>
    </a:wholeTbl>
    <a:band1H>
      <a:tcTxStyle/>
      <a:tcStyle>
        <a:tcBdr/>
        <a:fill>
          <a:solidFill>
            <a:srgbClr val="D1DBF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1DBF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18" y="-24"/>
      </p:cViewPr>
      <p:guideLst>
        <p:guide orient="horz" pos="2160"/>
        <p:guide pos="384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8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70C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5" name="Google Shape;15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sz="3200" b="0" i="0" u="none" strike="noStrike" cap="non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28" descr="Résultats de recherche d'images pour « java logo »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8" descr="Résultats de recherche d'images pour « java logo »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8" descr="Résultats de recherche d'images pour « java logo »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8" descr="Résultats de recherche d'images pour « java logo »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0" y="-1"/>
            <a:ext cx="9144000" cy="2130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0070C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body" idx="1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  <a:defRPr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Char char="–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/>
          <p:nvPr/>
        </p:nvSpPr>
        <p:spPr>
          <a:xfrm>
            <a:off x="1" y="6496050"/>
            <a:ext cx="9144000" cy="3635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7"/>
          <p:cNvSpPr/>
          <p:nvPr/>
        </p:nvSpPr>
        <p:spPr>
          <a:xfrm>
            <a:off x="1" y="6524626"/>
            <a:ext cx="530225" cy="582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‹N°›</a:t>
            </a:fld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7"/>
          <p:cNvSpPr/>
          <p:nvPr/>
        </p:nvSpPr>
        <p:spPr>
          <a:xfrm>
            <a:off x="481013" y="6464302"/>
            <a:ext cx="8662987" cy="582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ckwell"/>
              <a:buNone/>
            </a:pPr>
            <a:r>
              <a:rPr lang="fr-CA" sz="1600" b="0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14/05/2021    Collecte et stockage des données 420-A53-BB</a:t>
            </a:r>
            <a:r>
              <a:rPr lang="fr-CA" sz="1600" b="1" i="0" u="none" strike="noStrike" cap="non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 – Hafed Benteftifa</a:t>
            </a:r>
            <a:endParaRPr sz="1600" b="1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gasm.com/introduction-to-scrapy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analyticsvidhya.com/blog/2017/07/web-scraping-in-python-using-scrapy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43440397/requests-using-beautiful-soup-gets-blocked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bot.html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yticsvidhya.com/blog/2017/07/web-scraping-in-python-using-scrapy/" TargetMode="External"/><Relationship Id="rId2" Type="http://schemas.openxmlformats.org/officeDocument/2006/relationships/hyperlink" Target="https://www.pythongasm.com/introduction-to-scrapy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420-D05</a:t>
            </a:r>
            <a:br>
              <a:rPr lang="fr-CA"/>
            </a:br>
            <a:r>
              <a:rPr lang="fr-CA"/>
              <a:t> Collecte et stockage de données</a:t>
            </a:r>
            <a:endParaRPr/>
          </a:p>
        </p:txBody>
      </p:sp>
      <p:sp>
        <p:nvSpPr>
          <p:cNvPr id="29" name="Google Shape;29;p1"/>
          <p:cNvSpPr txBox="1">
            <a:spLocks noGrp="1"/>
          </p:cNvSpPr>
          <p:nvPr>
            <p:ph type="subTitle" idx="1"/>
          </p:nvPr>
        </p:nvSpPr>
        <p:spPr>
          <a:xfrm>
            <a:off x="1371600" y="458112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</a:pPr>
            <a:r>
              <a:rPr lang="fr-CA"/>
              <a:t>Web scraping</a:t>
            </a:r>
            <a:endParaRPr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Agenda</a:t>
            </a:r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body" idx="1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Dans cette présentation, on aborde le concept :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Web scraping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Processus de web scraping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 txBox="1"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Principe</a:t>
            </a:r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body" idx="1"/>
          </p:nvPr>
        </p:nvSpPr>
        <p:spPr>
          <a:xfrm>
            <a:off x="141515" y="893710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7625" lvl="0" indent="-47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Font typeface="Corbel"/>
              <a:buChar char="•"/>
            </a:pPr>
            <a:r>
              <a:rPr lang="fr-CA"/>
              <a:t>On a besoin de données mais qui ne sont pas disponibles directement</a:t>
            </a:r>
            <a:endParaRPr/>
          </a:p>
          <a:p>
            <a:pPr marL="447675" lvl="1" indent="-285750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Elles sont partiellement disponibles mais à travers des sites web</a:t>
            </a:r>
            <a:endParaRPr/>
          </a:p>
          <a:p>
            <a:pPr marL="447675" lvl="1" indent="-285750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L’accès au site web est public et les données peuvent être récupérées en partie</a:t>
            </a:r>
            <a:endParaRPr/>
          </a:p>
          <a:p>
            <a:pPr marL="847725" lvl="2" indent="-228600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Char char="•"/>
            </a:pPr>
            <a:r>
              <a:rPr lang="fr-CA"/>
              <a:t>Selon une planification et une autorisation du propriétaire du site</a:t>
            </a:r>
            <a:endParaRPr/>
          </a:p>
          <a:p>
            <a:pPr marL="847725" lvl="2" indent="-228600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Char char="•"/>
            </a:pPr>
            <a:r>
              <a:rPr lang="fr-CA"/>
              <a:t>Pour une utilisation non commerciale</a:t>
            </a:r>
            <a:endParaRPr/>
          </a:p>
          <a:p>
            <a:pPr marL="847725" lvl="2" indent="-228600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Char char="•"/>
            </a:pPr>
            <a:r>
              <a:rPr lang="fr-CA"/>
              <a:t>D’autres paramètres à évaluer selon les termes et conditions du propriétaire</a:t>
            </a:r>
            <a:endParaRPr/>
          </a:p>
          <a:p>
            <a:pPr marL="447675" lvl="1" indent="-285750" algn="l" rtl="0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Des données semblables ne sont pas accessibles à travers d’autres sources de données</a:t>
            </a:r>
            <a:endParaRPr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Web scraping</a:t>
            </a:r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Processus qui permet de récupérer des données à partir d’un site web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Fait appel à deux techniques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Connexion sur un site web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Parcours de l’arborescence HTML du site pour relever des données spécifiques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Fait appel aux balises HTML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Web scraping avec python</a:t>
            </a:r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Module de connexion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Module requests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Modules de scraping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Beautiful soup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Scrapy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Éléments à scraper</a:t>
            </a:r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body" idx="1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À travers notre code, on fait un appel GET vers le serveur web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Celui-ci renvoie une réponse (fichiers) qui seront utilisés par le fureteur pour afficher la page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HTML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CSS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JS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Images</a:t>
            </a:r>
            <a:endParaRPr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Objectif du scraping: HTML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Structure page HTML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3600"/>
              <a:t>Squelette d’un document HTML</a:t>
            </a:r>
            <a:endParaRPr sz="3600"/>
          </a:p>
        </p:txBody>
      </p:sp>
      <p:sp>
        <p:nvSpPr>
          <p:cNvPr id="70" name="Google Shape;70;p8"/>
          <p:cNvSpPr txBox="1">
            <a:spLocks noGrp="1"/>
          </p:cNvSpPr>
          <p:nvPr>
            <p:ph type="body" idx="1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fr-CA" sz="2400">
                <a:solidFill>
                  <a:srgbClr val="E9220D"/>
                </a:solidFill>
              </a:rPr>
              <a:t>&lt;html&gt;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fr-CA" sz="2400"/>
              <a:t>	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fr-CA" sz="2400"/>
              <a:t>	</a:t>
            </a:r>
            <a:r>
              <a:rPr lang="fr-CA" sz="2400">
                <a:solidFill>
                  <a:schemeClr val="hlink"/>
                </a:solidFill>
              </a:rPr>
              <a:t>&lt;head&gt;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fr-CA" sz="2400">
                <a:solidFill>
                  <a:schemeClr val="hlink"/>
                </a:solidFill>
              </a:rPr>
              <a:t>		</a:t>
            </a:r>
            <a:r>
              <a:rPr lang="fr-CA" sz="2400"/>
              <a:t>&lt;!-- En-tête (note : Ceci est un commentaire) --&gt;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fr-CA" sz="2400">
                <a:solidFill>
                  <a:schemeClr val="hlink"/>
                </a:solidFill>
              </a:rPr>
              <a:t>	&lt;/head&gt;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fr-CA" sz="2400"/>
              <a:t>	</a:t>
            </a:r>
            <a:r>
              <a:rPr lang="fr-CA" sz="2400">
                <a:solidFill>
                  <a:schemeClr val="accent2"/>
                </a:solidFill>
              </a:rPr>
              <a:t>&lt;body&gt;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fr-CA" sz="2400">
                <a:solidFill>
                  <a:schemeClr val="accent2"/>
                </a:solidFill>
              </a:rPr>
              <a:t>		</a:t>
            </a:r>
            <a:r>
              <a:rPr lang="fr-CA" sz="2400"/>
              <a:t>&lt;!-- Corps du document --&gt;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fr-CA" sz="2400">
                <a:solidFill>
                  <a:schemeClr val="accent2"/>
                </a:solidFill>
              </a:rPr>
              <a:t>	&lt;/body&gt;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None/>
            </a:pPr>
            <a:endParaRPr sz="2400">
              <a:solidFill>
                <a:schemeClr val="accent2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fr-CA" sz="2400">
                <a:solidFill>
                  <a:srgbClr val="E9220D"/>
                </a:solidFill>
              </a:rPr>
              <a:t>&lt;/html&gt;</a:t>
            </a:r>
            <a:endParaRPr sz="2400"/>
          </a:p>
        </p:txBody>
      </p:sp>
      <p:sp>
        <p:nvSpPr>
          <p:cNvPr id="71" name="Google Shape;71;p8"/>
          <p:cNvSpPr/>
          <p:nvPr/>
        </p:nvSpPr>
        <p:spPr>
          <a:xfrm>
            <a:off x="4800600" y="4724400"/>
            <a:ext cx="3429000" cy="1219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38178" y="-23354"/>
                </a:lnTo>
              </a:path>
            </a:pathLst>
          </a:cu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 corps du document contient les informations qui seront affichées par le fureteur,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ainsi que les commandes de mise en forme (texte ou autres).</a:t>
            </a:r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4572000" y="620688"/>
            <a:ext cx="4191000" cy="163935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42080" y="142088"/>
                </a:lnTo>
              </a:path>
            </a:pathLst>
          </a:custGeom>
          <a:solidFill>
            <a:schemeClr val="accen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L’en-tête (header) est destinée à contenir des informations relatives à l’auteur du document et la nature de son contenu. Ces informations ne sont pas affichées par le fureteur,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mais peuvent être utilisées par les moteurs de recherche (SEO). Les liens externes sont en général placés ici.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Exemple:</a:t>
            </a:r>
            <a:endParaRPr/>
          </a:p>
        </p:txBody>
      </p:sp>
      <p:sp>
        <p:nvSpPr>
          <p:cNvPr id="78" name="Google Shape;78;p9"/>
          <p:cNvSpPr/>
          <p:nvPr/>
        </p:nvSpPr>
        <p:spPr>
          <a:xfrm rot="10800000" flipH="1">
            <a:off x="5486400" y="2209800"/>
            <a:ext cx="990600" cy="1219200"/>
          </a:xfrm>
          <a:prstGeom prst="bentUpArrow">
            <a:avLst>
              <a:gd name="adj1" fmla="val 25000"/>
              <a:gd name="adj2" fmla="val 25000"/>
              <a:gd name="adj3" fmla="val 25000"/>
            </a:avLst>
          </a:prstGeom>
          <a:solidFill>
            <a:schemeClr val="accent1"/>
          </a:solidFill>
          <a:ln w="25400" cap="flat" cmpd="sng">
            <a:solidFill>
              <a:srgbClr val="4668B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9"/>
          <p:cNvSpPr txBox="1"/>
          <p:nvPr/>
        </p:nvSpPr>
        <p:spPr>
          <a:xfrm>
            <a:off x="533400" y="4419600"/>
            <a:ext cx="43434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fureteur interprète les balises et fait un rendu qui sera affiché</a:t>
            </a:r>
            <a:endParaRPr/>
          </a:p>
          <a:p>
            <a:pPr marL="273050" marR="0" lvl="1" indent="0" algn="l" rtl="0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73050" marR="0" lvl="1" indent="0" algn="l" rtl="0">
              <a:spcBef>
                <a:spcPts val="375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1619250"/>
            <a:ext cx="550545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87441" y="3600450"/>
            <a:ext cx="542925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3600"/>
              <a:t>Éléments, balises et attributs</a:t>
            </a:r>
            <a:endParaRPr/>
          </a:p>
        </p:txBody>
      </p:sp>
      <p:sp>
        <p:nvSpPr>
          <p:cNvPr id="87" name="Google Shape;87;p10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77724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240"/>
              <a:buFont typeface="Corbel"/>
              <a:buChar char="•"/>
            </a:pPr>
            <a:r>
              <a:rPr lang="fr-CA"/>
              <a:t>Élément : nom, notion abstraite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Exemple : &lt;p&gt;Mon paragraphe&lt;/p&gt;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240"/>
              <a:buFont typeface="Corbel"/>
              <a:buChar char="•"/>
            </a:pPr>
            <a:r>
              <a:rPr lang="fr-CA"/>
              <a:t>Balise : forme concrète d’un élément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Exemple : la balise ouvrante &lt;p&gt;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Exemple : la balise fermante &lt;/p&gt;</a:t>
            </a:r>
            <a:endParaRPr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240"/>
              <a:buFont typeface="Corbel"/>
              <a:buChar char="•"/>
            </a:pPr>
            <a:r>
              <a:rPr lang="fr-CA"/>
              <a:t>Attribut : propriété d’un élément (nom, valeur)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rPr lang="fr-CA"/>
              <a:t>			&lt;body bgcolor=" red"&gt;</a:t>
            </a:r>
            <a:endParaRPr/>
          </a:p>
        </p:txBody>
      </p:sp>
      <p:sp>
        <p:nvSpPr>
          <p:cNvPr id="88" name="Google Shape;88;p10"/>
          <p:cNvSpPr txBox="1"/>
          <p:nvPr/>
        </p:nvSpPr>
        <p:spPr>
          <a:xfrm>
            <a:off x="1752600" y="5653088"/>
            <a:ext cx="2379663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 de l’attribut</a:t>
            </a:r>
            <a:endParaRPr/>
          </a:p>
        </p:txBody>
      </p:sp>
      <p:sp>
        <p:nvSpPr>
          <p:cNvPr id="89" name="Google Shape;89;p10"/>
          <p:cNvSpPr txBox="1"/>
          <p:nvPr/>
        </p:nvSpPr>
        <p:spPr>
          <a:xfrm>
            <a:off x="6034088" y="5653088"/>
            <a:ext cx="2586037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Valeur de l’attribut</a:t>
            </a:r>
            <a:endParaRPr/>
          </a:p>
        </p:txBody>
      </p:sp>
      <p:cxnSp>
        <p:nvCxnSpPr>
          <p:cNvPr id="90" name="Google Shape;90;p10"/>
          <p:cNvCxnSpPr/>
          <p:nvPr/>
        </p:nvCxnSpPr>
        <p:spPr>
          <a:xfrm rot="10800000" flipH="1">
            <a:off x="2743200" y="5486400"/>
            <a:ext cx="1219200" cy="2286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91" name="Google Shape;91;p10"/>
          <p:cNvCxnSpPr/>
          <p:nvPr/>
        </p:nvCxnSpPr>
        <p:spPr>
          <a:xfrm rot="10800000">
            <a:off x="5867400" y="5486400"/>
            <a:ext cx="838200" cy="22860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3600"/>
              <a:t>Attributs</a:t>
            </a:r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77724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240"/>
              <a:buFont typeface="Corbel"/>
              <a:buChar char="•"/>
            </a:pPr>
            <a:r>
              <a:rPr lang="fr-CA"/>
              <a:t>Chaque élément contient un certain nombre d’attributs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Chaque attribut est défini par une paire nom/valeur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Exemple: &lt;div class="nav"&gt;&lt;/div&gt;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240"/>
              <a:buFont typeface="Corbel"/>
              <a:buChar char="•"/>
            </a:pPr>
            <a:r>
              <a:rPr lang="fr-CA"/>
              <a:t>Attributs standards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/>
          </a:p>
        </p:txBody>
      </p:sp>
      <p:graphicFrame>
        <p:nvGraphicFramePr>
          <p:cNvPr id="98" name="Google Shape;98;p11"/>
          <p:cNvGraphicFramePr/>
          <p:nvPr>
            <p:extLst>
              <p:ext uri="{D42A27DB-BD31-4B8C-83A1-F6EECF244321}">
                <p14:modId xmlns:p14="http://schemas.microsoft.com/office/powerpoint/2010/main" val="862645868"/>
              </p:ext>
            </p:extLst>
          </p:nvPr>
        </p:nvGraphicFramePr>
        <p:xfrm>
          <a:off x="1371600" y="4191000"/>
          <a:ext cx="6781800" cy="2124075"/>
        </p:xfrm>
        <a:graphic>
          <a:graphicData uri="http://schemas.openxmlformats.org/drawingml/2006/table">
            <a:tbl>
              <a:tblPr firstRow="1" bandRow="1">
                <a:noFill/>
                <a:tableStyleId>{51327204-BC57-4FBC-8941-96FF1A1090DB}</a:tableStyleId>
              </a:tblPr>
              <a:tblGrid>
                <a:gridCol w="12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800" u="none" strike="noStrike" cap="none"/>
                        <a:t>Attribut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800"/>
                        <a:t>Valeur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800"/>
                        <a:t>Description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800"/>
                        <a:t>id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800"/>
                        <a:t>Valeur id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800"/>
                        <a:t>Définit l’ID unique de l’élément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800"/>
                        <a:t>class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800"/>
                        <a:t>Nom de la classe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800"/>
                        <a:t>Définit le nom de la classe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800"/>
                        <a:t>style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800"/>
                        <a:t>Definition de style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800"/>
                        <a:t>Spécifie un style inline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800"/>
                        <a:t>title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800"/>
                        <a:t>Titre de la bulle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CA" sz="1800"/>
                        <a:t>Information affichable comme tooltip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"/>
          <p:cNvSpPr txBox="1"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Corps du document</a:t>
            </a:r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body" idx="1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240"/>
              <a:buFont typeface="Corbel"/>
              <a:buChar char="•"/>
            </a:pPr>
            <a:r>
              <a:rPr lang="fr-CA"/>
              <a:t>Commence avec la balise &lt;body&gt; et se termine avec la balise &lt;/body&gt;.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240"/>
              <a:buFont typeface="Corbel"/>
              <a:buChar char="•"/>
            </a:pPr>
            <a:r>
              <a:rPr lang="fr-CA"/>
              <a:t>Contient: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Char char="•"/>
            </a:pPr>
            <a:r>
              <a:rPr lang="fr-CA"/>
              <a:t>Titres (headings): &lt;h1&gt;, &lt;h2&gt;, …, &lt;h6&gt;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Char char="•"/>
            </a:pPr>
            <a:r>
              <a:rPr lang="fr-CA"/>
              <a:t>Paragraphes (séparés entre eux par un espace):</a:t>
            </a:r>
            <a:endParaRPr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Char char="•"/>
            </a:pPr>
            <a:r>
              <a:rPr lang="fr-CA"/>
              <a:t>&lt;p&gt; mon paragraphe &lt;/p&gt;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Char char="•"/>
            </a:pPr>
            <a:r>
              <a:rPr lang="fr-CA"/>
              <a:t>Séparateurs</a:t>
            </a:r>
            <a:endParaRPr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Char char="•"/>
            </a:pPr>
            <a:r>
              <a:rPr lang="fr-CA"/>
              <a:t>Retour à la ligne (sans espace) : &lt;br&gt;</a:t>
            </a:r>
            <a:endParaRPr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Char char="•"/>
            </a:pPr>
            <a:r>
              <a:rPr lang="fr-CA"/>
              <a:t>Ligne horizontale : &lt;hr&gt;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240"/>
              <a:buFont typeface="Corbel"/>
              <a:buChar char="•"/>
            </a:pPr>
            <a:r>
              <a:rPr lang="fr-CA"/>
              <a:t>Autres balises</a:t>
            </a:r>
            <a:endParaRPr/>
          </a:p>
          <a:p>
            <a:pPr marL="742950" lvl="1" indent="-1333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 txBox="1"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Textes prédéfinis</a:t>
            </a:r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body" idx="1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Font typeface="Corbel"/>
              <a:buChar char="•"/>
            </a:pPr>
            <a:r>
              <a:rPr lang="fr-CA" sz="2000"/>
              <a:t>Adresse</a:t>
            </a:r>
            <a:endParaRPr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</a:pPr>
            <a:r>
              <a:rPr lang="fr-CA" sz="1800"/>
              <a:t>Exemple : &lt;adress&gt;14 rue des pins&lt;/adress&gt;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SzPts val="1600"/>
              <a:buFont typeface="Corbel"/>
              <a:buChar char="•"/>
            </a:pPr>
            <a:r>
              <a:rPr lang="fr-CA" sz="2000"/>
              <a:t>Citation</a:t>
            </a:r>
            <a:endParaRPr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</a:pPr>
            <a:r>
              <a:rPr lang="fr-CA" sz="1800"/>
              <a:t>Exemple : &lt;blockquote&gt;Apprenez que tous flatteur vit au dépens de celui qui l’écoute !&lt;/blockquote&gt;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SzPts val="1600"/>
              <a:buFont typeface="Corbel"/>
              <a:buChar char="•"/>
            </a:pPr>
            <a:r>
              <a:rPr lang="fr-CA" sz="2000"/>
              <a:t>Caractères gras : &lt;strong&gt; … &lt;/strong&gt; ou &lt;b&gt; … &lt;/b&gt;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SzPts val="1600"/>
              <a:buFont typeface="Corbel"/>
              <a:buChar char="•"/>
            </a:pPr>
            <a:r>
              <a:rPr lang="fr-CA" sz="2000"/>
              <a:t>Caractères italiques : &lt;em&gt; … &lt;/em&gt; ou &lt;i&gt; … &lt;/i&gt;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SzPts val="1600"/>
              <a:buFont typeface="Corbel"/>
              <a:buChar char="•"/>
            </a:pPr>
            <a:r>
              <a:rPr lang="fr-CA" sz="2000"/>
              <a:t>Police « machine à écrire » : &lt;code&gt; … &lt;/code&gt;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SzPts val="1600"/>
              <a:buFont typeface="Corbel"/>
              <a:buChar char="•"/>
            </a:pPr>
            <a:r>
              <a:rPr lang="fr-CA" sz="2000"/>
              <a:t>En indice : &lt;sub&gt; … &lt;/sub&gt;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SzPts val="1600"/>
              <a:buFont typeface="Corbel"/>
              <a:buChar char="•"/>
            </a:pPr>
            <a:r>
              <a:rPr lang="fr-CA" sz="2000"/>
              <a:t>En exposant : &lt;sup&gt; … &lt;/sup&gt;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83820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Liens hypertextes</a:t>
            </a:r>
            <a:endParaRPr/>
          </a:p>
        </p:txBody>
      </p:sp>
      <p:sp>
        <p:nvSpPr>
          <p:cNvPr id="116" name="Google Shape;116;p14"/>
          <p:cNvSpPr txBox="1">
            <a:spLocks noGrp="1"/>
          </p:cNvSpPr>
          <p:nvPr>
            <p:ph type="body" idx="1"/>
          </p:nvPr>
        </p:nvSpPr>
        <p:spPr>
          <a:xfrm>
            <a:off x="914400" y="14478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600"/>
              <a:buFont typeface="Corbel"/>
              <a:buChar char="•"/>
            </a:pPr>
            <a:r>
              <a:rPr lang="fr-CA" sz="2000"/>
              <a:t>Forme générale : &lt;a href= " adresse URL"&gt;Mon lien super&lt;/a&gt;</a:t>
            </a:r>
            <a:endParaRPr/>
          </a:p>
          <a:p>
            <a:pPr marL="342900" lvl="0" indent="-241300" algn="l" rtl="0">
              <a:spcBef>
                <a:spcPts val="400"/>
              </a:spcBef>
              <a:spcAft>
                <a:spcPts val="0"/>
              </a:spcAft>
              <a:buSzPts val="1600"/>
              <a:buFont typeface="Corbel"/>
              <a:buNone/>
            </a:pPr>
            <a:endParaRPr sz="200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SzPts val="1600"/>
              <a:buFont typeface="Corbel"/>
              <a:buChar char="•"/>
            </a:pPr>
            <a:r>
              <a:rPr lang="fr-CA" sz="2000"/>
              <a:t>Adresse URL : (Uniform Ressource Locator) permet de faire référence de manière unique à un document</a:t>
            </a:r>
            <a:endParaRPr/>
          </a:p>
          <a:p>
            <a:pPr marL="342900" lvl="0" indent="-241300" algn="l" rtl="0">
              <a:spcBef>
                <a:spcPts val="400"/>
              </a:spcBef>
              <a:spcAft>
                <a:spcPts val="0"/>
              </a:spcAft>
              <a:buSzPts val="1600"/>
              <a:buFont typeface="Corbel"/>
              <a:buNone/>
            </a:pPr>
            <a:endParaRPr sz="200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SzPts val="1600"/>
              <a:buFont typeface="Corbel"/>
              <a:buChar char="•"/>
            </a:pPr>
            <a:r>
              <a:rPr lang="fr-CA" sz="2000"/>
              <a:t>URL absolue (adresse complète)</a:t>
            </a:r>
            <a:endParaRPr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</a:pPr>
            <a:r>
              <a:rPr lang="fr-CA" sz="1800"/>
              <a:t>Exemples : 	http://www.bdeb.qc.ca</a:t>
            </a:r>
            <a:endParaRPr/>
          </a:p>
          <a:p>
            <a:pPr marL="742950" lvl="1" indent="-1714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SzPts val="1600"/>
              <a:buFont typeface="Corbel"/>
              <a:buChar char="•"/>
            </a:pPr>
            <a:r>
              <a:rPr lang="fr-CA" sz="2000"/>
              <a:t>URL relatives (à partir du répertoire courant)</a:t>
            </a:r>
            <a:endParaRPr/>
          </a:p>
          <a:p>
            <a:pPr marL="74295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⮚"/>
            </a:pPr>
            <a:r>
              <a:rPr lang="fr-CA" sz="1800"/>
              <a:t>Exemple : 	page_10html</a:t>
            </a:r>
            <a:br>
              <a:rPr lang="fr-CA" sz="1800"/>
            </a:br>
            <a:r>
              <a:rPr lang="fr-CA" sz="1800"/>
              <a:t>		control/action.php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 txBox="1"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Quelques balises </a:t>
            </a:r>
            <a:endParaRPr/>
          </a:p>
        </p:txBody>
      </p:sp>
      <p:sp>
        <p:nvSpPr>
          <p:cNvPr id="122" name="Google Shape;122;p15"/>
          <p:cNvSpPr txBox="1">
            <a:spLocks noGrp="1"/>
          </p:cNvSpPr>
          <p:nvPr>
            <p:ph type="body" idx="1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div: division d’une page.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B: mise en gras de texte.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i : mise en italique de texte.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table: table pour presentation (de moins en moins populaire). Voir aussi &lt;tr&gt; et &lt;td&gt;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&lt;form&gt;: désigne un formulaire de saisie.</a:t>
            </a:r>
            <a:endParaRPr/>
          </a:p>
          <a:p>
            <a:pPr marL="342900" lvl="0" indent="-20066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Voir aussi les balises HTML5</a:t>
            </a:r>
            <a:endParaRPr/>
          </a:p>
          <a:p>
            <a:pPr marL="342900" lvl="0" indent="-20066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Processus de scraping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Processus</a:t>
            </a:r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body" idx="1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Identifier les données à obtenir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Identifier les conditions d’utilisation imposées par le propriétaire du site web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Identifier les pages à scraper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C’est la phase la plus importante du point de vue technique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Faire un calcul du nombre de requetes pour obtenir les données. 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Optimiser le nombre de requetes à faire afin de minimiser le nombre de connexions. Le risque ici est que l’adresse IP soit bloquée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Processus | suite</a:t>
            </a:r>
            <a:endParaRPr/>
          </a:p>
        </p:txBody>
      </p:sp>
      <p:sp>
        <p:nvSpPr>
          <p:cNvPr id="139" name="Google Shape;139;p18"/>
          <p:cNvSpPr txBox="1">
            <a:spLocks noGrp="1"/>
          </p:cNvSpPr>
          <p:nvPr>
            <p:ph type="body" idx="1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Identifier la structure URL de la page à scraper. Celle-ci détermine les appels à faire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Utiliser les outils dev du fureteur (chrome, firefox, etc…)</a:t>
            </a:r>
            <a:endParaRPr/>
          </a:p>
        </p:txBody>
      </p:sp>
      <p:pic>
        <p:nvPicPr>
          <p:cNvPr id="140" name="Google Shape;14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95936" y="3140968"/>
            <a:ext cx="4724400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1088" y="3284984"/>
            <a:ext cx="3619898" cy="3179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Processus | suite</a:t>
            </a:r>
            <a:endParaRPr/>
          </a:p>
        </p:txBody>
      </p:sp>
      <p:sp>
        <p:nvSpPr>
          <p:cNvPr id="147" name="Google Shape;147;p19"/>
          <p:cNvSpPr txBox="1">
            <a:spLocks noGrp="1"/>
          </p:cNvSpPr>
          <p:nvPr>
            <p:ph type="body" idx="1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Identifier la structure de la page HTML correspondant à l’URL.</a:t>
            </a:r>
            <a:endParaRPr/>
          </a:p>
        </p:txBody>
      </p:sp>
      <p:pic>
        <p:nvPicPr>
          <p:cNvPr id="148" name="Google Shape;14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535" y="2028117"/>
            <a:ext cx="8352930" cy="2801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Processus | suite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body" idx="1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Utiliser le module requests (ou un autre) pour la connexion</a:t>
            </a:r>
            <a:endParaRPr/>
          </a:p>
          <a:p>
            <a:pPr marL="342900" lvl="0" indent="-20066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endParaRPr/>
          </a:p>
          <a:p>
            <a:pPr marL="342900" lvl="0" indent="-20066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endParaRPr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Utiliser BeautifulSoup pour le parsing</a:t>
            </a:r>
            <a:endParaRPr/>
          </a:p>
          <a:p>
            <a:pPr marL="342900" lvl="0" indent="-20066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endParaRPr/>
          </a:p>
          <a:p>
            <a:pPr marL="342900" lvl="0" indent="-20066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endParaRPr/>
          </a:p>
          <a:p>
            <a:pPr marL="342900" lvl="0" indent="-20066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Développer le code complet pour le parsing</a:t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467544" y="1845302"/>
            <a:ext cx="7574672" cy="10772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lang="fr-CA" sz="16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url = </a:t>
            </a:r>
            <a:r>
              <a:rPr lang="fr-CA" sz="1600" b="1" i="0" u="none" strike="noStrike" cap="none">
                <a:solidFill>
                  <a:srgbClr val="008080"/>
                </a:solidFill>
                <a:latin typeface="Courier New"/>
                <a:ea typeface="Courier New"/>
                <a:cs typeface="Courier New"/>
                <a:sym typeface="Courier New"/>
              </a:rPr>
              <a:t>'https://www.wunderground.com/cgi-bin/findweather/getForecast?query={}'</a:t>
            </a:r>
            <a:r>
              <a:rPr lang="fr-CA" sz="16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.format(zipcode)</a:t>
            </a:r>
            <a:br>
              <a:rPr lang="fr-CA" sz="16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-CA" sz="16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response = requests.get(url)</a:t>
            </a:r>
            <a:br>
              <a:rPr lang="fr-CA" sz="16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-CA" sz="1600" b="1" i="0" u="none" strike="noStrike" cap="none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fr-CA" sz="16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response.text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467544" y="3859101"/>
            <a:ext cx="7128792" cy="5847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lang="fr-CA" sz="16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scrap = bs4.BeautifulSoup(html, </a:t>
            </a:r>
            <a:r>
              <a:rPr lang="fr-CA" sz="1600" b="1" i="0" u="none" strike="noStrike" cap="none">
                <a:solidFill>
                  <a:srgbClr val="008080"/>
                </a:solidFill>
                <a:latin typeface="Courier New"/>
                <a:ea typeface="Courier New"/>
                <a:cs typeface="Courier New"/>
                <a:sym typeface="Courier New"/>
              </a:rPr>
              <a:t>'html.parser'</a:t>
            </a:r>
            <a:r>
              <a:rPr lang="fr-CA" sz="16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br>
              <a:rPr lang="fr-CA" sz="16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fr-CA" sz="16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loc = scrap.find(</a:t>
            </a:r>
            <a:r>
              <a:rPr lang="fr-CA" sz="1600" b="0" i="0" u="none" strike="noStrike" cap="none">
                <a:solidFill>
                  <a:srgbClr val="660099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fr-CA" sz="16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fr-CA" sz="1600" b="1" i="0" u="none" strike="noStrike" cap="none">
                <a:solidFill>
                  <a:srgbClr val="008080"/>
                </a:solidFill>
                <a:latin typeface="Courier New"/>
                <a:ea typeface="Courier New"/>
                <a:cs typeface="Courier New"/>
                <a:sym typeface="Courier New"/>
              </a:rPr>
              <a:t>'location'</a:t>
            </a:r>
            <a:r>
              <a:rPr lang="fr-CA" sz="16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).find(</a:t>
            </a:r>
            <a:r>
              <a:rPr lang="fr-CA" sz="1600" b="1" i="0" u="none" strike="noStrike" cap="none">
                <a:solidFill>
                  <a:srgbClr val="008080"/>
                </a:solidFill>
                <a:latin typeface="Courier New"/>
                <a:ea typeface="Courier New"/>
                <a:cs typeface="Courier New"/>
                <a:sym typeface="Courier New"/>
              </a:rPr>
              <a:t>'h1'</a:t>
            </a:r>
            <a:r>
              <a:rPr lang="fr-CA" sz="16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).get_text()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Fonctions de BS4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body" idx="1"/>
          </p:nvPr>
        </p:nvSpPr>
        <p:spPr>
          <a:xfrm>
            <a:off x="152400" y="893711"/>
            <a:ext cx="8839200" cy="5232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Objet BS avec paramètre de parseur</a:t>
            </a:r>
            <a:endParaRPr/>
          </a:p>
          <a:p>
            <a:pPr marL="342900" lvl="0" indent="-20066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Fonction pour isoler toutes les références à une balise spécifique (&lt;p&gt; dans ce cas)</a:t>
            </a:r>
            <a:endParaRPr/>
          </a:p>
          <a:p>
            <a:pPr marL="342900" lvl="0" indent="-20066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Fonction pour isoler les propriétes d’une balise spécifique</a:t>
            </a:r>
            <a:endParaRPr/>
          </a:p>
        </p:txBody>
      </p:sp>
      <p:sp>
        <p:nvSpPr>
          <p:cNvPr id="163" name="Google Shape;163;p21"/>
          <p:cNvSpPr/>
          <p:nvPr/>
        </p:nvSpPr>
        <p:spPr>
          <a:xfrm>
            <a:off x="611560" y="1598023"/>
            <a:ext cx="583264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fr-CA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BeautifulSoup(page_response.content, "html.parser")</a:t>
            </a:r>
            <a:r>
              <a:rPr lang="fr-CA"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827584" y="2551612"/>
            <a:ext cx="4392488" cy="65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9425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fr-CA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page_content.find_all("p")[i].text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827584" y="4422500"/>
            <a:ext cx="201622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find(id=</a:t>
            </a:r>
            <a:r>
              <a:rPr lang="fr-CA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fr-CA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toto")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Module Scrapy</a:t>
            </a:r>
            <a:endParaRPr/>
          </a:p>
        </p:txBody>
      </p:sp>
      <p:sp>
        <p:nvSpPr>
          <p:cNvPr id="171" name="Google Shape;171;p22"/>
          <p:cNvSpPr txBox="1">
            <a:spLocks noGrp="1"/>
          </p:cNvSpPr>
          <p:nvPr>
            <p:ph type="body" idx="1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Module similaire à beautiful soup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Un peu plus compliqué dans son approche mais plus puissant.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Créer d’abord un projet Scrapy et ensuite utiliser les classes de Scrapy</a:t>
            </a:r>
            <a:endParaRPr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Réf: </a:t>
            </a:r>
            <a:r>
              <a:rPr lang="fr-CA" u="sng">
                <a:solidFill>
                  <a:schemeClr val="hlink"/>
                </a:solidFill>
                <a:hlinkClick r:id="rId3"/>
              </a:rPr>
              <a:t>https://www.pythongasm.com/introduction-to-scrapy/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 u="sng">
                <a:solidFill>
                  <a:schemeClr val="hlink"/>
                </a:solidFill>
                <a:hlinkClick r:id="rId4"/>
              </a:rPr>
              <a:t>https://www.analyticsvidhya.com/blog/2017/07/web-scraping-in-python-using-scrapy/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Bonnes pratiques</a:t>
            </a:r>
            <a:endParaRPr/>
          </a:p>
        </p:txBody>
      </p:sp>
      <p:sp>
        <p:nvSpPr>
          <p:cNvPr id="177" name="Google Shape;177;p23"/>
          <p:cNvSpPr txBox="1">
            <a:spLocks noGrp="1"/>
          </p:cNvSpPr>
          <p:nvPr>
            <p:ph type="body" idx="1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Envoyer HTTP headers avec le request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Beautifulsoup</a:t>
            </a:r>
            <a:endParaRPr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Scrapy</a:t>
            </a:r>
            <a:endParaRPr/>
          </a:p>
        </p:txBody>
      </p:sp>
      <p:sp>
        <p:nvSpPr>
          <p:cNvPr id="178" name="Google Shape;178;p23"/>
          <p:cNvSpPr/>
          <p:nvPr/>
        </p:nvSpPr>
        <p:spPr>
          <a:xfrm>
            <a:off x="152400" y="2996952"/>
            <a:ext cx="8839200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HEADERS = { 'Accept':'text/html,application/xhtml+xml,application/xml;q=0.9,image/webp,image/apng,*/*;q=0.8,application/signed-exchange;v=b3;q=0.9',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'Accept-Encoding':'gzip, deflate',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'Accept-Language':'en-GB,en;q=0.9,en-US;q=0.8,hi;q=0.7,la;q=0.6',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'Cache-Control':'no-cache',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'Connection':'keep-alive',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'DNT':'1',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'Host':'example.com',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'Pragma':'no-cache',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'Upgrade-Insecure-Requests':'1',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'User-Agent':'Mozilla/5.0 (Macintosh; Intel Mac OS X 10_15_1) AppleWebKit/537.36 (KHTML, like Gecko) Chrome/79.0.3945.130 Safari/537.36',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response = requests.get(url="https://meteo.gc.ca", headers=HEADERS)</a:t>
            </a:r>
            <a:endParaRPr/>
          </a:p>
        </p:txBody>
      </p:sp>
      <p:sp>
        <p:nvSpPr>
          <p:cNvPr id="179" name="Google Shape;179;p23"/>
          <p:cNvSpPr/>
          <p:nvPr/>
        </p:nvSpPr>
        <p:spPr>
          <a:xfrm>
            <a:off x="551115" y="1831239"/>
            <a:ext cx="804177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Ref: https://stackoverflow.com/questions/43440397/requests-using-beautiful-soup-gets-blocked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Bonnes pratiques</a:t>
            </a:r>
            <a:endParaRPr/>
          </a:p>
        </p:txBody>
      </p:sp>
      <p:sp>
        <p:nvSpPr>
          <p:cNvPr id="185" name="Google Shape;185;p24"/>
          <p:cNvSpPr txBox="1">
            <a:spLocks noGrp="1"/>
          </p:cNvSpPr>
          <p:nvPr>
            <p:ph type="body" idx="1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Utiliser des proxy afin d’éviter un blocage de IP</a:t>
            </a:r>
            <a:endParaRPr/>
          </a:p>
        </p:txBody>
      </p:sp>
      <p:sp>
        <p:nvSpPr>
          <p:cNvPr id="186" name="Google Shape;186;p24"/>
          <p:cNvSpPr/>
          <p:nvPr/>
        </p:nvSpPr>
        <p:spPr>
          <a:xfrm>
            <a:off x="899592" y="2136339"/>
            <a:ext cx="7344816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 requests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PROXIES =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'http': 145.95.78.58:80,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'https': 145.95.78.58:80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response = requests.get(url="https://meteo.gc.ca", proxies=PROXIES)</a:t>
            </a:r>
            <a:endParaRPr/>
          </a:p>
        </p:txBody>
      </p:sp>
      <p:sp>
        <p:nvSpPr>
          <p:cNvPr id="187" name="Google Shape;187;p24"/>
          <p:cNvSpPr txBox="1"/>
          <p:nvPr/>
        </p:nvSpPr>
        <p:spPr>
          <a:xfrm>
            <a:off x="827584" y="4663848"/>
            <a:ext cx="612068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800"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headers </a:t>
            </a:r>
            <a:r>
              <a:rPr lang="fr-CA" sz="1800" b="0" i="0">
                <a:solidFill>
                  <a:srgbClr val="6666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fr-CA" sz="1800"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-CA" sz="1800" b="0" i="0">
                <a:solidFill>
                  <a:srgbClr val="6666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1800" b="0" i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800" b="0" i="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'User-Agent'</a:t>
            </a:r>
            <a:r>
              <a:rPr lang="fr-CA" sz="1800" b="0" i="0">
                <a:solidFill>
                  <a:srgbClr val="6666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fr-CA" sz="1800" b="0" i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-CA" sz="1800" b="0" i="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'Mozilla/5.0 (compatible; Googlebot/2.1; +</a:t>
            </a:r>
            <a:r>
              <a:rPr lang="fr-CA" sz="1800" b="0" i="0" u="sng" strike="noStrike">
                <a:solidFill>
                  <a:srgbClr val="337AB7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http://www.google.com/bot.html</a:t>
            </a:r>
            <a:r>
              <a:rPr lang="fr-CA" sz="1800" b="0" i="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endParaRPr sz="1800" b="0" i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800" b="0" i="0">
                <a:solidFill>
                  <a:srgbClr val="6666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800" b="0" i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Bonnes pratiques</a:t>
            </a:r>
            <a:endParaRPr/>
          </a:p>
        </p:txBody>
      </p:sp>
      <p:sp>
        <p:nvSpPr>
          <p:cNvPr id="193" name="Google Shape;193;p25"/>
          <p:cNvSpPr txBox="1">
            <a:spLocks noGrp="1"/>
          </p:cNvSpPr>
          <p:nvPr>
            <p:ph type="body" idx="1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Introduire un délai aléatoire entre les requests.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Utiliser le module random pour générer des nombres aléatoires pour le délai.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43D41E-9A65-6B75-EDB6-2B8B14E4F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Références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C0F368-CE23-C5C5-B8CB-98AC54A6A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 u="sng">
                <a:solidFill>
                  <a:schemeClr val="hlink"/>
                </a:solidFill>
                <a:hlinkClick r:id="rId2"/>
              </a:rPr>
              <a:t>https://www.pythongasm.com/introduction-to-scrapy/</a:t>
            </a:r>
            <a:endParaRPr lang="fr-CA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 u="sng">
                <a:solidFill>
                  <a:schemeClr val="hlink"/>
                </a:solidFill>
                <a:hlinkClick r:id="rId3"/>
              </a:rPr>
              <a:t>https://www.analyticsvidhya.com/blog/2017/07/web-scraping-in-python-using-scrapy/</a:t>
            </a:r>
            <a:endParaRPr lang="fr-CA"/>
          </a:p>
          <a:p>
            <a:r>
              <a:rPr lang="fr-CA"/>
              <a:t>https://www.crummy.com/software/BeautifulSoup/bs4/doc/</a:t>
            </a:r>
          </a:p>
          <a:p>
            <a:r>
              <a:rPr lang="fr-CA"/>
              <a:t>https://realpython.com/beautiful-soup-web-scraper-python/</a:t>
            </a:r>
          </a:p>
        </p:txBody>
      </p:sp>
    </p:spTree>
    <p:extLst>
      <p:ext uri="{BB962C8B-B14F-4D97-AF65-F5344CB8AC3E}">
        <p14:creationId xmlns:p14="http://schemas.microsoft.com/office/powerpoint/2010/main" val="7387824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>
            <a:spLocks noGrp="1"/>
          </p:cNvSpPr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Agenda</a:t>
            </a:r>
            <a:endParaRPr/>
          </a:p>
        </p:txBody>
      </p:sp>
      <p:sp>
        <p:nvSpPr>
          <p:cNvPr id="199" name="Google Shape;199;p26"/>
          <p:cNvSpPr txBox="1">
            <a:spLocks noGrp="1"/>
          </p:cNvSpPr>
          <p:nvPr>
            <p:ph type="body" idx="1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fr-CA"/>
              <a:t>Dans cette présentation, on a abordé le concept :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Web scraping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Processus de web scraping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d8_model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1476</Words>
  <Application>Microsoft Office PowerPoint</Application>
  <PresentationFormat>Affichage à l'écran (4:3)</PresentationFormat>
  <Paragraphs>208</Paragraphs>
  <Slides>27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Calibri</vt:lpstr>
      <vt:lpstr>Quattrocento Sans</vt:lpstr>
      <vt:lpstr>Courier New</vt:lpstr>
      <vt:lpstr>Arial</vt:lpstr>
      <vt:lpstr>Times New Roman</vt:lpstr>
      <vt:lpstr>Rockwell</vt:lpstr>
      <vt:lpstr>Twentieth Century</vt:lpstr>
      <vt:lpstr>Noto Sans Symbols</vt:lpstr>
      <vt:lpstr>Corbel</vt:lpstr>
      <vt:lpstr>Bd8_modele</vt:lpstr>
      <vt:lpstr>420-D05  Collecte et stockage de données</vt:lpstr>
      <vt:lpstr>Agenda</vt:lpstr>
      <vt:lpstr>Principe</vt:lpstr>
      <vt:lpstr>Web scraping</vt:lpstr>
      <vt:lpstr>Web scraping avec python</vt:lpstr>
      <vt:lpstr>Éléments à scraper</vt:lpstr>
      <vt:lpstr>Structure page HTML</vt:lpstr>
      <vt:lpstr>Squelette d’un document HTML</vt:lpstr>
      <vt:lpstr>Exemple:</vt:lpstr>
      <vt:lpstr>Éléments, balises et attributs</vt:lpstr>
      <vt:lpstr>Attributs</vt:lpstr>
      <vt:lpstr>Corps du document</vt:lpstr>
      <vt:lpstr>Textes prédéfinis</vt:lpstr>
      <vt:lpstr>Liens hypertextes</vt:lpstr>
      <vt:lpstr>Quelques balises </vt:lpstr>
      <vt:lpstr>Processus de scraping</vt:lpstr>
      <vt:lpstr>Processus</vt:lpstr>
      <vt:lpstr>Processus | suite</vt:lpstr>
      <vt:lpstr>Processus | suite</vt:lpstr>
      <vt:lpstr>Processus | suite</vt:lpstr>
      <vt:lpstr>Fonctions de BS4</vt:lpstr>
      <vt:lpstr>Module Scrapy</vt:lpstr>
      <vt:lpstr>Bonnes pratiques</vt:lpstr>
      <vt:lpstr>Bonnes pratiques</vt:lpstr>
      <vt:lpstr>Bonnes pratiques</vt:lpstr>
      <vt:lpstr>Références</vt:lpstr>
      <vt:lpstr>Agenda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420-D05  Collecte et stockage de données</dc:title>
  <dc:creator>Nesrine Zemirli</dc:creator>
  <cp:lastModifiedBy>Benteftifa, Hafed</cp:lastModifiedBy>
  <cp:revision>1</cp:revision>
  <dcterms:created xsi:type="dcterms:W3CDTF">2016-05-11T16:58:07Z</dcterms:created>
  <dcterms:modified xsi:type="dcterms:W3CDTF">2022-10-19T00:54:19Z</dcterms:modified>
</cp:coreProperties>
</file>