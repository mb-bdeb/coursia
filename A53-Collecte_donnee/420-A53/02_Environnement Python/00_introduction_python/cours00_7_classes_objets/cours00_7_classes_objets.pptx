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5" r:id="rId10"/>
    <p:sldId id="264" r:id="rId11"/>
    <p:sldId id="306" r:id="rId12"/>
    <p:sldId id="307" r:id="rId13"/>
    <p:sldId id="265" r:id="rId14"/>
    <p:sldId id="266" r:id="rId15"/>
    <p:sldId id="267" r:id="rId16"/>
    <p:sldId id="268" r:id="rId17"/>
    <p:sldId id="269" r:id="rId18"/>
    <p:sldId id="271" r:id="rId19"/>
    <p:sldId id="303" r:id="rId20"/>
    <p:sldId id="308" r:id="rId21"/>
    <p:sldId id="274" r:id="rId22"/>
    <p:sldId id="275" r:id="rId23"/>
    <p:sldId id="304" r:id="rId24"/>
    <p:sldId id="276" r:id="rId25"/>
    <p:sldId id="277" r:id="rId26"/>
    <p:sldId id="278" r:id="rId27"/>
    <p:sldId id="302" r:id="rId28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00"/>
    <a:srgbClr val="F50B6A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2" autoAdjust="0"/>
    <p:restoredTop sz="94660"/>
  </p:normalViewPr>
  <p:slideViewPr>
    <p:cSldViewPr>
      <p:cViewPr varScale="1">
        <p:scale>
          <a:sx n="87" d="100"/>
          <a:sy n="87" d="100"/>
        </p:scale>
        <p:origin x="1098" y="6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fr-CA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2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25" name="Rectangle 4"/>
          <p:cNvSpPr>
            <a:spLocks noGrp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CA" noProof="0" smtClean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8685213"/>
            <a:ext cx="29702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fld id="{1D2416B7-17FB-4FBE-AE58-2E2ED66836F2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0703612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429720B-4347-4A6D-B49D-7871A10F0B99}" type="slidenum">
              <a:rPr lang="en-GB" altLang="fr-FR">
                <a:solidFill>
                  <a:srgbClr val="000000"/>
                </a:solidFill>
              </a:rPr>
              <a:pPr/>
              <a:t>1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31748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702733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770FE42-194F-46FE-B720-47672B53402A}" type="slidenum">
              <a:rPr lang="en-GB" altLang="fr-FR">
                <a:solidFill>
                  <a:srgbClr val="000000"/>
                </a:solidFill>
              </a:rPr>
              <a:pPr/>
              <a:t>2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32772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2139782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B3B3E2E-A57B-4A73-8292-B374AD06DCA4}" type="slidenum">
              <a:rPr lang="en-GB" altLang="fr-FR">
                <a:solidFill>
                  <a:srgbClr val="000000"/>
                </a:solidFill>
              </a:rPr>
              <a:pPr/>
              <a:t>3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3795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3796" name="Rectangle 2"/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3166492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B3B44A3-A2A0-41A5-847E-4C19BC314B5C}" type="slidenum">
              <a:rPr lang="en-GB" altLang="fr-FR">
                <a:solidFill>
                  <a:srgbClr val="000000"/>
                </a:solidFill>
              </a:rPr>
              <a:pPr/>
              <a:t>4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481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34820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2302102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FABA567-A9F6-4E9A-8B46-852F3CFCEAA0}" type="slidenum">
              <a:rPr lang="en-GB" altLang="fr-FR">
                <a:solidFill>
                  <a:srgbClr val="000000"/>
                </a:solidFill>
              </a:rPr>
              <a:pPr/>
              <a:t>5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584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35844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3675768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C9228CA-A75E-43A6-93D1-26DB4675904E}" type="slidenum">
              <a:rPr lang="en-GB" altLang="fr-FR">
                <a:solidFill>
                  <a:srgbClr val="000000"/>
                </a:solidFill>
              </a:rPr>
              <a:pPr/>
              <a:t>6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686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36868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1877858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4122009-DE5A-4FB8-B90E-4D5E5E06DB8F}" type="slidenum">
              <a:rPr lang="en-GB" altLang="fr-FR">
                <a:solidFill>
                  <a:srgbClr val="000000"/>
                </a:solidFill>
              </a:rPr>
              <a:pPr/>
              <a:t>7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37892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3195412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67D50C0-8666-4765-99E6-12056A16427F}" type="slidenum">
              <a:rPr lang="en-GB" altLang="fr-FR">
                <a:solidFill>
                  <a:srgbClr val="000000"/>
                </a:solidFill>
              </a:rPr>
              <a:pPr/>
              <a:t>8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891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38916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828920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1FDA572-AE4C-407E-B22D-73318A0F9600}" type="slidenum">
              <a:rPr lang="en-GB" altLang="fr-FR">
                <a:solidFill>
                  <a:srgbClr val="000000"/>
                </a:solidFill>
              </a:rPr>
              <a:pPr/>
              <a:t>10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39940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12028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48DCCAC-2F28-46D3-902A-5FB8C684B291}" type="slidenum">
              <a:rPr lang="en-GB" altLang="fr-FR">
                <a:solidFill>
                  <a:srgbClr val="000000"/>
                </a:solidFill>
              </a:rPr>
              <a:pPr/>
              <a:t>13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096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0964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3419818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D526BC7-440F-4DDA-A21A-909325B86591}" type="slidenum">
              <a:rPr lang="en-GB" altLang="fr-FR">
                <a:solidFill>
                  <a:srgbClr val="000000"/>
                </a:solidFill>
              </a:rPr>
              <a:pPr/>
              <a:t>14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1988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4116559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C4E1AA5-36CE-493B-92CF-EFC37600A835}" type="slidenum">
              <a:rPr lang="en-GB" altLang="fr-FR">
                <a:solidFill>
                  <a:srgbClr val="000000"/>
                </a:solidFill>
              </a:rPr>
              <a:pPr/>
              <a:t>15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301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3012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2759535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1B3AFA2-CDCE-405A-A7ED-8D0DA47347D0}" type="slidenum">
              <a:rPr lang="en-GB" altLang="fr-FR">
                <a:solidFill>
                  <a:srgbClr val="000000"/>
                </a:solidFill>
              </a:rPr>
              <a:pPr/>
              <a:t>16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403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4036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37959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3255FC0-5D72-4DC9-A5B0-A42A05E999CD}" type="slidenum">
              <a:rPr lang="en-GB" altLang="fr-FR">
                <a:solidFill>
                  <a:srgbClr val="000000"/>
                </a:solidFill>
              </a:rPr>
              <a:pPr/>
              <a:t>17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505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5060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1132281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4A75304-D41F-4B47-8E76-3694857D1F91}" type="slidenum">
              <a:rPr lang="en-GB" altLang="fr-FR">
                <a:solidFill>
                  <a:srgbClr val="000000"/>
                </a:solidFill>
              </a:rPr>
              <a:pPr/>
              <a:t>18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6084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2252511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E3F0B53-7600-4C9F-8972-A4DBFB8B7A0A}" type="slidenum">
              <a:rPr lang="en-GB" altLang="fr-FR">
                <a:solidFill>
                  <a:srgbClr val="000000"/>
                </a:solidFill>
              </a:rPr>
              <a:pPr/>
              <a:t>19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7108" name="Rectangle 3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8939760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E59DEBB-AFD3-4428-93C1-0E570252DF19}" type="slidenum">
              <a:rPr lang="en-GB" altLang="fr-FR">
                <a:solidFill>
                  <a:srgbClr val="000000"/>
                </a:solidFill>
              </a:rPr>
              <a:pPr/>
              <a:t>21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8132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2241010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B9DFBD6-1549-486A-8A8B-A677E5CFE536}" type="slidenum">
              <a:rPr lang="en-GB" altLang="fr-FR">
                <a:solidFill>
                  <a:srgbClr val="000000"/>
                </a:solidFill>
              </a:rPr>
              <a:pPr/>
              <a:t>22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4915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49156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3553349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9CDA95D-93F8-4DE6-860F-3B89A1C641A0}" type="slidenum">
              <a:rPr lang="en-GB" altLang="fr-FR">
                <a:solidFill>
                  <a:srgbClr val="000000"/>
                </a:solidFill>
              </a:rPr>
              <a:pPr/>
              <a:t>23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50179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50180" name="Rectangle 3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523927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6972F67-64A2-443F-92CE-29855AA7233C}" type="slidenum">
              <a:rPr lang="en-GB" altLang="fr-FR">
                <a:solidFill>
                  <a:srgbClr val="000000"/>
                </a:solidFill>
              </a:rPr>
              <a:pPr/>
              <a:t>24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5120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51204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1681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603477C-494D-4037-ABDA-DBBE82D2610E}" type="slidenum">
              <a:rPr lang="en-GB" altLang="fr-FR">
                <a:solidFill>
                  <a:srgbClr val="000000"/>
                </a:solidFill>
              </a:rPr>
              <a:pPr/>
              <a:t>25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5222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52228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2338450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7A7C72-826B-4780-9CFE-5050A5E6990D}" type="slidenum">
              <a:rPr lang="en-GB" altLang="fr-FR">
                <a:solidFill>
                  <a:srgbClr val="000000"/>
                </a:solidFill>
              </a:rPr>
              <a:pPr/>
              <a:t>26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5325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53252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2041857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B263A70-FCFD-4C17-A86E-0E952D6803E5}" type="slidenum">
              <a:rPr lang="en-GB" altLang="fr-FR">
                <a:solidFill>
                  <a:srgbClr val="000000"/>
                </a:solidFill>
              </a:rPr>
              <a:pPr/>
              <a:t>27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54276" name="Rectangle 2"/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 smtClean="0"/>
          </a:p>
        </p:txBody>
      </p:sp>
    </p:spTree>
    <p:extLst>
      <p:ext uri="{BB962C8B-B14F-4D97-AF65-F5344CB8AC3E}">
        <p14:creationId xmlns:p14="http://schemas.microsoft.com/office/powerpoint/2010/main" val="342894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0527" r="5743" b="15790"/>
          <a:stretch>
            <a:fillRect/>
          </a:stretch>
        </p:blipFill>
        <p:spPr bwMode="auto"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0000"/>
                </a:solidFill>
                <a:latin typeface="Segoe UI Semibold" pitchFamily="34" charset="0"/>
              </a:defRPr>
            </a:lvl1pPr>
          </a:lstStyle>
          <a:p>
            <a:r>
              <a:rPr lang="fr-FR" smtClean="0"/>
              <a:t>Cliquez pour modifier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Segoe UI Light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62392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rgbClr val="FF0000"/>
                </a:solidFill>
                <a:latin typeface="Segoe UI Semibold" pitchFamily="34" charset="0"/>
              </a:defRPr>
            </a:lvl1pPr>
          </a:lstStyle>
          <a:p>
            <a:r>
              <a:rPr lang="fr-FR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FontTx/>
              <a:buBlip>
                <a:blip r:embed="rId2"/>
              </a:buBlip>
              <a:defRPr sz="2800">
                <a:latin typeface="Segoe UI Light" pitchFamily="34" charset="0"/>
              </a:defRPr>
            </a:lvl1pPr>
            <a:lvl2pPr>
              <a:buFont typeface="Wingdings" pitchFamily="2" charset="2"/>
              <a:buChar char="Ø"/>
              <a:defRPr sz="2400">
                <a:latin typeface="Segoe UI Light" pitchFamily="34" charset="0"/>
              </a:defRPr>
            </a:lvl2pPr>
            <a:lvl3pPr>
              <a:defRPr sz="2000"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323081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847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498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337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92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r" defTabSz="762000">
              <a:defRPr/>
            </a:pPr>
            <a:endParaRPr lang="fr-FR">
              <a:latin typeface="Frutiger 45" charset="0"/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0" y="6524625"/>
            <a:ext cx="530225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C767B49-6A33-4551-AD3C-7CBA11FD519A}" type="slidenum">
              <a:rPr lang="fr-FR" altLang="fr-FR" sz="1600">
                <a:solidFill>
                  <a:schemeClr val="tx1"/>
                </a:solidFill>
              </a:rPr>
              <a:pPr/>
              <a:t>‹N°›</a:t>
            </a:fld>
            <a:endParaRPr lang="fr-FR" altLang="fr-FR" sz="1600">
              <a:solidFill>
                <a:schemeClr val="tx1"/>
              </a:solidFill>
            </a:endParaRP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481013" y="6464300"/>
            <a:ext cx="8662987" cy="582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762000">
              <a:defRPr/>
            </a:pPr>
            <a:fld id="{8E66BB16-E908-4DFD-9624-BF128234D38D}" type="datetime1">
              <a:rPr lang="fr-FR" sz="1600">
                <a:solidFill>
                  <a:schemeClr val="tx1"/>
                </a:solidFill>
                <a:latin typeface="Segoe UI Light" pitchFamily="34" charset="0"/>
              </a:rPr>
              <a:pPr defTabSz="762000">
                <a:defRPr/>
              </a:pPr>
              <a:t>07/01/2016</a:t>
            </a:fld>
            <a:r>
              <a:rPr lang="fr-FR" sz="1600" dirty="0">
                <a:solidFill>
                  <a:schemeClr val="tx1"/>
                </a:solidFill>
                <a:latin typeface="Segoe UI Light" pitchFamily="34" charset="0"/>
              </a:rPr>
              <a:t>    </a:t>
            </a:r>
            <a:r>
              <a:rPr lang="fr-FR" sz="1600" b="1" dirty="0">
                <a:latin typeface="Segoe UI Light" pitchFamily="34" charset="0"/>
              </a:rPr>
              <a:t>Initiation POO - Python-  </a:t>
            </a:r>
            <a:r>
              <a:rPr lang="fr-FR" sz="1600" b="1" dirty="0" err="1">
                <a:latin typeface="Segoe UI Light" pitchFamily="34" charset="0"/>
              </a:rPr>
              <a:t>Hafed</a:t>
            </a:r>
            <a:r>
              <a:rPr lang="fr-FR" sz="1600" b="1" dirty="0">
                <a:latin typeface="Segoe UI Light" pitchFamily="34" charset="0"/>
              </a:rPr>
              <a:t> Benteftifa</a:t>
            </a:r>
          </a:p>
          <a:p>
            <a:pPr algn="r" defTabSz="762000">
              <a:defRPr/>
            </a:pPr>
            <a:endParaRPr lang="fr-FR" sz="1600" b="1" dirty="0">
              <a:latin typeface="Segoe UI Light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7" r:id="rId2"/>
    <p:sldLayoutId id="2147483678" r:id="rId3"/>
    <p:sldLayoutId id="2147483679" r:id="rId4"/>
    <p:sldLayoutId id="2147483680" r:id="rId5"/>
    <p:sldLayoutId id="2147483681" r:id="rId6"/>
  </p:sldLayoutIdLst>
  <p:timing>
    <p:tnLst>
      <p:par>
        <p:cTn id="1" dur="indefinite" restart="never" nodeType="tmRoot"/>
      </p:par>
    </p:tnLst>
  </p:timing>
  <p:txStyles>
    <p:titleStyle>
      <a:lvl1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defTabSz="762000" rtl="0" fontAlgn="base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fontAlgn="base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defTabSz="762000" rtl="0" fontAlgn="base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defTabSz="762000" rtl="0" fontAlgn="base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defTabSz="762000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Classes et Objets</a:t>
            </a:r>
            <a:br>
              <a:rPr lang="en-GB" altLang="fr-FR" smtClean="0"/>
            </a:br>
            <a:r>
              <a:rPr lang="en-GB" altLang="fr-FR" smtClean="0"/>
              <a:t>en python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subTitle" idx="1"/>
          </p:nvPr>
        </p:nvSpPr>
        <p:spPr bwMode="auto"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None/>
              <a:tabLst>
                <a:tab pos="0" algn="l"/>
                <a:tab pos="760413" algn="l"/>
                <a:tab pos="1522413" algn="l"/>
                <a:tab pos="2286000" algn="l"/>
                <a:tab pos="3046413" algn="l"/>
                <a:tab pos="3808413" algn="l"/>
                <a:tab pos="4572000" algn="l"/>
                <a:tab pos="5332413" algn="l"/>
                <a:tab pos="6094413" algn="l"/>
                <a:tab pos="6858000" algn="l"/>
                <a:tab pos="7618413" algn="l"/>
                <a:tab pos="8380413" algn="l"/>
                <a:tab pos="9144000" algn="l"/>
                <a:tab pos="9904413" algn="l"/>
                <a:tab pos="10666413" algn="l"/>
              </a:tabLst>
            </a:pPr>
            <a:r>
              <a:rPr lang="en-GB" altLang="fr-FR" smtClean="0"/>
              <a:t>Hafed Benteftifa</a:t>
            </a:r>
          </a:p>
        </p:txBody>
      </p:sp>
    </p:spTree>
  </p:cSld>
  <p:clrMapOvr>
    <a:masterClrMapping/>
  </p:clrMapOvr>
  <p:transition advTm="18432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Agenda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Blip>
                <a:blip r:embed="rId3"/>
              </a:buBlip>
            </a:pPr>
            <a:r>
              <a:rPr lang="en-GB" altLang="fr-FR" smtClean="0"/>
              <a:t>Les objectifs de cette présentation sont les suivants:</a:t>
            </a:r>
            <a:br>
              <a:rPr lang="en-GB" altLang="fr-FR" smtClean="0"/>
            </a:br>
            <a:endParaRPr lang="en-GB" altLang="fr-FR" smtClean="0"/>
          </a:p>
          <a:p>
            <a:pPr>
              <a:buFontTx/>
              <a:buBlip>
                <a:blip r:embed="rId3"/>
              </a:buBlip>
            </a:pPr>
            <a:r>
              <a:rPr lang="en-GB" altLang="fr-FR" smtClean="0"/>
              <a:t>Notions d'objets</a:t>
            </a:r>
          </a:p>
          <a:p>
            <a:pPr>
              <a:buFontTx/>
              <a:buBlip>
                <a:blip r:embed="rId3"/>
              </a:buBlip>
            </a:pPr>
            <a:r>
              <a:rPr lang="en-GB" altLang="fr-FR" smtClean="0"/>
              <a:t>Classes</a:t>
            </a:r>
          </a:p>
          <a:p>
            <a:pPr>
              <a:buFontTx/>
              <a:buBlip>
                <a:blip r:embed="rId3"/>
              </a:buBlip>
            </a:pPr>
            <a:r>
              <a:rPr lang="en-GB" altLang="fr-FR" smtClean="0"/>
              <a:t>Constructeur-initialisateur</a:t>
            </a:r>
          </a:p>
          <a:p>
            <a:pPr>
              <a:buFontTx/>
              <a:buBlip>
                <a:blip r:embed="rId3"/>
              </a:buBlip>
            </a:pPr>
            <a:r>
              <a:rPr lang="en-GB" altLang="fr-FR" smtClean="0"/>
              <a:t>Méthodes</a:t>
            </a:r>
          </a:p>
          <a:p>
            <a:pPr>
              <a:buFontTx/>
              <a:buBlip>
                <a:blip r:embed="rId3"/>
              </a:buBlip>
            </a:pPr>
            <a:endParaRPr lang="en-GB" altLang="fr-FR" smtClean="0"/>
          </a:p>
        </p:txBody>
      </p:sp>
    </p:spTree>
  </p:cSld>
  <p:clrMapOvr>
    <a:masterClrMapping/>
  </p:clrMapOvr>
  <p:transition advTm="593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6" dur="2000" fill="hold" masterRel="sameClick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12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Langages orientés objet</a:t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5123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fr-FR" smtClean="0">
                <a:solidFill>
                  <a:srgbClr val="000000"/>
                </a:solidFill>
              </a:rPr>
              <a:t>Ils manipulent des objets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fr-FR" smtClean="0">
                <a:solidFill>
                  <a:srgbClr val="000000"/>
                </a:solidFill>
              </a:rPr>
              <a:t>Les programmes sont découpés suivant les types des objets manipulés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fr-FR" smtClean="0">
                <a:solidFill>
                  <a:srgbClr val="000000"/>
                </a:solidFill>
              </a:rPr>
              <a:t>Les données sont regroupées avec les traitements qui les utilisent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fr-FR" smtClean="0">
                <a:solidFill>
                  <a:srgbClr val="000000"/>
                </a:solidFill>
              </a:rPr>
              <a:t>Une classe </a:t>
            </a:r>
            <a:r>
              <a:rPr lang="en-GB" altLang="fr-FR" b="1" smtClean="0">
                <a:solidFill>
                  <a:srgbClr val="000000"/>
                </a:solidFill>
              </a:rPr>
              <a:t>Livre </a:t>
            </a:r>
            <a:r>
              <a:rPr lang="en-GB" altLang="fr-FR" smtClean="0">
                <a:solidFill>
                  <a:srgbClr val="000000"/>
                </a:solidFill>
              </a:rPr>
              <a:t>regroupe, par exemple, tout ce que l’on peut faire avec un livre, avec toutes les données nécessaires à ces traitements</a:t>
            </a: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Qu’est-ce qu’un objet ?</a:t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52400" y="1131888"/>
            <a:ext cx="8839200" cy="4994275"/>
          </a:xfrm>
        </p:spPr>
        <p:txBody>
          <a:bodyPr/>
          <a:lstStyle/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err="1" smtClean="0">
                <a:solidFill>
                  <a:srgbClr val="000000"/>
                </a:solidFill>
              </a:rPr>
              <a:t>Toute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entité</a:t>
            </a:r>
            <a:r>
              <a:rPr lang="en-GB" sz="2400" dirty="0" smtClean="0">
                <a:solidFill>
                  <a:srgbClr val="000000"/>
                </a:solidFill>
              </a:rPr>
              <a:t> identifiable, </a:t>
            </a:r>
            <a:r>
              <a:rPr lang="en-GB" sz="2400" dirty="0" err="1" smtClean="0">
                <a:solidFill>
                  <a:srgbClr val="000000"/>
                </a:solidFill>
              </a:rPr>
              <a:t>concrète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ou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abstraite</a:t>
            </a:r>
            <a:r>
              <a:rPr lang="en-GB" sz="2400" dirty="0" smtClean="0">
                <a:solidFill>
                  <a:srgbClr val="000000"/>
                </a:solidFill>
              </a:rPr>
              <a:t>, </a:t>
            </a:r>
            <a:r>
              <a:rPr lang="en-GB" sz="2400" dirty="0" err="1" smtClean="0">
                <a:solidFill>
                  <a:srgbClr val="000000"/>
                </a:solidFill>
              </a:rPr>
              <a:t>peut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être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considérée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comme</a:t>
            </a:r>
            <a:r>
              <a:rPr lang="en-GB" sz="2400" dirty="0" smtClean="0">
                <a:solidFill>
                  <a:srgbClr val="000000"/>
                </a:solidFill>
              </a:rPr>
              <a:t> un objet</a:t>
            </a:r>
          </a:p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smtClean="0">
                <a:solidFill>
                  <a:srgbClr val="000000"/>
                </a:solidFill>
              </a:rPr>
              <a:t>Un objet </a:t>
            </a:r>
            <a:r>
              <a:rPr lang="en-GB" sz="2400" dirty="0" err="1" smtClean="0">
                <a:solidFill>
                  <a:srgbClr val="000000"/>
                </a:solidFill>
              </a:rPr>
              <a:t>réagit</a:t>
            </a:r>
            <a:r>
              <a:rPr lang="en-GB" sz="2400" dirty="0" smtClean="0">
                <a:solidFill>
                  <a:srgbClr val="000000"/>
                </a:solidFill>
              </a:rPr>
              <a:t> à </a:t>
            </a:r>
            <a:r>
              <a:rPr lang="en-GB" sz="2400" dirty="0" err="1" smtClean="0">
                <a:solidFill>
                  <a:srgbClr val="000000"/>
                </a:solidFill>
              </a:rPr>
              <a:t>certains</a:t>
            </a:r>
            <a:r>
              <a:rPr lang="en-GB" sz="2400" dirty="0" smtClean="0">
                <a:solidFill>
                  <a:srgbClr val="000000"/>
                </a:solidFill>
              </a:rPr>
              <a:t> messages </a:t>
            </a:r>
            <a:r>
              <a:rPr lang="en-GB" sz="2400" dirty="0" err="1" smtClean="0">
                <a:solidFill>
                  <a:srgbClr val="000000"/>
                </a:solidFill>
              </a:rPr>
              <a:t>qu’on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lui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envoie</a:t>
            </a:r>
            <a:r>
              <a:rPr lang="en-GB" sz="2400" dirty="0" smtClean="0">
                <a:solidFill>
                  <a:srgbClr val="000000"/>
                </a:solidFill>
              </a:rPr>
              <a:t> de </a:t>
            </a:r>
            <a:r>
              <a:rPr lang="en-GB" sz="2400" dirty="0" err="1" smtClean="0">
                <a:solidFill>
                  <a:srgbClr val="000000"/>
                </a:solidFill>
              </a:rPr>
              <a:t>l’extérieur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798513" lvl="1" indent="-341313">
              <a:spcBef>
                <a:spcPts val="6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dirty="0" smtClean="0">
                <a:solidFill>
                  <a:srgbClr val="000000"/>
                </a:solidFill>
              </a:rPr>
              <a:t>La </a:t>
            </a:r>
            <a:r>
              <a:rPr lang="en-GB" dirty="0" err="1" smtClean="0">
                <a:solidFill>
                  <a:srgbClr val="000000"/>
                </a:solidFill>
              </a:rPr>
              <a:t>façon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dont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il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réagit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détermine</a:t>
            </a:r>
            <a:r>
              <a:rPr lang="en-GB" dirty="0" smtClean="0">
                <a:solidFill>
                  <a:srgbClr val="000000"/>
                </a:solidFill>
              </a:rPr>
              <a:t> le </a:t>
            </a:r>
            <a:r>
              <a:rPr lang="en-GB" dirty="0" err="1" smtClean="0">
                <a:solidFill>
                  <a:srgbClr val="000000"/>
                </a:solidFill>
              </a:rPr>
              <a:t>comportement</a:t>
            </a:r>
            <a:r>
              <a:rPr lang="en-GB" dirty="0" smtClean="0">
                <a:solidFill>
                  <a:srgbClr val="000000"/>
                </a:solidFill>
              </a:rPr>
              <a:t> de </a:t>
            </a:r>
            <a:r>
              <a:rPr lang="en-GB" dirty="0" err="1" smtClean="0">
                <a:solidFill>
                  <a:srgbClr val="000000"/>
                </a:solidFill>
              </a:rPr>
              <a:t>l’objet</a:t>
            </a:r>
            <a:endParaRPr lang="en-GB" dirty="0" smtClean="0">
              <a:solidFill>
                <a:srgbClr val="000000"/>
              </a:solidFill>
            </a:endParaRPr>
          </a:p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smtClean="0">
                <a:solidFill>
                  <a:srgbClr val="000000"/>
                </a:solidFill>
              </a:rPr>
              <a:t>Il ne </a:t>
            </a:r>
            <a:r>
              <a:rPr lang="en-GB" sz="2400" dirty="0" err="1" smtClean="0">
                <a:solidFill>
                  <a:srgbClr val="000000"/>
                </a:solidFill>
              </a:rPr>
              <a:t>réagit</a:t>
            </a:r>
            <a:r>
              <a:rPr lang="en-GB" sz="2400" dirty="0" smtClean="0">
                <a:solidFill>
                  <a:srgbClr val="000000"/>
                </a:solidFill>
              </a:rPr>
              <a:t> pas </a:t>
            </a:r>
            <a:r>
              <a:rPr lang="en-GB" sz="2400" dirty="0" err="1" smtClean="0">
                <a:solidFill>
                  <a:srgbClr val="000000"/>
                </a:solidFill>
              </a:rPr>
              <a:t>toujours</a:t>
            </a:r>
            <a:r>
              <a:rPr lang="en-GB" sz="2400" dirty="0" smtClean="0">
                <a:solidFill>
                  <a:srgbClr val="000000"/>
                </a:solidFill>
              </a:rPr>
              <a:t> de la </a:t>
            </a:r>
            <a:r>
              <a:rPr lang="en-GB" sz="2400" dirty="0" err="1" smtClean="0">
                <a:solidFill>
                  <a:srgbClr val="000000"/>
                </a:solidFill>
              </a:rPr>
              <a:t>même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façon</a:t>
            </a:r>
            <a:r>
              <a:rPr lang="en-GB" sz="2400" dirty="0" smtClean="0">
                <a:solidFill>
                  <a:srgbClr val="000000"/>
                </a:solidFill>
              </a:rPr>
              <a:t> à un </a:t>
            </a:r>
            <a:r>
              <a:rPr lang="en-GB" sz="2400" dirty="0" err="1" smtClean="0">
                <a:solidFill>
                  <a:srgbClr val="000000"/>
                </a:solidFill>
              </a:rPr>
              <a:t>même</a:t>
            </a:r>
            <a:r>
              <a:rPr lang="en-GB" sz="2400" dirty="0" smtClean="0">
                <a:solidFill>
                  <a:srgbClr val="000000"/>
                </a:solidFill>
              </a:rPr>
              <a:t> message</a:t>
            </a:r>
          </a:p>
          <a:p>
            <a:pPr marL="798513" lvl="1" indent="-341313">
              <a:spcBef>
                <a:spcPts val="6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dirty="0" smtClean="0">
                <a:solidFill>
                  <a:srgbClr val="000000"/>
                </a:solidFill>
              </a:rPr>
              <a:t>Sa </a:t>
            </a:r>
            <a:r>
              <a:rPr lang="en-GB" dirty="0" err="1" smtClean="0">
                <a:solidFill>
                  <a:srgbClr val="000000"/>
                </a:solidFill>
              </a:rPr>
              <a:t>réaction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dépend</a:t>
            </a:r>
            <a:r>
              <a:rPr lang="en-GB" dirty="0" smtClean="0">
                <a:solidFill>
                  <a:srgbClr val="000000"/>
                </a:solidFill>
              </a:rPr>
              <a:t> de </a:t>
            </a:r>
            <a:r>
              <a:rPr lang="en-GB" dirty="0" err="1" smtClean="0">
                <a:solidFill>
                  <a:srgbClr val="000000"/>
                </a:solidFill>
              </a:rPr>
              <a:t>l’état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dans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lequel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il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est</a:t>
            </a:r>
            <a:endParaRPr lang="en-GB" dirty="0" smtClean="0">
              <a:solidFill>
                <a:srgbClr val="000000"/>
              </a:solidFill>
            </a:endParaRPr>
          </a:p>
          <a:p>
            <a:pPr>
              <a:defRPr/>
            </a:pPr>
            <a:endParaRPr lang="fr-CA" dirty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Notion d’objet en python</a:t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52400" y="1131888"/>
            <a:ext cx="8839200" cy="4994275"/>
          </a:xfrm>
        </p:spPr>
        <p:txBody>
          <a:bodyPr/>
          <a:lstStyle/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smtClean="0">
                <a:solidFill>
                  <a:srgbClr val="000000"/>
                </a:solidFill>
              </a:rPr>
              <a:t>Un objet a</a:t>
            </a:r>
          </a:p>
          <a:p>
            <a:pPr marL="741363" lvl="1" indent="-341313">
              <a:spcBef>
                <a:spcPts val="6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000" dirty="0" err="1" smtClean="0">
                <a:solidFill>
                  <a:srgbClr val="000000"/>
                </a:solidFill>
              </a:rPr>
              <a:t>une</a:t>
            </a:r>
            <a:r>
              <a:rPr lang="en-GB" sz="2000" dirty="0" smtClean="0">
                <a:solidFill>
                  <a:srgbClr val="000000"/>
                </a:solidFill>
              </a:rPr>
              <a:t> </a:t>
            </a:r>
            <a:r>
              <a:rPr lang="en-GB" sz="2000" dirty="0" err="1" smtClean="0">
                <a:solidFill>
                  <a:srgbClr val="000000"/>
                </a:solidFill>
              </a:rPr>
              <a:t>adresse</a:t>
            </a:r>
            <a:r>
              <a:rPr lang="en-GB" sz="2000" dirty="0" smtClean="0">
                <a:solidFill>
                  <a:srgbClr val="000000"/>
                </a:solidFill>
              </a:rPr>
              <a:t> en </a:t>
            </a:r>
            <a:r>
              <a:rPr lang="en-GB" sz="2000" dirty="0" err="1" smtClean="0">
                <a:solidFill>
                  <a:srgbClr val="000000"/>
                </a:solidFill>
              </a:rPr>
              <a:t>mémoire</a:t>
            </a:r>
            <a:r>
              <a:rPr lang="en-GB" sz="2000" dirty="0" smtClean="0">
                <a:solidFill>
                  <a:srgbClr val="000000"/>
                </a:solidFill>
              </a:rPr>
              <a:t> (</a:t>
            </a:r>
            <a:r>
              <a:rPr lang="en-GB" sz="2000" dirty="0" err="1" smtClean="0">
                <a:solidFill>
                  <a:srgbClr val="000000"/>
                </a:solidFill>
              </a:rPr>
              <a:t>identifie</a:t>
            </a:r>
            <a:r>
              <a:rPr lang="en-GB" sz="2000" dirty="0" smtClean="0">
                <a:solidFill>
                  <a:srgbClr val="000000"/>
                </a:solidFill>
              </a:rPr>
              <a:t> </a:t>
            </a:r>
            <a:r>
              <a:rPr lang="en-GB" sz="2000" dirty="0" err="1" smtClean="0">
                <a:solidFill>
                  <a:srgbClr val="000000"/>
                </a:solidFill>
              </a:rPr>
              <a:t>l’objet</a:t>
            </a:r>
            <a:r>
              <a:rPr lang="en-GB" sz="2000" dirty="0" smtClean="0">
                <a:solidFill>
                  <a:srgbClr val="000000"/>
                </a:solidFill>
              </a:rPr>
              <a:t>)</a:t>
            </a:r>
            <a:r>
              <a:rPr lang="ar-SA" sz="2000" dirty="0" err="1" smtClean="0">
                <a:solidFill>
                  <a:srgbClr val="000000"/>
                </a:solidFill>
              </a:rPr>
              <a:t>‏</a:t>
            </a:r>
            <a:endParaRPr lang="en-GB" sz="2000" dirty="0" smtClean="0">
              <a:solidFill>
                <a:srgbClr val="000000"/>
              </a:solidFill>
            </a:endParaRPr>
          </a:p>
          <a:p>
            <a:pPr marL="741363" lvl="1" indent="-284163">
              <a:spcBef>
                <a:spcPts val="5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000" dirty="0" smtClean="0">
                <a:solidFill>
                  <a:srgbClr val="000000"/>
                </a:solidFill>
              </a:rPr>
              <a:t>un </a:t>
            </a:r>
            <a:r>
              <a:rPr lang="en-GB" sz="2000" dirty="0" err="1" smtClean="0">
                <a:solidFill>
                  <a:srgbClr val="000000"/>
                </a:solidFill>
              </a:rPr>
              <a:t>comportement</a:t>
            </a:r>
            <a:r>
              <a:rPr lang="en-GB" sz="2000" dirty="0" smtClean="0">
                <a:solidFill>
                  <a:srgbClr val="000000"/>
                </a:solidFill>
              </a:rPr>
              <a:t> (</a:t>
            </a:r>
            <a:r>
              <a:rPr lang="en-GB" sz="2000" dirty="0" err="1" smtClean="0">
                <a:solidFill>
                  <a:srgbClr val="000000"/>
                </a:solidFill>
              </a:rPr>
              <a:t>ou</a:t>
            </a:r>
            <a:r>
              <a:rPr lang="en-GB" sz="2000" dirty="0" smtClean="0">
                <a:solidFill>
                  <a:srgbClr val="000000"/>
                </a:solidFill>
              </a:rPr>
              <a:t> interface)</a:t>
            </a:r>
            <a:r>
              <a:rPr lang="ar-SA" sz="2000" dirty="0" err="1" smtClean="0">
                <a:solidFill>
                  <a:srgbClr val="000000"/>
                </a:solidFill>
              </a:rPr>
              <a:t>‏</a:t>
            </a:r>
            <a:endParaRPr lang="en-GB" sz="2000" dirty="0" smtClean="0">
              <a:solidFill>
                <a:srgbClr val="000000"/>
              </a:solidFill>
            </a:endParaRPr>
          </a:p>
          <a:p>
            <a:pPr marL="741363" lvl="1" indent="-284163">
              <a:spcBef>
                <a:spcPts val="5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000" dirty="0" smtClean="0">
                <a:solidFill>
                  <a:srgbClr val="000000"/>
                </a:solidFill>
              </a:rPr>
              <a:t>un </a:t>
            </a:r>
            <a:r>
              <a:rPr lang="en-GB" sz="2000" dirty="0" err="1" smtClean="0">
                <a:solidFill>
                  <a:srgbClr val="000000"/>
                </a:solidFill>
              </a:rPr>
              <a:t>état</a:t>
            </a:r>
            <a:r>
              <a:rPr lang="en-GB" sz="2000" dirty="0" smtClean="0">
                <a:solidFill>
                  <a:srgbClr val="000000"/>
                </a:solidFill>
              </a:rPr>
              <a:t> interne</a:t>
            </a:r>
          </a:p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err="1" smtClean="0">
                <a:solidFill>
                  <a:srgbClr val="000000"/>
                </a:solidFill>
              </a:rPr>
              <a:t>L’état</a:t>
            </a:r>
            <a:r>
              <a:rPr lang="en-GB" sz="2400" dirty="0" smtClean="0">
                <a:solidFill>
                  <a:srgbClr val="000000"/>
                </a:solidFill>
              </a:rPr>
              <a:t> interne </a:t>
            </a:r>
            <a:r>
              <a:rPr lang="en-GB" sz="2400" dirty="0" err="1" smtClean="0">
                <a:solidFill>
                  <a:srgbClr val="000000"/>
                </a:solidFill>
              </a:rPr>
              <a:t>est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donné</a:t>
            </a:r>
            <a:r>
              <a:rPr lang="en-GB" sz="2400" dirty="0" smtClean="0">
                <a:solidFill>
                  <a:srgbClr val="000000"/>
                </a:solidFill>
              </a:rPr>
              <a:t> par </a:t>
            </a:r>
            <a:r>
              <a:rPr lang="en-GB" sz="2400" u="sng" dirty="0" smtClean="0">
                <a:solidFill>
                  <a:srgbClr val="000000"/>
                </a:solidFill>
              </a:rPr>
              <a:t>les </a:t>
            </a:r>
            <a:r>
              <a:rPr lang="en-GB" sz="2400" u="sng" dirty="0" err="1" smtClean="0">
                <a:solidFill>
                  <a:srgbClr val="000000"/>
                </a:solidFill>
              </a:rPr>
              <a:t>valeurs</a:t>
            </a:r>
            <a:r>
              <a:rPr lang="en-GB" sz="2400" u="sng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de variables</a:t>
            </a:r>
          </a:p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smtClean="0">
                <a:solidFill>
                  <a:srgbClr val="000000"/>
                </a:solidFill>
              </a:rPr>
              <a:t>Le </a:t>
            </a:r>
            <a:r>
              <a:rPr lang="en-GB" sz="2400" dirty="0" err="1" smtClean="0">
                <a:solidFill>
                  <a:srgbClr val="000000"/>
                </a:solidFill>
              </a:rPr>
              <a:t>comportement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est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donné</a:t>
            </a:r>
            <a:r>
              <a:rPr lang="en-GB" sz="2400" dirty="0" smtClean="0">
                <a:solidFill>
                  <a:srgbClr val="000000"/>
                </a:solidFill>
              </a:rPr>
              <a:t> par des </a:t>
            </a:r>
            <a:r>
              <a:rPr lang="en-GB" sz="2400" dirty="0" err="1" smtClean="0">
                <a:solidFill>
                  <a:srgbClr val="000000"/>
                </a:solidFill>
              </a:rPr>
              <a:t>fonctions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ou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procédures</a:t>
            </a:r>
            <a:r>
              <a:rPr lang="en-GB" sz="2400" dirty="0" smtClean="0">
                <a:solidFill>
                  <a:srgbClr val="000000"/>
                </a:solidFill>
              </a:rPr>
              <a:t>, </a:t>
            </a:r>
            <a:r>
              <a:rPr lang="en-GB" sz="2400" dirty="0" err="1" smtClean="0">
                <a:solidFill>
                  <a:srgbClr val="000000"/>
                </a:solidFill>
              </a:rPr>
              <a:t>appelées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méthodes</a:t>
            </a:r>
            <a:r>
              <a:rPr lang="en-GB" sz="2400" dirty="0" smtClean="0">
                <a:solidFill>
                  <a:srgbClr val="000000"/>
                </a:solidFill>
              </a:rPr>
              <a:t> en python</a:t>
            </a:r>
          </a:p>
          <a:p>
            <a:pPr>
              <a:defRPr/>
            </a:pPr>
            <a:endParaRPr lang="fr-CA" dirty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Interactions entre objets</a:t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52400" y="1131888"/>
            <a:ext cx="8839200" cy="4994275"/>
          </a:xfrm>
        </p:spPr>
        <p:txBody>
          <a:bodyPr/>
          <a:lstStyle/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smtClean="0">
                <a:solidFill>
                  <a:srgbClr val="000000"/>
                </a:solidFill>
              </a:rPr>
              <a:t>Les </a:t>
            </a:r>
            <a:r>
              <a:rPr lang="en-GB" sz="2400" dirty="0" err="1" smtClean="0">
                <a:solidFill>
                  <a:srgbClr val="000000"/>
                </a:solidFill>
              </a:rPr>
              <a:t>objets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interagissent</a:t>
            </a:r>
            <a:r>
              <a:rPr lang="en-GB" sz="2400" dirty="0" smtClean="0">
                <a:solidFill>
                  <a:srgbClr val="000000"/>
                </a:solidFill>
              </a:rPr>
              <a:t> en </a:t>
            </a:r>
            <a:r>
              <a:rPr lang="en-GB" sz="2400" dirty="0" err="1" smtClean="0">
                <a:solidFill>
                  <a:srgbClr val="000000"/>
                </a:solidFill>
              </a:rPr>
              <a:t>s’envoyant</a:t>
            </a:r>
            <a:r>
              <a:rPr lang="en-GB" sz="2400" dirty="0" smtClean="0">
                <a:solidFill>
                  <a:srgbClr val="000000"/>
                </a:solidFill>
              </a:rPr>
              <a:t> des messages </a:t>
            </a:r>
            <a:r>
              <a:rPr lang="en-GB" sz="2400" dirty="0" err="1" smtClean="0">
                <a:solidFill>
                  <a:srgbClr val="000000"/>
                </a:solidFill>
              </a:rPr>
              <a:t>synchrones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smtClean="0">
                <a:solidFill>
                  <a:srgbClr val="000000"/>
                </a:solidFill>
              </a:rPr>
              <a:t>Les </a:t>
            </a:r>
            <a:r>
              <a:rPr lang="en-GB" sz="2400" dirty="0" err="1" smtClean="0">
                <a:solidFill>
                  <a:srgbClr val="000000"/>
                </a:solidFill>
              </a:rPr>
              <a:t>méthodes</a:t>
            </a:r>
            <a:r>
              <a:rPr lang="en-GB" sz="2400" dirty="0" smtClean="0">
                <a:solidFill>
                  <a:srgbClr val="000000"/>
                </a:solidFill>
              </a:rPr>
              <a:t> de la </a:t>
            </a:r>
            <a:r>
              <a:rPr lang="en-GB" sz="2400" dirty="0" err="1" smtClean="0">
                <a:solidFill>
                  <a:srgbClr val="000000"/>
                </a:solidFill>
              </a:rPr>
              <a:t>classe</a:t>
            </a:r>
            <a:r>
              <a:rPr lang="en-GB" sz="2400" dirty="0" smtClean="0">
                <a:solidFill>
                  <a:srgbClr val="000000"/>
                </a:solidFill>
              </a:rPr>
              <a:t> d’un objet correspondent aux messages </a:t>
            </a:r>
            <a:r>
              <a:rPr lang="en-GB" sz="2400" dirty="0" err="1" smtClean="0">
                <a:solidFill>
                  <a:srgbClr val="000000"/>
                </a:solidFill>
              </a:rPr>
              <a:t>qu’on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peut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lui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envoyer</a:t>
            </a:r>
            <a:r>
              <a:rPr lang="en-GB" sz="2400" dirty="0" smtClean="0">
                <a:solidFill>
                  <a:srgbClr val="000000"/>
                </a:solidFill>
              </a:rPr>
              <a:t> : </a:t>
            </a:r>
          </a:p>
          <a:p>
            <a:pPr marL="798513" lvl="1" indent="-341313">
              <a:spcBef>
                <a:spcPts val="6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dirty="0" err="1" smtClean="0">
                <a:solidFill>
                  <a:srgbClr val="000000"/>
                </a:solidFill>
              </a:rPr>
              <a:t>Quand</a:t>
            </a:r>
            <a:r>
              <a:rPr lang="en-GB" dirty="0" smtClean="0">
                <a:solidFill>
                  <a:srgbClr val="000000"/>
                </a:solidFill>
              </a:rPr>
              <a:t> un objet </a:t>
            </a:r>
            <a:r>
              <a:rPr lang="en-GB" dirty="0" err="1" smtClean="0">
                <a:solidFill>
                  <a:srgbClr val="000000"/>
                </a:solidFill>
              </a:rPr>
              <a:t>reçoit</a:t>
            </a:r>
            <a:r>
              <a:rPr lang="en-GB" dirty="0" smtClean="0">
                <a:solidFill>
                  <a:srgbClr val="000000"/>
                </a:solidFill>
              </a:rPr>
              <a:t> un message, </a:t>
            </a:r>
            <a:r>
              <a:rPr lang="en-GB" dirty="0" err="1" smtClean="0">
                <a:solidFill>
                  <a:srgbClr val="000000"/>
                </a:solidFill>
              </a:rPr>
              <a:t>il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exécute</a:t>
            </a:r>
            <a:r>
              <a:rPr lang="en-GB" dirty="0" smtClean="0">
                <a:solidFill>
                  <a:srgbClr val="000000"/>
                </a:solidFill>
              </a:rPr>
              <a:t> la </a:t>
            </a:r>
            <a:r>
              <a:rPr lang="en-GB" dirty="0" err="1" smtClean="0">
                <a:solidFill>
                  <a:srgbClr val="000000"/>
                </a:solidFill>
              </a:rPr>
              <a:t>méthode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correspondante</a:t>
            </a:r>
            <a:endParaRPr lang="en-GB" dirty="0" smtClean="0">
              <a:solidFill>
                <a:srgbClr val="000000"/>
              </a:solidFill>
            </a:endParaRPr>
          </a:p>
          <a:p>
            <a:pPr marL="341313" indent="-341313">
              <a:spcBef>
                <a:spcPts val="600"/>
              </a:spcBef>
              <a:buFont typeface="Calibri" pitchFamily="34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dirty="0" err="1" smtClean="0">
                <a:solidFill>
                  <a:srgbClr val="000000"/>
                </a:solidFill>
              </a:rPr>
              <a:t>Exemples</a:t>
            </a:r>
            <a:r>
              <a:rPr lang="en-GB" sz="2400" dirty="0" smtClean="0">
                <a:solidFill>
                  <a:srgbClr val="000000"/>
                </a:solidFill>
              </a:rPr>
              <a:t> :</a:t>
            </a:r>
          </a:p>
          <a:p>
            <a:pPr marL="341313" indent="-341313">
              <a:spcBef>
                <a:spcPts val="600"/>
              </a:spcBef>
              <a:buFont typeface="Calibri" pitchFamily="34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b="1" dirty="0" smtClean="0">
                <a:solidFill>
                  <a:srgbClr val="000000"/>
                </a:solidFill>
              </a:rPr>
              <a:t>objet1.afficheToi()</a:t>
            </a:r>
          </a:p>
          <a:p>
            <a:pPr marL="341313" indent="-341313">
              <a:spcBef>
                <a:spcPts val="600"/>
              </a:spcBef>
              <a:buFont typeface="Calibri" pitchFamily="34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b="1" dirty="0" err="1" smtClean="0">
                <a:solidFill>
                  <a:srgbClr val="000000"/>
                </a:solidFill>
              </a:rPr>
              <a:t>employe.setSalaire</a:t>
            </a:r>
            <a:r>
              <a:rPr lang="en-GB" sz="2400" b="1" dirty="0" smtClean="0">
                <a:solidFill>
                  <a:srgbClr val="000000"/>
                </a:solidFill>
              </a:rPr>
              <a:t>(43500)</a:t>
            </a:r>
          </a:p>
          <a:p>
            <a:pPr marL="341313" indent="-341313">
              <a:spcBef>
                <a:spcPts val="600"/>
              </a:spcBef>
              <a:buFont typeface="Calibri" pitchFamily="34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b="1" dirty="0" err="1" smtClean="0">
                <a:solidFill>
                  <a:srgbClr val="000000"/>
                </a:solidFill>
              </a:rPr>
              <a:t>voiture.demarre</a:t>
            </a:r>
            <a:r>
              <a:rPr lang="en-GB" sz="2400" b="1" dirty="0" smtClean="0">
                <a:solidFill>
                  <a:srgbClr val="000000"/>
                </a:solidFill>
              </a:rPr>
              <a:t>()</a:t>
            </a:r>
          </a:p>
          <a:p>
            <a:pPr marL="341313" indent="-341313">
              <a:spcBef>
                <a:spcPts val="600"/>
              </a:spcBef>
              <a:buFont typeface="Calibri" pitchFamily="34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/>
            </a:pPr>
            <a:r>
              <a:rPr lang="en-GB" sz="2400" b="1" dirty="0" err="1" smtClean="0">
                <a:solidFill>
                  <a:srgbClr val="000000"/>
                </a:solidFill>
              </a:rPr>
              <a:t>directeur.autorise</a:t>
            </a:r>
            <a:r>
              <a:rPr lang="en-GB" sz="2400" b="1" dirty="0" smtClean="0">
                <a:solidFill>
                  <a:srgbClr val="000000"/>
                </a:solidFill>
              </a:rPr>
              <a:t>(1250, 0.25)</a:t>
            </a:r>
          </a:p>
          <a:p>
            <a:pPr>
              <a:defRPr/>
            </a:pPr>
            <a:endParaRPr lang="fr-CA" dirty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Messages entre objets</a:t>
            </a:r>
          </a:p>
        </p:txBody>
      </p:sp>
      <p:grpSp>
        <p:nvGrpSpPr>
          <p:cNvPr id="9219" name="Group 14"/>
          <p:cNvGrpSpPr>
            <a:grpSpLocks/>
          </p:cNvGrpSpPr>
          <p:nvPr/>
        </p:nvGrpSpPr>
        <p:grpSpPr bwMode="auto">
          <a:xfrm>
            <a:off x="539750" y="2276475"/>
            <a:ext cx="2952750" cy="2232025"/>
            <a:chOff x="793" y="1434"/>
            <a:chExt cx="1860" cy="1406"/>
          </a:xfrm>
        </p:grpSpPr>
        <p:sp>
          <p:nvSpPr>
            <p:cNvPr id="9232" name="Oval 4"/>
            <p:cNvSpPr>
              <a:spLocks noChangeArrowheads="1"/>
            </p:cNvSpPr>
            <p:nvPr/>
          </p:nvSpPr>
          <p:spPr bwMode="auto">
            <a:xfrm>
              <a:off x="793" y="1434"/>
              <a:ext cx="1860" cy="14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endParaRPr lang="fr-CA" altLang="fr-FR"/>
            </a:p>
          </p:txBody>
        </p:sp>
        <p:sp>
          <p:nvSpPr>
            <p:cNvPr id="9233" name="Line 6"/>
            <p:cNvSpPr>
              <a:spLocks noChangeShapeType="1"/>
            </p:cNvSpPr>
            <p:nvPr/>
          </p:nvSpPr>
          <p:spPr bwMode="auto">
            <a:xfrm flipV="1">
              <a:off x="839" y="1842"/>
              <a:ext cx="1723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9234" name="Text Box 7"/>
            <p:cNvSpPr txBox="1">
              <a:spLocks noChangeArrowheads="1"/>
            </p:cNvSpPr>
            <p:nvPr/>
          </p:nvSpPr>
          <p:spPr bwMode="auto">
            <a:xfrm>
              <a:off x="1202" y="1480"/>
              <a:ext cx="1044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fr-CA" altLang="fr-FR" sz="1200" b="1">
                  <a:solidFill>
                    <a:schemeClr val="tx1"/>
                  </a:solidFill>
                </a:rPr>
                <a:t>Nom</a:t>
              </a:r>
              <a:r>
                <a:rPr lang="fr-CA" altLang="fr-FR" sz="1200">
                  <a:solidFill>
                    <a:schemeClr val="tx1"/>
                  </a:solidFill>
                </a:rPr>
                <a:t>: Brid Patt</a:t>
              </a:r>
            </a:p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fr-CA" altLang="fr-FR" sz="1200" b="1">
                  <a:solidFill>
                    <a:schemeClr val="tx1"/>
                  </a:solidFill>
                </a:rPr>
                <a:t>Age</a:t>
              </a:r>
              <a:r>
                <a:rPr lang="fr-CA" altLang="fr-FR" sz="1200">
                  <a:solidFill>
                    <a:schemeClr val="tx1"/>
                  </a:solidFill>
                </a:rPr>
                <a:t>: 34</a:t>
              </a:r>
            </a:p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fr-CA" altLang="fr-FR" sz="1200" b="1">
                  <a:solidFill>
                    <a:schemeClr val="tx1"/>
                  </a:solidFill>
                </a:rPr>
                <a:t>Classe</a:t>
              </a:r>
              <a:r>
                <a:rPr lang="fr-CA" altLang="fr-FR" sz="1200">
                  <a:solidFill>
                    <a:schemeClr val="tx1"/>
                  </a:solidFill>
                </a:rPr>
                <a:t>: 5</a:t>
              </a:r>
            </a:p>
          </p:txBody>
        </p:sp>
        <p:sp>
          <p:nvSpPr>
            <p:cNvPr id="9235" name="Text Box 9"/>
            <p:cNvSpPr txBox="1">
              <a:spLocks noChangeArrowheads="1"/>
            </p:cNvSpPr>
            <p:nvPr/>
          </p:nvSpPr>
          <p:spPr bwMode="auto">
            <a:xfrm>
              <a:off x="884" y="1933"/>
              <a:ext cx="146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fr-CA" altLang="fr-FR">
                  <a:solidFill>
                    <a:schemeClr val="tx1"/>
                  </a:solidFill>
                </a:rPr>
                <a:t>Conduite promenade</a:t>
              </a:r>
            </a:p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fr-CA" altLang="fr-FR">
                  <a:solidFill>
                    <a:schemeClr val="tx1"/>
                  </a:solidFill>
                </a:rPr>
                <a:t>Conduite sportive</a:t>
              </a:r>
            </a:p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fr-CA" altLang="fr-FR">
                  <a:solidFill>
                    <a:schemeClr val="tx1"/>
                  </a:solidFill>
                </a:rPr>
                <a:t>Réchauffer voiture</a:t>
              </a:r>
            </a:p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endParaRPr lang="fr-CA" altLang="fr-FR">
                <a:solidFill>
                  <a:schemeClr val="tx1"/>
                </a:solidFill>
              </a:endParaRPr>
            </a:p>
          </p:txBody>
        </p:sp>
      </p:grpSp>
      <p:sp>
        <p:nvSpPr>
          <p:cNvPr id="9220" name="Oval 5"/>
          <p:cNvSpPr>
            <a:spLocks noChangeArrowheads="1"/>
          </p:cNvSpPr>
          <p:nvPr/>
        </p:nvSpPr>
        <p:spPr bwMode="auto">
          <a:xfrm>
            <a:off x="5651500" y="2060575"/>
            <a:ext cx="2952750" cy="22320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9221" name="Line 10"/>
          <p:cNvSpPr>
            <a:spLocks noChangeShapeType="1"/>
          </p:cNvSpPr>
          <p:nvPr/>
        </p:nvSpPr>
        <p:spPr bwMode="auto">
          <a:xfrm flipV="1">
            <a:off x="5722938" y="2781300"/>
            <a:ext cx="2808287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9222" name="Text Box 11"/>
          <p:cNvSpPr txBox="1">
            <a:spLocks noChangeArrowheads="1"/>
          </p:cNvSpPr>
          <p:nvPr/>
        </p:nvSpPr>
        <p:spPr bwMode="auto">
          <a:xfrm>
            <a:off x="6516688" y="2060575"/>
            <a:ext cx="16573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sz="1200" b="1">
                <a:solidFill>
                  <a:schemeClr val="tx1"/>
                </a:solidFill>
              </a:rPr>
              <a:t>Marque: M3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sz="1200" b="1">
                <a:solidFill>
                  <a:schemeClr val="tx1"/>
                </a:solidFill>
              </a:rPr>
              <a:t>Vitesse</a:t>
            </a:r>
            <a:r>
              <a:rPr lang="fr-CA" altLang="fr-FR" sz="1200">
                <a:solidFill>
                  <a:schemeClr val="tx1"/>
                </a:solidFill>
              </a:rPr>
              <a:t>: 100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sz="1200" b="1">
                <a:solidFill>
                  <a:schemeClr val="tx1"/>
                </a:solidFill>
              </a:rPr>
              <a:t>ABS</a:t>
            </a:r>
            <a:r>
              <a:rPr lang="fr-CA" altLang="fr-FR" sz="1200">
                <a:solidFill>
                  <a:schemeClr val="tx1"/>
                </a:solidFill>
              </a:rPr>
              <a:t>: true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sz="1200" b="1">
                <a:solidFill>
                  <a:schemeClr val="tx1"/>
                </a:solidFill>
              </a:rPr>
              <a:t>Acceleration</a:t>
            </a:r>
            <a:r>
              <a:rPr lang="fr-CA" altLang="fr-FR" sz="1200">
                <a:solidFill>
                  <a:schemeClr val="tx1"/>
                </a:solidFill>
              </a:rPr>
              <a:t>: 3</a:t>
            </a:r>
          </a:p>
        </p:txBody>
      </p:sp>
      <p:sp>
        <p:nvSpPr>
          <p:cNvPr id="9223" name="Text Box 12"/>
          <p:cNvSpPr txBox="1">
            <a:spLocks noChangeArrowheads="1"/>
          </p:cNvSpPr>
          <p:nvPr/>
        </p:nvSpPr>
        <p:spPr bwMode="auto">
          <a:xfrm>
            <a:off x="6011863" y="2852738"/>
            <a:ext cx="11874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>
                <a:solidFill>
                  <a:schemeClr val="tx1"/>
                </a:solidFill>
              </a:rPr>
              <a:t>démarre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>
                <a:solidFill>
                  <a:schemeClr val="tx1"/>
                </a:solidFill>
              </a:rPr>
              <a:t>chauffage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>
                <a:solidFill>
                  <a:schemeClr val="tx1"/>
                </a:solidFill>
              </a:rPr>
              <a:t>Roule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>
                <a:solidFill>
                  <a:schemeClr val="tx1"/>
                </a:solidFill>
              </a:rPr>
              <a:t>arrete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>
              <a:solidFill>
                <a:schemeClr val="tx1"/>
              </a:solidFill>
            </a:endParaRPr>
          </a:p>
        </p:txBody>
      </p:sp>
      <p:sp>
        <p:nvSpPr>
          <p:cNvPr id="9224" name="AutoShape 13"/>
          <p:cNvSpPr>
            <a:spLocks noChangeArrowheads="1"/>
          </p:cNvSpPr>
          <p:nvPr/>
        </p:nvSpPr>
        <p:spPr bwMode="auto">
          <a:xfrm>
            <a:off x="3563938" y="2781300"/>
            <a:ext cx="2303462" cy="431800"/>
          </a:xfrm>
          <a:prstGeom prst="curvedDownArrow">
            <a:avLst>
              <a:gd name="adj1" fmla="val 106691"/>
              <a:gd name="adj2" fmla="val 213382"/>
              <a:gd name="adj3" fmla="val 33333"/>
            </a:avLst>
          </a:prstGeom>
          <a:solidFill>
            <a:srgbClr val="00B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9225" name="Text Box 16"/>
          <p:cNvSpPr txBox="1">
            <a:spLocks noChangeArrowheads="1"/>
          </p:cNvSpPr>
          <p:nvPr/>
        </p:nvSpPr>
        <p:spPr bwMode="auto">
          <a:xfrm>
            <a:off x="3059113" y="5445125"/>
            <a:ext cx="3536950" cy="9159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chemeClr val="tx1"/>
                </a:solidFill>
              </a:rPr>
              <a:t>Émetteur:</a:t>
            </a:r>
            <a:r>
              <a:rPr lang="fr-CA" altLang="fr-FR" b="1">
                <a:solidFill>
                  <a:srgbClr val="CC0000"/>
                </a:solidFill>
              </a:rPr>
              <a:t> bridObj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chemeClr val="tx1"/>
                </a:solidFill>
              </a:rPr>
              <a:t>Récepteur:</a:t>
            </a:r>
            <a:r>
              <a:rPr lang="fr-CA" altLang="fr-FR" b="1">
                <a:solidFill>
                  <a:srgbClr val="CC0000"/>
                </a:solidFill>
              </a:rPr>
              <a:t> voiObj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chemeClr val="tx1"/>
                </a:solidFill>
              </a:rPr>
              <a:t>Traducation:</a:t>
            </a:r>
            <a:r>
              <a:rPr lang="fr-CA" altLang="fr-FR" b="1">
                <a:solidFill>
                  <a:srgbClr val="CC0000"/>
                </a:solidFill>
              </a:rPr>
              <a:t> voiobj.roule(100);</a:t>
            </a:r>
          </a:p>
        </p:txBody>
      </p:sp>
      <p:sp>
        <p:nvSpPr>
          <p:cNvPr id="9226" name="Text Box 17"/>
          <p:cNvSpPr txBox="1">
            <a:spLocks noChangeArrowheads="1"/>
          </p:cNvSpPr>
          <p:nvPr/>
        </p:nvSpPr>
        <p:spPr bwMode="auto">
          <a:xfrm>
            <a:off x="900113" y="4724400"/>
            <a:ext cx="76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rgbClr val="CC0000"/>
                </a:solidFill>
              </a:rPr>
              <a:t>Objet</a:t>
            </a:r>
          </a:p>
        </p:txBody>
      </p:sp>
      <p:sp>
        <p:nvSpPr>
          <p:cNvPr id="9227" name="Text Box 18"/>
          <p:cNvSpPr txBox="1">
            <a:spLocks noChangeArrowheads="1"/>
          </p:cNvSpPr>
          <p:nvPr/>
        </p:nvSpPr>
        <p:spPr bwMode="auto">
          <a:xfrm>
            <a:off x="6877050" y="4724400"/>
            <a:ext cx="76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rgbClr val="CC0000"/>
                </a:solidFill>
              </a:rPr>
              <a:t>Objet</a:t>
            </a:r>
          </a:p>
        </p:txBody>
      </p:sp>
      <p:sp>
        <p:nvSpPr>
          <p:cNvPr id="9228" name="Text Box 19"/>
          <p:cNvSpPr txBox="1">
            <a:spLocks noChangeArrowheads="1"/>
          </p:cNvSpPr>
          <p:nvPr/>
        </p:nvSpPr>
        <p:spPr bwMode="auto">
          <a:xfrm>
            <a:off x="971550" y="5157788"/>
            <a:ext cx="1871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chemeClr val="accent2"/>
                </a:solidFill>
              </a:rPr>
              <a:t>Réf: bridObj</a:t>
            </a:r>
          </a:p>
        </p:txBody>
      </p:sp>
      <p:sp>
        <p:nvSpPr>
          <p:cNvPr id="9229" name="Text Box 20"/>
          <p:cNvSpPr txBox="1">
            <a:spLocks noChangeArrowheads="1"/>
          </p:cNvSpPr>
          <p:nvPr/>
        </p:nvSpPr>
        <p:spPr bwMode="auto">
          <a:xfrm>
            <a:off x="7092950" y="5084763"/>
            <a:ext cx="1403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chemeClr val="accent2"/>
                </a:solidFill>
              </a:rPr>
              <a:t>Réf: voiObj</a:t>
            </a:r>
          </a:p>
        </p:txBody>
      </p:sp>
      <p:sp>
        <p:nvSpPr>
          <p:cNvPr id="9230" name="Text Box 21"/>
          <p:cNvSpPr txBox="1">
            <a:spLocks noChangeArrowheads="1"/>
          </p:cNvSpPr>
          <p:nvPr/>
        </p:nvSpPr>
        <p:spPr bwMode="auto">
          <a:xfrm>
            <a:off x="3635375" y="3357563"/>
            <a:ext cx="208756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chemeClr val="accent2"/>
                </a:solidFill>
              </a:rPr>
              <a:t>Message envoyé: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 b="1">
                <a:solidFill>
                  <a:srgbClr val="CC0000"/>
                </a:solidFill>
              </a:rPr>
              <a:t>Roule à 100 km/h</a:t>
            </a:r>
            <a:endParaRPr lang="fr-CA" altLang="fr-FR" b="1">
              <a:solidFill>
                <a:schemeClr val="accent2"/>
              </a:solidFill>
            </a:endParaRP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 b="1">
              <a:solidFill>
                <a:schemeClr val="accent2"/>
              </a:solidFill>
            </a:endParaRPr>
          </a:p>
        </p:txBody>
      </p:sp>
      <p:sp>
        <p:nvSpPr>
          <p:cNvPr id="9231" name="AutoShape 22"/>
          <p:cNvSpPr>
            <a:spLocks noChangeArrowheads="1"/>
          </p:cNvSpPr>
          <p:nvPr/>
        </p:nvSpPr>
        <p:spPr bwMode="auto">
          <a:xfrm>
            <a:off x="4500563" y="4149725"/>
            <a:ext cx="431800" cy="1008063"/>
          </a:xfrm>
          <a:prstGeom prst="downArrow">
            <a:avLst>
              <a:gd name="adj1" fmla="val 50000"/>
              <a:gd name="adj2" fmla="val 58364"/>
            </a:avLst>
          </a:prstGeom>
          <a:solidFill>
            <a:srgbClr val="00B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 smtClean="0"/>
              <a:t>Programmation orienté objet</a:t>
            </a:r>
          </a:p>
        </p:txBody>
      </p:sp>
      <p:sp>
        <p:nvSpPr>
          <p:cNvPr id="10243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La programmation objet est une approche utilisée pour modéliser notre problème :</a:t>
            </a:r>
            <a:br>
              <a:rPr lang="fr-CA" altLang="fr-FR" sz="2400" smtClean="0">
                <a:solidFill>
                  <a:srgbClr val="000000"/>
                </a:solidFill>
              </a:rPr>
            </a:br>
            <a:endParaRPr lang="fr-CA" altLang="fr-FR" sz="2400" smtClean="0">
              <a:solidFill>
                <a:srgbClr val="000000"/>
              </a:solidFill>
            </a:endParaRP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Concept basé sur les objets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Les objets ont un état interne (variables d’état)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Les objets ont un comportement (méthodes)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Les objets collaborent entre eux en s’échangeant des messages (pour fournir les fonctionnalités que l'on demande à l'application)</a:t>
            </a:r>
            <a:r>
              <a:rPr lang="ar-SA" altLang="fr-FR" smtClean="0">
                <a:solidFill>
                  <a:srgbClr val="000000"/>
                </a:solidFill>
              </a:rPr>
              <a:t>‏</a:t>
            </a:r>
            <a:r>
              <a:rPr lang="fr-CA" altLang="fr-FR" smtClean="0">
                <a:solidFill>
                  <a:srgbClr val="000000"/>
                </a:solidFill>
              </a:rPr>
              <a:t> en étant tour à tour émetteur et/ou récepteur</a:t>
            </a: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3"/>
          <p:cNvSpPr>
            <a:spLocks noGrp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 smtClean="0"/>
              <a:t>Classe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Les classes en python</a:t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12291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025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Les objets qui collaborent dans une application peuvent être très </a:t>
            </a:r>
            <a:r>
              <a:rPr lang="fr-CA" altLang="fr-FR" b="1" smtClean="0">
                <a:solidFill>
                  <a:srgbClr val="000000"/>
                </a:solidFill>
              </a:rPr>
              <a:t>nombreux.</a:t>
            </a:r>
            <a:endParaRPr lang="fr-CA" altLang="fr-FR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On peut le plus souvent dégager des types d’objets ayant: 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	-une structure presque identique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	-un comportement très proche, sinon identique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Exemple: les articles dans une application de gestion de magasin</a:t>
            </a:r>
            <a:br>
              <a:rPr lang="fr-CA" altLang="fr-FR" smtClean="0">
                <a:solidFill>
                  <a:srgbClr val="000000"/>
                </a:solidFill>
              </a:rPr>
            </a:br>
            <a:endParaRPr lang="fr-CA" altLang="fr-FR" smtClean="0">
              <a:solidFill>
                <a:srgbClr val="000000"/>
              </a:solidFill>
            </a:endParaRP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  <p:sp>
        <p:nvSpPr>
          <p:cNvPr id="6" name="Rectangle 5"/>
          <p:cNvSpPr/>
          <p:nvPr/>
        </p:nvSpPr>
        <p:spPr>
          <a:xfrm>
            <a:off x="2268538" y="4868863"/>
            <a:ext cx="4572000" cy="1385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CA" sz="2800" dirty="0">
                <a:solidFill>
                  <a:srgbClr val="000000"/>
                </a:solidFill>
              </a:rPr>
              <a:t>La notion de </a:t>
            </a:r>
            <a:r>
              <a:rPr lang="fr-CA" sz="2800" b="1" dirty="0">
                <a:solidFill>
                  <a:srgbClr val="000000"/>
                </a:solidFill>
              </a:rPr>
              <a:t>classe</a:t>
            </a:r>
            <a:r>
              <a:rPr lang="fr-CA" sz="2800" dirty="0">
                <a:solidFill>
                  <a:srgbClr val="000000"/>
                </a:solidFill>
              </a:rPr>
              <a:t> correspond à cette notion de types d’objets</a:t>
            </a:r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/>
          <p:cNvSpPr>
            <a:spLocks noGrp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 smtClean="0"/>
              <a:t>Syntaxe- classe</a:t>
            </a:r>
          </a:p>
        </p:txBody>
      </p:sp>
      <p:sp>
        <p:nvSpPr>
          <p:cNvPr id="13315" name="Rectangle 1"/>
          <p:cNvSpPr>
            <a:spLocks noChangeArrowheads="1"/>
          </p:cNvSpPr>
          <p:nvPr/>
        </p:nvSpPr>
        <p:spPr bwMode="auto">
          <a:xfrm>
            <a:off x="900113" y="908050"/>
            <a:ext cx="6875462" cy="35401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class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&lt;nom_de_classe&gt;(&lt;classe de base&gt;):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  <a:t># variable locale </a:t>
            </a:r>
            <a:r>
              <a:rPr lang="en-GB" altLang="fr-FR" sz="1600" i="1">
                <a:solidFill>
                  <a:srgbClr val="808080"/>
                </a:solidFill>
              </a:rPr>
              <a:t>à</a:t>
            </a:r>
            <a: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  <a:t> la classe</a:t>
            </a:r>
            <a:b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</a:br>
            <a: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nom_var1 = valeur1              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nom_var2 = valeur2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  <a:t># fonctions membre</a:t>
            </a:r>
            <a:b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</a:br>
            <a: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fonc1(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, ...,</a:t>
            </a:r>
            <a:r>
              <a:rPr lang="en-GB" altLang="fr-FR" sz="1600">
                <a:solidFill>
                  <a:srgbClr val="808080"/>
                </a:solidFill>
                <a:latin typeface="Courier New" panose="02070309020205020404" pitchFamily="49" charset="0"/>
              </a:rPr>
              <a:t>param_n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):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  <a:t>    # variable d'une instance ou attribut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.membre = valeur  </a:t>
            </a:r>
            <a: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</a:br>
            <a:r>
              <a:rPr lang="en-GB" altLang="fr-FR" sz="1600" i="1">
                <a:solidFill>
                  <a:srgbClr val="80808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...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foncn(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, ..., </a:t>
            </a:r>
            <a:r>
              <a:rPr lang="en-GB" altLang="fr-FR" sz="1600">
                <a:solidFill>
                  <a:srgbClr val="808080"/>
                </a:solidFill>
                <a:latin typeface="Courier New" panose="02070309020205020404" pitchFamily="49" charset="0"/>
              </a:rPr>
              <a:t>param_2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    ...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...</a:t>
            </a:r>
            <a:endParaRPr lang="en-GB" altLang="fr-F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 smtClean="0"/>
              <a:t>Exemple</a:t>
            </a:r>
          </a:p>
        </p:txBody>
      </p:sp>
      <p:sp>
        <p:nvSpPr>
          <p:cNvPr id="14339" name="Rectangle 1"/>
          <p:cNvSpPr>
            <a:spLocks noChangeArrowheads="1"/>
          </p:cNvSpPr>
          <p:nvPr/>
        </p:nvSpPr>
        <p:spPr bwMode="auto">
          <a:xfrm>
            <a:off x="684213" y="1484313"/>
            <a:ext cx="6850062" cy="23082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from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math </a:t>
            </a: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import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*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class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Point: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600">
                <a:solidFill>
                  <a:srgbClr val="B200B2"/>
                </a:solidFill>
                <a:latin typeface="Courier New" panose="02070309020205020404" pitchFamily="49" charset="0"/>
              </a:rPr>
              <a:t>__init__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, x, y):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.x = x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.y = y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distance_origine(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  <a:b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600" b="1">
                <a:solidFill>
                  <a:srgbClr val="000080"/>
                </a:solidFill>
                <a:latin typeface="Courier New" panose="02070309020205020404" pitchFamily="49" charset="0"/>
              </a:rPr>
              <a:t>return 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sqrt(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.x * 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.x + 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.y * </a:t>
            </a:r>
            <a:r>
              <a:rPr lang="en-GB" altLang="fr-FR" sz="16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600">
                <a:solidFill>
                  <a:srgbClr val="000000"/>
                </a:solidFill>
                <a:latin typeface="Courier New" panose="02070309020205020404" pitchFamily="49" charset="0"/>
              </a:rPr>
              <a:t>.y)</a:t>
            </a:r>
            <a:endParaRPr lang="en-GB" altLang="fr-FR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Membres d’une classe</a:t>
            </a:r>
          </a:p>
        </p:txBody>
      </p:sp>
      <p:sp>
        <p:nvSpPr>
          <p:cNvPr id="15363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b="1" smtClean="0">
                <a:solidFill>
                  <a:srgbClr val="000000"/>
                </a:solidFill>
              </a:rPr>
              <a:t>Constructeur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000" smtClean="0">
                <a:solidFill>
                  <a:srgbClr val="000000"/>
                </a:solidFill>
              </a:rPr>
              <a:t>Le constructeur sert à créer des objets à partir de la classe (modèle) qui sont aussi appelés instances de la classe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b="1" smtClean="0">
                <a:solidFill>
                  <a:srgbClr val="000000"/>
                </a:solidFill>
              </a:rPr>
              <a:t>Initialisateur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Permet d'initialiser l'état d'un objet créé par l'intermédiaire du constructeur.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b="1" smtClean="0">
                <a:solidFill>
                  <a:srgbClr val="000000"/>
                </a:solidFill>
              </a:rPr>
              <a:t>Méthodes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Les méthodes déterminent le comportement des instances de la classe lorsqu’elles reçoivent un message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b="1" smtClean="0">
                <a:solidFill>
                  <a:srgbClr val="000000"/>
                </a:solidFill>
              </a:rPr>
              <a:t>État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000" smtClean="0">
                <a:solidFill>
                  <a:srgbClr val="000000"/>
                </a:solidFill>
              </a:rPr>
              <a:t>Quand une instance (objet) est créée, son état est conservé dans les variables d’instance</a:t>
            </a: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z="2000" smtClean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Exemple : classe Point dans espace 2D</a:t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684213" y="1412875"/>
            <a:ext cx="5983287" cy="3108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from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math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import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*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class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Point: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400">
                <a:solidFill>
                  <a:srgbClr val="B200B2"/>
                </a:solidFill>
                <a:latin typeface="Courier New" panose="02070309020205020404" pitchFamily="49" charset="0"/>
              </a:rPr>
              <a:t>__init__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, x, y):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.x = x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.y = y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distance_origine(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return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sqrt(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.x *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.x +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.y *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.y)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</a:br>
            <a: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pointX = Point(</a:t>
            </a:r>
            <a:r>
              <a:rPr lang="en-GB" altLang="fr-FR" sz="1400">
                <a:solidFill>
                  <a:srgbClr val="0000FF"/>
                </a:solidFill>
                <a:latin typeface="Courier New" panose="02070309020205020404" pitchFamily="49" charset="0"/>
              </a:rPr>
              <a:t>5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GB" altLang="fr-FR" sz="1400">
                <a:solidFill>
                  <a:srgbClr val="0000FF"/>
                </a:solidFill>
                <a:latin typeface="Courier New" panose="02070309020205020404" pitchFamily="49" charset="0"/>
              </a:rPr>
              <a:t>4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80"/>
                </a:solidFill>
                <a:latin typeface="Courier New" panose="02070309020205020404" pitchFamily="49" charset="0"/>
              </a:rPr>
              <a:t>print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(pointX)</a:t>
            </a:r>
            <a:endParaRPr lang="en-GB" altLang="fr-FR" sz="200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Rôles d’une classe</a:t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r>
              <a:rPr lang="en-GB" altLang="fr-FR" smtClean="0"/>
              <a:t/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17411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Une classe est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un </a:t>
            </a:r>
            <a:r>
              <a:rPr lang="fr-CA" altLang="fr-FR" b="1" smtClean="0">
                <a:solidFill>
                  <a:srgbClr val="000000"/>
                </a:solidFill>
              </a:rPr>
              <a:t>type</a:t>
            </a:r>
            <a:r>
              <a:rPr lang="fr-CA" altLang="fr-FR" smtClean="0">
                <a:solidFill>
                  <a:srgbClr val="000000"/>
                </a:solidFill>
              </a:rPr>
              <a:t> qui décrit une </a:t>
            </a:r>
            <a:r>
              <a:rPr lang="fr-CA" altLang="fr-FR" u="sng" smtClean="0">
                <a:solidFill>
                  <a:srgbClr val="000000"/>
                </a:solidFill>
              </a:rPr>
              <a:t>structure</a:t>
            </a:r>
            <a:r>
              <a:rPr lang="fr-CA" altLang="fr-FR" smtClean="0">
                <a:solidFill>
                  <a:srgbClr val="000000"/>
                </a:solidFill>
              </a:rPr>
              <a:t> (variables d’état)</a:t>
            </a:r>
            <a:r>
              <a:rPr lang="ar-SA" altLang="fr-FR" smtClean="0">
                <a:solidFill>
                  <a:srgbClr val="000000"/>
                </a:solidFill>
              </a:rPr>
              <a:t>‏</a:t>
            </a:r>
            <a:endParaRPr lang="fr-CA" altLang="fr-FR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et un </a:t>
            </a:r>
            <a:r>
              <a:rPr lang="fr-CA" altLang="fr-FR" sz="2400" u="sng" smtClean="0">
                <a:solidFill>
                  <a:srgbClr val="000000"/>
                </a:solidFill>
              </a:rPr>
              <a:t>comportement</a:t>
            </a:r>
            <a:r>
              <a:rPr lang="fr-CA" altLang="fr-FR" sz="2400" smtClean="0">
                <a:solidFill>
                  <a:srgbClr val="000000"/>
                </a:solidFill>
              </a:rPr>
              <a:t> (méthodes)</a:t>
            </a:r>
            <a:r>
              <a:rPr lang="ar-SA" altLang="fr-FR" sz="2400" smtClean="0">
                <a:solidFill>
                  <a:srgbClr val="000000"/>
                </a:solidFill>
              </a:rPr>
              <a:t>‏</a:t>
            </a:r>
            <a:endParaRPr lang="fr-CA" altLang="fr-FR" sz="2400" smtClean="0">
              <a:solidFill>
                <a:srgbClr val="000000"/>
              </a:solidFill>
            </a:endParaRP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Mais aussi un module faisant partie de la décomposition de l’application en entités plus petites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un générateur ou fabriqued’objets par l’intermédiaire des constructeurs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z="2400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Une classe, en étant un container, permet d’encapsuler les objets par l’indicateur de visibilité: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les membres </a:t>
            </a:r>
            <a:r>
              <a:rPr lang="fr-CA" altLang="fr-FR" b="1" smtClean="0">
                <a:solidFill>
                  <a:srgbClr val="000000"/>
                </a:solidFill>
              </a:rPr>
              <a:t>public </a:t>
            </a:r>
            <a:r>
              <a:rPr lang="fr-CA" altLang="fr-FR" smtClean="0">
                <a:solidFill>
                  <a:srgbClr val="000000"/>
                </a:solidFill>
              </a:rPr>
              <a:t>sont vus par les autres classes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les membres </a:t>
            </a:r>
            <a:r>
              <a:rPr lang="fr-CA" altLang="fr-FR" b="1" smtClean="0">
                <a:solidFill>
                  <a:srgbClr val="000000"/>
                </a:solidFill>
              </a:rPr>
              <a:t>private </a:t>
            </a:r>
            <a:r>
              <a:rPr lang="fr-CA" altLang="fr-FR" smtClean="0">
                <a:solidFill>
                  <a:srgbClr val="000000"/>
                </a:solidFill>
              </a:rPr>
              <a:t>sont cachés</a:t>
            </a: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Les constructeurs Classes et instances</a:t>
            </a:r>
          </a:p>
        </p:txBody>
      </p:sp>
      <p:sp>
        <p:nvSpPr>
          <p:cNvPr id="18435" name="Espace réservé du contenu 1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fr-FR" sz="2400" smtClean="0">
                <a:solidFill>
                  <a:srgbClr val="000000"/>
                </a:solidFill>
              </a:rPr>
              <a:t>Une instance d’une classe est créée par </a:t>
            </a:r>
            <a:r>
              <a:rPr lang="en-GB" altLang="fr-FR" sz="2400" b="1" u="sng" smtClean="0">
                <a:solidFill>
                  <a:srgbClr val="000000"/>
                </a:solidFill>
              </a:rPr>
              <a:t>un constructeur</a:t>
            </a:r>
            <a:r>
              <a:rPr lang="en-GB" altLang="fr-FR" sz="2400" smtClean="0">
                <a:solidFill>
                  <a:srgbClr val="000000"/>
                </a:solidFill>
              </a:rPr>
              <a:t> de la classe.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fr-FR" sz="2400" smtClean="0">
                <a:solidFill>
                  <a:srgbClr val="000000"/>
                </a:solidFill>
              </a:rPr>
              <a:t>Une fois qu’elle est créée, l’instance</a:t>
            </a:r>
          </a:p>
          <a:p>
            <a:pPr lvl="1">
              <a:buFont typeface="Wingdings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fr-FR" smtClean="0">
                <a:solidFill>
                  <a:srgbClr val="000000"/>
                </a:solidFill>
              </a:rPr>
              <a:t>a son propre état interne (les valeurs des variables)</a:t>
            </a:r>
            <a:r>
              <a:rPr lang="ar-SA" altLang="fr-FR" smtClean="0">
                <a:solidFill>
                  <a:srgbClr val="000000"/>
                </a:solidFill>
              </a:rPr>
              <a:t>‏</a:t>
            </a:r>
            <a:endParaRPr lang="en-GB" altLang="fr-FR" smtClean="0">
              <a:solidFill>
                <a:srgbClr val="000000"/>
              </a:solidFill>
            </a:endParaRPr>
          </a:p>
          <a:p>
            <a:pPr lvl="1">
              <a:buFont typeface="Wingdings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fr-FR" smtClean="0">
                <a:solidFill>
                  <a:srgbClr val="000000"/>
                </a:solidFill>
              </a:rPr>
              <a:t>partage le code qui détermine son comportement (les méthodes) avec les autres instances de la classe</a:t>
            </a: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827088" y="4508500"/>
            <a:ext cx="2520950" cy="18732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716463" y="4292600"/>
            <a:ext cx="1727200" cy="431800"/>
          </a:xfrm>
          <a:prstGeom prst="rect">
            <a:avLst/>
          </a:prstGeom>
          <a:solidFill>
            <a:srgbClr val="00B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4932363" y="4508500"/>
            <a:ext cx="1727200" cy="431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5148263" y="4724400"/>
            <a:ext cx="1727200" cy="431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5364163" y="4941888"/>
            <a:ext cx="1727200" cy="431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41" name="Rectangle 11"/>
          <p:cNvSpPr>
            <a:spLocks noChangeArrowheads="1"/>
          </p:cNvSpPr>
          <p:nvPr/>
        </p:nvSpPr>
        <p:spPr bwMode="auto">
          <a:xfrm>
            <a:off x="6011863" y="5589588"/>
            <a:ext cx="1727200" cy="431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42" name="Rectangle 12"/>
          <p:cNvSpPr>
            <a:spLocks noChangeArrowheads="1"/>
          </p:cNvSpPr>
          <p:nvPr/>
        </p:nvSpPr>
        <p:spPr bwMode="auto">
          <a:xfrm>
            <a:off x="6227763" y="5805488"/>
            <a:ext cx="1727200" cy="431800"/>
          </a:xfrm>
          <a:prstGeom prst="rect">
            <a:avLst/>
          </a:prstGeom>
          <a:solidFill>
            <a:srgbClr val="F50B6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43" name="AutoShape 13"/>
          <p:cNvSpPr>
            <a:spLocks noChangeArrowheads="1"/>
          </p:cNvSpPr>
          <p:nvPr/>
        </p:nvSpPr>
        <p:spPr bwMode="auto">
          <a:xfrm>
            <a:off x="3492500" y="4797425"/>
            <a:ext cx="1008063" cy="792163"/>
          </a:xfrm>
          <a:prstGeom prst="rightArrow">
            <a:avLst>
              <a:gd name="adj1" fmla="val 50000"/>
              <a:gd name="adj2" fmla="val 31814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44" name="Text Box 14"/>
          <p:cNvSpPr txBox="1">
            <a:spLocks noChangeArrowheads="1"/>
          </p:cNvSpPr>
          <p:nvPr/>
        </p:nvSpPr>
        <p:spPr bwMode="auto">
          <a:xfrm>
            <a:off x="1619250" y="4797425"/>
            <a:ext cx="882650" cy="366713"/>
          </a:xfrm>
          <a:prstGeom prst="rect">
            <a:avLst/>
          </a:pr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/>
              <a:t>Classe</a:t>
            </a:r>
          </a:p>
        </p:txBody>
      </p:sp>
      <p:sp>
        <p:nvSpPr>
          <p:cNvPr id="18445" name="Text Box 15"/>
          <p:cNvSpPr txBox="1">
            <a:spLocks noChangeArrowheads="1"/>
          </p:cNvSpPr>
          <p:nvPr/>
        </p:nvSpPr>
        <p:spPr bwMode="auto">
          <a:xfrm>
            <a:off x="7235825" y="4365625"/>
            <a:ext cx="844550" cy="366713"/>
          </a:xfrm>
          <a:prstGeom prst="rect">
            <a:avLst/>
          </a:pr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/>
              <a:t>Objets</a:t>
            </a:r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Constructeurs et initialisateur de classe</a:t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19459" name="Espace réservé du contenu 6"/>
          <p:cNvSpPr>
            <a:spLocks noGrp="1"/>
          </p:cNvSpPr>
          <p:nvPr>
            <p:ph idx="1"/>
          </p:nvPr>
        </p:nvSpPr>
        <p:spPr bwMode="auto">
          <a:xfrm>
            <a:off x="323850" y="1131888"/>
            <a:ext cx="866775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Chaque classe dispose: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b="1" smtClean="0">
                <a:solidFill>
                  <a:srgbClr val="000000"/>
                </a:solidFill>
              </a:rPr>
              <a:t>Un</a:t>
            </a:r>
            <a:r>
              <a:rPr lang="fr-CA" altLang="fr-FR" smtClean="0">
                <a:solidFill>
                  <a:srgbClr val="000000"/>
                </a:solidFill>
              </a:rPr>
              <a:t> constructeur: crée l'objet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b="1" smtClean="0">
                <a:solidFill>
                  <a:srgbClr val="000000"/>
                </a:solidFill>
              </a:rPr>
              <a:t>Un</a:t>
            </a:r>
            <a:r>
              <a:rPr lang="fr-CA" altLang="fr-FR" smtClean="0">
                <a:solidFill>
                  <a:srgbClr val="000000"/>
                </a:solidFill>
              </a:rPr>
              <a:t> initialisateur: initialise l'objet créé par le constructeur</a:t>
            </a:r>
            <a:br>
              <a:rPr lang="fr-CA" altLang="fr-FR" smtClean="0">
                <a:solidFill>
                  <a:srgbClr val="000000"/>
                </a:solidFill>
              </a:rPr>
            </a:br>
            <a:endParaRPr lang="fr-CA" altLang="fr-FR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Un initialisateur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Initialise l’état de de l'objet</a:t>
            </a:r>
          </a:p>
          <a:p>
            <a:pPr lvl="1"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A la signature __init()__</a:t>
            </a:r>
          </a:p>
          <a:p>
            <a:pPr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  <a:p>
            <a:pPr>
              <a:buFontTx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/>
              <a:t>Code d'appel: utiliser le constructeur pour la création de l'objet.</a:t>
            </a:r>
          </a:p>
          <a:p>
            <a:pPr>
              <a:buFontTx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/>
              <a:t>Le constructeur a le même nombre de paramètres que l'initialisateur</a:t>
            </a:r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Exemple constructeur-initialisateur</a:t>
            </a:r>
          </a:p>
        </p:txBody>
      </p: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2051050" y="1341438"/>
            <a:ext cx="3300413" cy="26765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from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math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import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*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class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Point: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400">
                <a:solidFill>
                  <a:srgbClr val="B200B2"/>
                </a:solidFill>
                <a:latin typeface="Courier New" panose="02070309020205020404" pitchFamily="49" charset="0"/>
              </a:rPr>
              <a:t>__init__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, x, y):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.x = x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.y = y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</a:br>
            <a: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</a:br>
            <a: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 b="1">
                <a:solidFill>
                  <a:srgbClr val="00808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pointX = Point(</a:t>
            </a:r>
            <a:r>
              <a:rPr lang="en-GB" altLang="fr-FR" sz="1400">
                <a:solidFill>
                  <a:srgbClr val="0000FF"/>
                </a:solidFill>
                <a:latin typeface="Courier New" panose="02070309020205020404" pitchFamily="49" charset="0"/>
              </a:rPr>
              <a:t>5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GB" altLang="fr-FR" sz="1400">
                <a:solidFill>
                  <a:srgbClr val="0000FF"/>
                </a:solidFill>
                <a:latin typeface="Courier New" panose="02070309020205020404" pitchFamily="49" charset="0"/>
              </a:rPr>
              <a:t>4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80"/>
                </a:solidFill>
                <a:latin typeface="Courier New" panose="02070309020205020404" pitchFamily="49" charset="0"/>
              </a:rPr>
              <a:t>print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(pointX)</a:t>
            </a:r>
            <a:endParaRPr lang="en-GB" altLang="fr-FR" sz="2000"/>
          </a:p>
        </p:txBody>
      </p:sp>
      <p:sp>
        <p:nvSpPr>
          <p:cNvPr id="20484" name="AutoShape 8"/>
          <p:cNvSpPr>
            <a:spLocks noChangeArrowheads="1"/>
          </p:cNvSpPr>
          <p:nvPr/>
        </p:nvSpPr>
        <p:spPr bwMode="auto">
          <a:xfrm>
            <a:off x="5580063" y="981075"/>
            <a:ext cx="1584325" cy="681038"/>
          </a:xfrm>
          <a:prstGeom prst="wedgeRoundRectCallout">
            <a:avLst>
              <a:gd name="adj1" fmla="val -174046"/>
              <a:gd name="adj2" fmla="val 102449"/>
              <a:gd name="adj3" fmla="val 166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914400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>
                <a:solidFill>
                  <a:schemeClr val="tx1"/>
                </a:solidFill>
              </a:rPr>
              <a:t>Initialisateur</a:t>
            </a:r>
          </a:p>
        </p:txBody>
      </p:sp>
      <p:sp>
        <p:nvSpPr>
          <p:cNvPr id="20485" name="AutoShape 6"/>
          <p:cNvSpPr>
            <a:spLocks noChangeArrowheads="1"/>
          </p:cNvSpPr>
          <p:nvPr/>
        </p:nvSpPr>
        <p:spPr bwMode="auto">
          <a:xfrm>
            <a:off x="5867400" y="4076700"/>
            <a:ext cx="1800225" cy="609600"/>
          </a:xfrm>
          <a:prstGeom prst="wedgeRoundRectCallout">
            <a:avLst>
              <a:gd name="adj1" fmla="val -175356"/>
              <a:gd name="adj2" fmla="val -112241"/>
              <a:gd name="adj3" fmla="val 166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914400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>
                <a:solidFill>
                  <a:schemeClr val="tx1"/>
                </a:solidFill>
              </a:rPr>
              <a:t>Constructeur</a:t>
            </a:r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Les méthodes</a:t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21507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b="1" smtClean="0">
                <a:solidFill>
                  <a:srgbClr val="000000"/>
                </a:solidFill>
              </a:rPr>
              <a:t>Types de méthodes que l’on peut avoir dans une classe:</a:t>
            </a:r>
            <a:r>
              <a:rPr lang="fr-CA" altLang="fr-FR" smtClean="0">
                <a:solidFill>
                  <a:srgbClr val="000000"/>
                </a:solidFill>
              </a:rPr>
              <a:t/>
            </a:r>
            <a:br>
              <a:rPr lang="fr-CA" altLang="fr-FR" smtClean="0">
                <a:solidFill>
                  <a:srgbClr val="000000"/>
                </a:solidFill>
              </a:rPr>
            </a:br>
            <a:endParaRPr lang="fr-CA" altLang="fr-FR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Accesseurs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Méthodes services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Méthodes utilitaires</a:t>
            </a:r>
            <a:r>
              <a:rPr lang="fr-CA" altLang="fr-FR" i="1" smtClean="0">
                <a:solidFill>
                  <a:srgbClr val="000000"/>
                </a:solidFill>
              </a:rPr>
              <a:t> </a:t>
            </a:r>
            <a:endParaRPr lang="fr-CA" altLang="fr-FR" smtClean="0">
              <a:solidFill>
                <a:srgbClr val="000000"/>
              </a:solidFill>
            </a:endParaRP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re 1"/>
          <p:cNvSpPr>
            <a:spLocks noGrp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 smtClean="0"/>
              <a:t>Encapsulation - visibilité</a:t>
            </a:r>
          </a:p>
        </p:txBody>
      </p:sp>
      <p:sp>
        <p:nvSpPr>
          <p:cNvPr id="2253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2152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Blip>
                <a:blip r:embed="rId2"/>
              </a:buBlip>
            </a:pPr>
            <a:r>
              <a:rPr lang="fr-CA" altLang="fr-FR" smtClean="0"/>
              <a:t>Certaines des méthodes et attributs devraient être protégés</a:t>
            </a:r>
          </a:p>
          <a:p>
            <a:pPr lvl="1"/>
            <a:r>
              <a:rPr lang="fr-CA" altLang="fr-FR" smtClean="0"/>
              <a:t>Utilisation du concept de visibilité –private-</a:t>
            </a:r>
          </a:p>
          <a:p>
            <a:pPr lvl="1"/>
            <a:r>
              <a:rPr lang="fr-CA" altLang="fr-FR" smtClean="0"/>
              <a:t>python: utilise __ devant un membre pour indiquer –private-</a:t>
            </a:r>
          </a:p>
        </p:txBody>
      </p:sp>
      <p:graphicFrame>
        <p:nvGraphicFramePr>
          <p:cNvPr id="2" name="Tableau 1"/>
          <p:cNvGraphicFramePr>
            <a:graphicFrameLocks noGrp="1"/>
          </p:cNvGraphicFramePr>
          <p:nvPr/>
        </p:nvGraphicFramePr>
        <p:xfrm>
          <a:off x="628650" y="3284538"/>
          <a:ext cx="7886700" cy="297021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28900"/>
                <a:gridCol w="2628900"/>
                <a:gridCol w="2628900"/>
              </a:tblGrid>
              <a:tr h="517960">
                <a:tc>
                  <a:txBody>
                    <a:bodyPr/>
                    <a:lstStyle/>
                    <a:p>
                      <a:pPr algn="ctr" fontAlgn="t"/>
                      <a:r>
                        <a:rPr lang="fr-CA" sz="1600" b="1" dirty="0" smtClean="0">
                          <a:effectLst/>
                          <a:latin typeface="Calibri" panose="020F0502020204030204" pitchFamily="34" charset="0"/>
                        </a:rPr>
                        <a:t>Attribut</a:t>
                      </a:r>
                      <a:r>
                        <a:rPr lang="fr-CA" sz="1600" b="1" dirty="0"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fr-CA" sz="1600" b="1" dirty="0">
                          <a:effectLst/>
                          <a:latin typeface="Calibri" panose="020F0502020204030204" pitchFamily="34" charset="0"/>
                        </a:rPr>
                      </a:br>
                      <a:endParaRPr lang="fr-CA" sz="16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CA" sz="1600" b="1" dirty="0" smtClean="0">
                          <a:effectLst/>
                          <a:latin typeface="Calibri" panose="020F0502020204030204" pitchFamily="34" charset="0"/>
                        </a:rPr>
                        <a:t>Visibilité</a:t>
                      </a:r>
                      <a:r>
                        <a:rPr lang="fr-CA" sz="1600" b="1" dirty="0"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fr-CA" sz="1600" b="1" dirty="0">
                          <a:effectLst/>
                          <a:latin typeface="Calibri" panose="020F0502020204030204" pitchFamily="34" charset="0"/>
                        </a:rPr>
                      </a:br>
                      <a:endParaRPr lang="fr-CA" sz="16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CA" sz="1600" b="1" dirty="0" smtClean="0">
                          <a:effectLst/>
                          <a:latin typeface="Calibri" panose="020F0502020204030204" pitchFamily="34" charset="0"/>
                        </a:rPr>
                        <a:t>Comportement</a:t>
                      </a:r>
                      <a:r>
                        <a:rPr lang="fr-CA" sz="1600" b="1" dirty="0"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fr-CA" sz="1600" b="1" dirty="0">
                          <a:effectLst/>
                          <a:latin typeface="Calibri" panose="020F0502020204030204" pitchFamily="34" charset="0"/>
                        </a:rPr>
                      </a:br>
                      <a:endParaRPr lang="fr-CA" sz="16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</a:tr>
              <a:tr h="684846">
                <a:tc>
                  <a:txBody>
                    <a:bodyPr/>
                    <a:lstStyle/>
                    <a:p>
                      <a:pPr fontAlgn="t"/>
                      <a:r>
                        <a:rPr lang="fr-CA" sz="1600" dirty="0" smtClean="0">
                          <a:effectLst/>
                          <a:latin typeface="Calibri" panose="020F0502020204030204" pitchFamily="34" charset="0"/>
                        </a:rPr>
                        <a:t>Nom</a:t>
                      </a:r>
                      <a:endParaRPr lang="fr-CA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CA" sz="1600" dirty="0">
                          <a:effectLst/>
                          <a:latin typeface="Calibri" panose="020F0502020204030204" pitchFamily="34" charset="0"/>
                        </a:rPr>
                        <a:t>Public</a:t>
                      </a:r>
                      <a:br>
                        <a:rPr lang="fr-CA" sz="1600" dirty="0">
                          <a:effectLst/>
                          <a:latin typeface="Calibri" panose="020F0502020204030204" pitchFamily="34" charset="0"/>
                        </a:rPr>
                      </a:br>
                      <a:endParaRPr lang="fr-CA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</a:rPr>
                        <a:t>Est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</a:rPr>
                        <a:t> accessible de </a:t>
                      </a:r>
                      <a:r>
                        <a:rPr lang="en-US" sz="1600" baseline="0" dirty="0" err="1" smtClean="0">
                          <a:effectLst/>
                          <a:latin typeface="Calibri" panose="020F0502020204030204" pitchFamily="34" charset="0"/>
                        </a:rPr>
                        <a:t>l’extérieur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en-US" sz="1600" dirty="0">
                          <a:effectLst/>
                          <a:latin typeface="Calibri" panose="020F0502020204030204" pitchFamily="34" charset="0"/>
                        </a:rPr>
                      </a:br>
                      <a:endParaRPr lang="en-US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</a:tr>
              <a:tr h="1249446">
                <a:tc>
                  <a:txBody>
                    <a:bodyPr/>
                    <a:lstStyle/>
                    <a:p>
                      <a:pPr fontAlgn="t"/>
                      <a:r>
                        <a:rPr lang="fr-CA" sz="1600" dirty="0" smtClean="0">
                          <a:effectLst/>
                          <a:latin typeface="Calibri" panose="020F0502020204030204" pitchFamily="34" charset="0"/>
                        </a:rPr>
                        <a:t>_nom</a:t>
                      </a:r>
                      <a:endParaRPr lang="fr-CA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CA" sz="1600" dirty="0" err="1">
                          <a:effectLst/>
                          <a:latin typeface="Calibri" panose="020F0502020204030204" pitchFamily="34" charset="0"/>
                        </a:rPr>
                        <a:t>Protected</a:t>
                      </a:r>
                      <a:r>
                        <a:rPr lang="fr-CA" sz="1600" dirty="0"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fr-CA" sz="1600" dirty="0">
                          <a:effectLst/>
                          <a:latin typeface="Calibri" panose="020F0502020204030204" pitchFamily="34" charset="0"/>
                        </a:rPr>
                      </a:br>
                      <a:endParaRPr lang="fr-CA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Calibri" panose="020F0502020204030204" pitchFamily="34" charset="0"/>
                        </a:rPr>
                        <a:t>Comme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</a:rPr>
                        <a:t> un member public </a:t>
                      </a:r>
                      <a:r>
                        <a:rPr lang="en-US" sz="1600" dirty="0" err="1" smtClean="0">
                          <a:effectLst/>
                          <a:latin typeface="Calibri" panose="020F0502020204030204" pitchFamily="34" charset="0"/>
                        </a:rPr>
                        <a:t>mais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</a:rPr>
                        <a:t> ne </a:t>
                      </a:r>
                      <a:r>
                        <a:rPr lang="en-US" sz="1600" dirty="0" err="1" smtClean="0">
                          <a:effectLst/>
                          <a:latin typeface="Calibri" panose="020F0502020204030204" pitchFamily="34" charset="0"/>
                        </a:rPr>
                        <a:t>doit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</a:rPr>
                        <a:t> pas </a:t>
                      </a:r>
                      <a:r>
                        <a:rPr lang="en-US" sz="1600" dirty="0" err="1" smtClean="0">
                          <a:effectLst/>
                          <a:latin typeface="Calibri" panose="020F0502020204030204" pitchFamily="34" charset="0"/>
                        </a:rPr>
                        <a:t>être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</a:rPr>
                        <a:t> accessible de </a:t>
                      </a:r>
                      <a:r>
                        <a:rPr lang="en-US" sz="1600" dirty="0" err="1" smtClean="0">
                          <a:effectLst/>
                          <a:latin typeface="Calibri" panose="020F0502020204030204" pitchFamily="34" charset="0"/>
                        </a:rPr>
                        <a:t>l’extérieur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</a:rPr>
                        <a:t>. Utile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Calibri" panose="020F0502020204030204" pitchFamily="34" charset="0"/>
                        </a:rPr>
                        <a:t>dans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</a:rPr>
                        <a:t> les relations </a:t>
                      </a:r>
                      <a:r>
                        <a:rPr lang="en-US" sz="1600" baseline="0" dirty="0" err="1" smtClean="0">
                          <a:effectLst/>
                          <a:latin typeface="Calibri" panose="020F0502020204030204" pitchFamily="34" charset="0"/>
                        </a:rPr>
                        <a:t>d’héritage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en-US" sz="1600" dirty="0">
                          <a:effectLst/>
                          <a:latin typeface="Calibri" panose="020F0502020204030204" pitchFamily="34" charset="0"/>
                        </a:rPr>
                      </a:br>
                      <a:endParaRPr lang="en-US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</a:tr>
              <a:tr h="517960">
                <a:tc>
                  <a:txBody>
                    <a:bodyPr/>
                    <a:lstStyle/>
                    <a:p>
                      <a:pPr fontAlgn="t"/>
                      <a:r>
                        <a:rPr lang="fr-CA" sz="1600" dirty="0" smtClean="0">
                          <a:effectLst/>
                          <a:latin typeface="Calibri" panose="020F0502020204030204" pitchFamily="34" charset="0"/>
                        </a:rPr>
                        <a:t>__nom</a:t>
                      </a:r>
                      <a:endParaRPr lang="fr-CA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CA" sz="1600" dirty="0" err="1">
                          <a:effectLst/>
                          <a:latin typeface="Calibri" panose="020F0502020204030204" pitchFamily="34" charset="0"/>
                        </a:rPr>
                        <a:t>Private</a:t>
                      </a:r>
                      <a:r>
                        <a:rPr lang="fr-CA" sz="1600" dirty="0"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fr-CA" sz="1600" dirty="0">
                          <a:effectLst/>
                          <a:latin typeface="Calibri" panose="020F0502020204030204" pitchFamily="34" charset="0"/>
                        </a:rPr>
                      </a:br>
                      <a:endParaRPr lang="fr-CA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Calibri" panose="020F0502020204030204" pitchFamily="34" charset="0"/>
                        </a:rPr>
                        <a:t>N’est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</a:rPr>
                        <a:t> pas visible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</a:rPr>
                        <a:t> et </a:t>
                      </a:r>
                      <a:r>
                        <a:rPr lang="en-US" sz="1600" baseline="0" dirty="0" err="1" smtClean="0">
                          <a:effectLst/>
                          <a:latin typeface="Calibri" panose="020F0502020204030204" pitchFamily="34" charset="0"/>
                        </a:rPr>
                        <a:t>n’est</a:t>
                      </a:r>
                      <a:r>
                        <a:rPr lang="en-US" sz="1600" baseline="0" dirty="0" smtClean="0">
                          <a:effectLst/>
                          <a:latin typeface="Calibri" panose="020F0502020204030204" pitchFamily="34" charset="0"/>
                        </a:rPr>
                        <a:t> pas visible de </a:t>
                      </a:r>
                      <a:r>
                        <a:rPr lang="en-US" sz="1600" baseline="0" dirty="0" err="1" smtClean="0">
                          <a:effectLst/>
                          <a:latin typeface="Calibri" panose="020F0502020204030204" pitchFamily="34" charset="0"/>
                        </a:rPr>
                        <a:t>l’extérieur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152" marR="15152" marT="15151" marB="15151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Accesseurs</a:t>
            </a:r>
          </a:p>
        </p:txBody>
      </p:sp>
      <p:sp>
        <p:nvSpPr>
          <p:cNvPr id="23555" name="Espace réservé du contenu 9"/>
          <p:cNvSpPr>
            <a:spLocks noGrp="1"/>
          </p:cNvSpPr>
          <p:nvPr>
            <p:ph idx="1"/>
          </p:nvPr>
        </p:nvSpPr>
        <p:spPr bwMode="auto">
          <a:xfrm>
            <a:off x="323850" y="1131888"/>
            <a:ext cx="8667750" cy="4889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Deux types de méthodes servent à donner accès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aux variables depuis l’extérieur de la classe :</a:t>
            </a:r>
            <a:br>
              <a:rPr lang="fr-CA" altLang="fr-FR" sz="2400" smtClean="0">
                <a:solidFill>
                  <a:srgbClr val="000000"/>
                </a:solidFill>
              </a:rPr>
            </a:br>
            <a:endParaRPr lang="fr-CA" altLang="fr-FR" sz="2400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b="1" smtClean="0">
                <a:solidFill>
                  <a:srgbClr val="000000"/>
                </a:solidFill>
              </a:rPr>
              <a:t>Lecture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Accesseurs en lecture pour lire les valeurs des variables 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Souvent appelé </a:t>
            </a:r>
            <a:r>
              <a:rPr lang="fr-CA" altLang="fr-FR" sz="2400" i="1" u="sng" smtClean="0">
                <a:solidFill>
                  <a:srgbClr val="000000"/>
                </a:solidFill>
              </a:rPr>
              <a:t>getter</a:t>
            </a:r>
            <a:r>
              <a:rPr lang="fr-CA" altLang="fr-FR" sz="2400" i="1" smtClean="0">
                <a:solidFill>
                  <a:srgbClr val="000000"/>
                </a:solidFill>
              </a:rPr>
              <a:t> </a:t>
            </a:r>
            <a:br>
              <a:rPr lang="fr-CA" altLang="fr-FR" sz="2400" i="1" smtClean="0">
                <a:solidFill>
                  <a:srgbClr val="000000"/>
                </a:solidFill>
              </a:rPr>
            </a:br>
            <a:endParaRPr lang="fr-CA" altLang="fr-FR" sz="2400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b="1" smtClean="0">
                <a:solidFill>
                  <a:srgbClr val="000000"/>
                </a:solidFill>
              </a:rPr>
              <a:t>Écriture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Accesseurs en écriture, appelé aussi modificateurs ou mutateurs (pour modifier leur valeur)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z="2400" smtClean="0">
                <a:solidFill>
                  <a:srgbClr val="000000"/>
                </a:solidFill>
              </a:rPr>
              <a:t>Souvent appelé</a:t>
            </a:r>
            <a:r>
              <a:rPr lang="fr-CA" altLang="fr-FR" sz="2400" smtClean="0"/>
              <a:t> </a:t>
            </a:r>
            <a:r>
              <a:rPr lang="fr-CA" altLang="fr-FR" sz="2400" i="1" u="sng" smtClean="0">
                <a:solidFill>
                  <a:srgbClr val="000000"/>
                </a:solidFill>
              </a:rPr>
              <a:t>setter</a:t>
            </a:r>
            <a:r>
              <a:rPr lang="fr-CA" altLang="fr-FR" sz="2400" i="1" smtClean="0">
                <a:solidFill>
                  <a:srgbClr val="000000"/>
                </a:solidFill>
              </a:rPr>
              <a:t> </a:t>
            </a:r>
            <a:endParaRPr lang="fr-CA" altLang="fr-FR" sz="2400" smtClean="0">
              <a:solidFill>
                <a:srgbClr val="000000"/>
              </a:solidFill>
            </a:endParaRP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z="2400" smtClean="0"/>
          </a:p>
        </p:txBody>
      </p:sp>
      <p:cxnSp>
        <p:nvCxnSpPr>
          <p:cNvPr id="7" name="Connecteur droit avec flèche 6"/>
          <p:cNvCxnSpPr/>
          <p:nvPr/>
        </p:nvCxnSpPr>
        <p:spPr bwMode="auto">
          <a:xfrm flipV="1">
            <a:off x="2051050" y="4076700"/>
            <a:ext cx="1843088" cy="309563"/>
          </a:xfrm>
          <a:prstGeom prst="straightConnector1">
            <a:avLst/>
          </a:prstGeom>
          <a:ln>
            <a:solidFill>
              <a:srgbClr val="CC0000"/>
            </a:solidFill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48263" y="2276475"/>
            <a:ext cx="3768725" cy="3698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getNomPropriete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(self):</a:t>
            </a:r>
            <a:endParaRPr lang="fr-CA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11638" y="3860800"/>
            <a:ext cx="4572000" cy="6461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setNomPropriete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(self, valeur):</a:t>
            </a:r>
            <a:endParaRPr lang="fr-CA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4" name="Connecteur droit avec flèche 13"/>
          <p:cNvCxnSpPr/>
          <p:nvPr/>
        </p:nvCxnSpPr>
        <p:spPr bwMode="auto">
          <a:xfrm flipV="1">
            <a:off x="2124075" y="2420938"/>
            <a:ext cx="2808288" cy="236537"/>
          </a:xfrm>
          <a:prstGeom prst="straightConnector1">
            <a:avLst/>
          </a:prstGeom>
          <a:ln>
            <a:solidFill>
              <a:srgbClr val="CC0000"/>
            </a:solidFill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 smtClean="0"/>
              <a:t>Méthodes services</a:t>
            </a:r>
          </a:p>
        </p:txBody>
      </p:sp>
      <p:sp>
        <p:nvSpPr>
          <p:cNvPr id="24579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Permettent aux instances de la classe d’offrir des services plus complexes aux autres instances</a:t>
            </a:r>
            <a:br>
              <a:rPr lang="fr-CA" altLang="fr-FR" smtClean="0">
                <a:solidFill>
                  <a:srgbClr val="000000"/>
                </a:solidFill>
              </a:rPr>
            </a:br>
            <a:endParaRPr lang="fr-CA" altLang="fr-FR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Règles d’affaires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Interface utilisateurs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Etc...</a:t>
            </a: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Méthodes utilitaires</a:t>
            </a:r>
          </a:p>
        </p:txBody>
      </p:sp>
      <p:sp>
        <p:nvSpPr>
          <p:cNvPr id="25603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Elles servent de « sous-programmes » utilitaires aux autres méthodes de la classe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Généralement de visibilité </a:t>
            </a:r>
            <a:r>
              <a:rPr lang="fr-CA" altLang="fr-FR" b="1" smtClean="0">
                <a:solidFill>
                  <a:srgbClr val="000000"/>
                </a:solidFill>
              </a:rPr>
              <a:t>private</a:t>
            </a: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 smtClean="0"/>
              <a:t>Paramètres d’une méthode</a:t>
            </a:r>
          </a:p>
        </p:txBody>
      </p:sp>
      <p:sp>
        <p:nvSpPr>
          <p:cNvPr id="26627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3665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Les méthodes ou initialisateurs ont besoin qu’on leur passe des données initiales sous la forme de paramètres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On doit indiquer </a:t>
            </a:r>
            <a:r>
              <a:rPr lang="fr-CA" altLang="fr-FR" b="1" smtClean="0">
                <a:solidFill>
                  <a:srgbClr val="000000"/>
                </a:solidFill>
              </a:rPr>
              <a:t>self </a:t>
            </a:r>
            <a:r>
              <a:rPr lang="fr-CA" altLang="fr-FR" smtClean="0">
                <a:solidFill>
                  <a:srgbClr val="000000"/>
                </a:solidFill>
              </a:rPr>
              <a:t>comme premier paramètre: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b="1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Lorsque la méthode ou le constructeur n’a pas de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paramètres, on ne met que le paramètre </a:t>
            </a:r>
            <a:r>
              <a:rPr lang="fr-CA" altLang="fr-FR" b="1" smtClean="0">
                <a:solidFill>
                  <a:srgbClr val="000000"/>
                </a:solidFill>
              </a:rPr>
              <a:t>self</a:t>
            </a:r>
            <a:r>
              <a:rPr lang="fr-CA" altLang="fr-FR" smtClean="0">
                <a:solidFill>
                  <a:srgbClr val="000000"/>
                </a:solidFill>
              </a:rPr>
              <a:t>:</a:t>
            </a:r>
          </a:p>
          <a:p>
            <a:pPr>
              <a:buFontTx/>
              <a:buBlip>
                <a:blip r:embed="rId3"/>
              </a:buBlip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  <p:sp>
        <p:nvSpPr>
          <p:cNvPr id="6" name="Rectangle 5"/>
          <p:cNvSpPr/>
          <p:nvPr/>
        </p:nvSpPr>
        <p:spPr>
          <a:xfrm>
            <a:off x="1619250" y="2708275"/>
            <a:ext cx="5761038" cy="6477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Calibri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setAuteur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self,unTitre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ar-S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‏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Clr>
                <a:srgbClr val="000000"/>
              </a:buClr>
              <a:buSzPct val="100000"/>
              <a:buFont typeface="Calibri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calculerTaux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(self,  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annee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 prime):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3575" y="4652963"/>
            <a:ext cx="3108325" cy="4000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Calibri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CA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fr-CA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A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getTitre</a:t>
            </a:r>
            <a:r>
              <a:rPr lang="fr-CA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(self)</a:t>
            </a:r>
            <a:r>
              <a:rPr lang="ar-SA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‏</a:t>
            </a:r>
            <a:r>
              <a:rPr lang="fr-CA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35600" y="5589588"/>
            <a:ext cx="3313113" cy="6461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fr-CA" dirty="0">
                <a:solidFill>
                  <a:schemeClr val="tx1"/>
                </a:solidFill>
              </a:rPr>
              <a:t>self: réfère à l'objet pour lequel la fonction est appelée</a:t>
            </a:r>
          </a:p>
        </p:txBody>
      </p:sp>
      <p:cxnSp>
        <p:nvCxnSpPr>
          <p:cNvPr id="10" name="Connecteur droit avec flèche 9"/>
          <p:cNvCxnSpPr/>
          <p:nvPr/>
        </p:nvCxnSpPr>
        <p:spPr bwMode="auto">
          <a:xfrm flipH="1" flipV="1">
            <a:off x="5580063" y="4941888"/>
            <a:ext cx="431800" cy="574675"/>
          </a:xfrm>
          <a:prstGeom prst="straightConnector1">
            <a:avLst/>
          </a:prstGeom>
          <a:ln>
            <a:solidFill>
              <a:srgbClr val="FF0000"/>
            </a:solidFill>
            <a:headEnd type="none" w="sm" len="sm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Retour d’une méthode</a:t>
            </a:r>
            <a:br>
              <a:rPr lang="en-GB" altLang="fr-FR" smtClean="0"/>
            </a:br>
            <a:endParaRPr lang="en-GB" altLang="fr-FR" smtClean="0"/>
          </a:p>
        </p:txBody>
      </p:sp>
      <p:sp>
        <p:nvSpPr>
          <p:cNvPr id="27651" name="Espace réservé du contenu 4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3305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python ne dispose pas de la notion séparée </a:t>
            </a:r>
            <a:r>
              <a:rPr lang="fr-CA" altLang="fr-FR" b="1" smtClean="0">
                <a:solidFill>
                  <a:srgbClr val="000000"/>
                </a:solidFill>
              </a:rPr>
              <a:t>fonction</a:t>
            </a:r>
            <a:r>
              <a:rPr lang="fr-CA" altLang="fr-FR" smtClean="0">
                <a:solidFill>
                  <a:srgbClr val="000000"/>
                </a:solidFill>
              </a:rPr>
              <a:t>, </a:t>
            </a:r>
            <a:r>
              <a:rPr lang="fr-CA" altLang="fr-FR" b="1" smtClean="0">
                <a:solidFill>
                  <a:srgbClr val="000000"/>
                </a:solidFill>
              </a:rPr>
              <a:t>procédure</a:t>
            </a:r>
            <a:r>
              <a:rPr lang="fr-CA" altLang="fr-FR" smtClean="0">
                <a:solidFill>
                  <a:srgbClr val="000000"/>
                </a:solidFill>
              </a:rPr>
              <a:t>.</a:t>
            </a:r>
          </a:p>
          <a:p>
            <a:pPr>
              <a:buFont typeface="Calibri" panose="020F050202020403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On fait la différence entre procédure et fonction en utilisant le </a:t>
            </a:r>
            <a:r>
              <a:rPr lang="fr-CA" altLang="fr-FR" b="1" smtClean="0">
                <a:solidFill>
                  <a:srgbClr val="000000"/>
                </a:solidFill>
              </a:rPr>
              <a:t>type de retour</a:t>
            </a: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>
              <a:solidFill>
                <a:srgbClr val="000000"/>
              </a:solidFill>
            </a:endParaRPr>
          </a:p>
          <a:p>
            <a:pPr>
              <a:buFont typeface="Calibri" panose="020F050202020403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CA" altLang="fr-FR" smtClean="0">
                <a:solidFill>
                  <a:srgbClr val="000000"/>
                </a:solidFill>
              </a:rPr>
              <a:t>Quand la méthode renvoie une valeur, on ajoute le mot clé –return- à la fin de la méthode :</a:t>
            </a:r>
          </a:p>
          <a:p>
            <a:pPr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CA" altLang="fr-FR" smtClean="0"/>
          </a:p>
        </p:txBody>
      </p:sp>
      <p:sp>
        <p:nvSpPr>
          <p:cNvPr id="6" name="Rectangle 5"/>
          <p:cNvSpPr/>
          <p:nvPr/>
        </p:nvSpPr>
        <p:spPr>
          <a:xfrm>
            <a:off x="2268538" y="4941888"/>
            <a:ext cx="5759450" cy="9223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Calibri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calculerTaux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(self, 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annee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 prime)</a:t>
            </a:r>
            <a:r>
              <a:rPr lang="ar-S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‏</a:t>
            </a: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Clr>
                <a:srgbClr val="000000"/>
              </a:buClr>
              <a:buSzPct val="100000"/>
              <a:buFont typeface="Calibri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…..</a:t>
            </a:r>
          </a:p>
          <a:p>
            <a:pPr>
              <a:buClr>
                <a:srgbClr val="000000"/>
              </a:buClr>
              <a:buSzPct val="100000"/>
              <a:buFont typeface="Calibri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CA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return </a:t>
            </a:r>
            <a:r>
              <a:rPr lang="fr-CA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qlqchose</a:t>
            </a:r>
            <a:endParaRPr lang="fr-CA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Exemples de méthodes</a:t>
            </a:r>
          </a:p>
        </p:txBody>
      </p: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1042988" y="1268413"/>
            <a:ext cx="5984875" cy="33242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from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math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import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*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class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Point: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400">
                <a:solidFill>
                  <a:srgbClr val="B200B2"/>
                </a:solidFill>
                <a:latin typeface="Courier New" panose="02070309020205020404" pitchFamily="49" charset="0"/>
              </a:rPr>
              <a:t>__init__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, x, y):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.x = x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.y = y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distance_origine(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return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sqrt(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.x *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.x +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.y *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.y)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def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distance(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, pointAutre):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dx =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.x - pointAutre.x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dy = </a:t>
            </a:r>
            <a:r>
              <a:rPr lang="en-GB" altLang="fr-FR" sz="1400">
                <a:solidFill>
                  <a:srgbClr val="94558D"/>
                </a:solidFill>
                <a:latin typeface="Courier New" panose="02070309020205020404" pitchFamily="49" charset="0"/>
              </a:rPr>
              <a:t>self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.y - pointAutre.y</a:t>
            </a:r>
            <a:b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GB" altLang="fr-FR" sz="1400" b="1">
                <a:solidFill>
                  <a:srgbClr val="000080"/>
                </a:solidFill>
                <a:latin typeface="Courier New" panose="02070309020205020404" pitchFamily="49" charset="0"/>
              </a:rPr>
              <a:t>return </a:t>
            </a:r>
            <a:r>
              <a:rPr lang="en-GB" altLang="fr-FR" sz="1400">
                <a:solidFill>
                  <a:srgbClr val="000000"/>
                </a:solidFill>
                <a:latin typeface="Courier New" panose="02070309020205020404" pitchFamily="49" charset="0"/>
              </a:rPr>
              <a:t>sqrt(dx * dx + dy * dy)</a:t>
            </a:r>
            <a:endParaRPr lang="en-GB" altLang="fr-FR" sz="2000"/>
          </a:p>
        </p:txBody>
      </p:sp>
      <p:sp>
        <p:nvSpPr>
          <p:cNvPr id="28676" name="AutoShape 6"/>
          <p:cNvSpPr>
            <a:spLocks noChangeArrowheads="1"/>
          </p:cNvSpPr>
          <p:nvPr/>
        </p:nvSpPr>
        <p:spPr bwMode="auto">
          <a:xfrm>
            <a:off x="6875463" y="4292600"/>
            <a:ext cx="1800225" cy="609600"/>
          </a:xfrm>
          <a:prstGeom prst="wedgeRoundRectCallout">
            <a:avLst>
              <a:gd name="adj1" fmla="val -175356"/>
              <a:gd name="adj2" fmla="val -112241"/>
              <a:gd name="adj3" fmla="val 166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914400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>
                <a:solidFill>
                  <a:schemeClr val="tx1"/>
                </a:solidFill>
              </a:rPr>
              <a:t>Méthode</a:t>
            </a:r>
          </a:p>
        </p:txBody>
      </p:sp>
      <p:sp>
        <p:nvSpPr>
          <p:cNvPr id="28677" name="AutoShape 6"/>
          <p:cNvSpPr>
            <a:spLocks noChangeArrowheads="1"/>
          </p:cNvSpPr>
          <p:nvPr/>
        </p:nvSpPr>
        <p:spPr bwMode="auto">
          <a:xfrm>
            <a:off x="6804025" y="2205038"/>
            <a:ext cx="1800225" cy="609600"/>
          </a:xfrm>
          <a:prstGeom prst="wedgeRoundRectCallout">
            <a:avLst>
              <a:gd name="adj1" fmla="val -234491"/>
              <a:gd name="adj2" fmla="val 78060"/>
              <a:gd name="adj3" fmla="val 166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914400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CA" altLang="fr-FR">
                <a:solidFill>
                  <a:schemeClr val="tx1"/>
                </a:solidFill>
              </a:rPr>
              <a:t>Méthode</a:t>
            </a:r>
          </a:p>
        </p:txBody>
      </p:sp>
    </p:spTree>
  </p:cSld>
  <p:clrMapOvr>
    <a:masterClrMapping/>
  </p:clrMapOvr>
  <p:transition advTm="12288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smtClean="0"/>
              <a:t>Conclusion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Blip>
                <a:blip r:embed="rId3"/>
              </a:buBlip>
            </a:pPr>
            <a:r>
              <a:rPr lang="fr-CA" altLang="fr-FR" smtClean="0"/>
              <a:t>Dans cette présentation, on a vu les points suivants:</a:t>
            </a:r>
            <a:br>
              <a:rPr lang="fr-CA" altLang="fr-FR" smtClean="0"/>
            </a:br>
            <a:endParaRPr lang="fr-CA" altLang="fr-FR" smtClean="0"/>
          </a:p>
          <a:p>
            <a:pPr>
              <a:buFontTx/>
              <a:buBlip>
                <a:blip r:embed="rId3"/>
              </a:buBlip>
            </a:pPr>
            <a:r>
              <a:rPr lang="fr-CA" altLang="fr-FR" smtClean="0"/>
              <a:t>Notions d'objets</a:t>
            </a:r>
          </a:p>
          <a:p>
            <a:pPr>
              <a:buFontTx/>
              <a:buBlip>
                <a:blip r:embed="rId3"/>
              </a:buBlip>
            </a:pPr>
            <a:r>
              <a:rPr lang="fr-CA" altLang="fr-FR" smtClean="0"/>
              <a:t>Classes</a:t>
            </a:r>
          </a:p>
          <a:p>
            <a:pPr>
              <a:buFontTx/>
              <a:buBlip>
                <a:blip r:embed="rId3"/>
              </a:buBlip>
            </a:pPr>
            <a:r>
              <a:rPr lang="fr-CA" altLang="fr-FR" smtClean="0"/>
              <a:t>Constructeurs</a:t>
            </a:r>
          </a:p>
          <a:p>
            <a:pPr>
              <a:buFontTx/>
              <a:buBlip>
                <a:blip r:embed="rId3"/>
              </a:buBlip>
            </a:pPr>
            <a:r>
              <a:rPr lang="fr-CA" altLang="fr-FR" smtClean="0"/>
              <a:t>Méthodes</a:t>
            </a:r>
          </a:p>
        </p:txBody>
      </p:sp>
    </p:spTree>
  </p:cSld>
  <p:clrMapOvr>
    <a:masterClrMapping/>
  </p:clrMapOvr>
  <p:transition advTm="593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6" dur="2000" fill="hold" masterRel="sameClick"/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12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python_theme</Template>
  <TotalTime>730</TotalTime>
  <Words>935</Words>
  <Application>Microsoft Office PowerPoint</Application>
  <PresentationFormat>Affichage à l'écran (4:3)</PresentationFormat>
  <Paragraphs>213</Paragraphs>
  <Slides>27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6" baseType="lpstr">
      <vt:lpstr>Arial</vt:lpstr>
      <vt:lpstr>Times New Roman</vt:lpstr>
      <vt:lpstr>Frutiger 45</vt:lpstr>
      <vt:lpstr>Segoe UI Light</vt:lpstr>
      <vt:lpstr>Segoe UI Semibold</vt:lpstr>
      <vt:lpstr>Calibri</vt:lpstr>
      <vt:lpstr>Wingdings</vt:lpstr>
      <vt:lpstr>Courier New</vt:lpstr>
      <vt:lpstr>python_theme</vt:lpstr>
      <vt:lpstr>Classes et Objets en python</vt:lpstr>
      <vt:lpstr>Agenda</vt:lpstr>
      <vt:lpstr>Langages orientés objet </vt:lpstr>
      <vt:lpstr>Qu’est-ce qu’un objet ? </vt:lpstr>
      <vt:lpstr>Notion d’objet en python  </vt:lpstr>
      <vt:lpstr>Interactions entre objets   </vt:lpstr>
      <vt:lpstr>Messages entre objets</vt:lpstr>
      <vt:lpstr>Programmation orienté objet</vt:lpstr>
      <vt:lpstr>Classe</vt:lpstr>
      <vt:lpstr>Les classes en python      </vt:lpstr>
      <vt:lpstr>Syntaxe- classe</vt:lpstr>
      <vt:lpstr>Exemple</vt:lpstr>
      <vt:lpstr>Membres d’une classe</vt:lpstr>
      <vt:lpstr>Exemple : classe Point dans espace 2D       </vt:lpstr>
      <vt:lpstr>Rôles d’une classe       </vt:lpstr>
      <vt:lpstr>Les constructeurs Classes et instances</vt:lpstr>
      <vt:lpstr>Constructeurs et initialisateur de classe </vt:lpstr>
      <vt:lpstr>Exemple constructeur-initialisateur</vt:lpstr>
      <vt:lpstr>Les méthodes </vt:lpstr>
      <vt:lpstr>Encapsulation - visibilité</vt:lpstr>
      <vt:lpstr>Accesseurs</vt:lpstr>
      <vt:lpstr>Méthodes services</vt:lpstr>
      <vt:lpstr>Méthodes utilitaires</vt:lpstr>
      <vt:lpstr>Paramètres d’une méthode</vt:lpstr>
      <vt:lpstr>Retour d’une méthode </vt:lpstr>
      <vt:lpstr>Exemples de méthodes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Contenu d'une classe</dc:title>
  <dc:creator>HafedB</dc:creator>
  <cp:lastModifiedBy>HBenteftifa</cp:lastModifiedBy>
  <cp:revision>77</cp:revision>
  <dcterms:modified xsi:type="dcterms:W3CDTF">2016-01-07T18:29:58Z</dcterms:modified>
</cp:coreProperties>
</file>