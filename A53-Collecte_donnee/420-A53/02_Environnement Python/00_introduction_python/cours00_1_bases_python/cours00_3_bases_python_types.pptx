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7315200" cy="9601200"/>
  <p:embeddedFontLs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28" roundtripDataSignature="AMtx7mh5q/++plcMA8OGlHSV3jXYClKl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ttrocentoSans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82" name="Google Shape;8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90" name="Google Shape;90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98" name="Google Shape;98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67" name="Google Shape;167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‹#›</a:t>
            </a:fld>
            <a:endParaRPr/>
          </a:p>
        </p:txBody>
      </p:sp>
      <p:sp>
        <p:nvSpPr>
          <p:cNvPr id="183" name="Google Shape;183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15790" l="12449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CA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9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CA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20/10/2015    </a:t>
            </a:r>
            <a:r>
              <a:rPr b="1" i="0" lang="fr-CA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python-course.eu/python3_formatted_output.php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Bases du langage Python</a:t>
            </a:r>
            <a:br>
              <a:rPr lang="fr-CA"/>
            </a:br>
            <a:r>
              <a:rPr lang="fr-CA"/>
              <a:t>2. Types</a:t>
            </a:r>
            <a:endParaRPr/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</a:pPr>
            <a:r>
              <a:rPr lang="fr-CA"/>
              <a:t>Hafed Benteftifa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18204" y="5516563"/>
            <a:ext cx="227658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CA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ver 1.1: Sept 2015</a:t>
            </a:r>
            <a:endParaRPr sz="2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Agenda</a:t>
            </a:r>
            <a:endParaRPr/>
          </a:p>
        </p:txBody>
      </p:sp>
      <p:sp>
        <p:nvSpPr>
          <p:cNvPr id="44" name="Google Shape;44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Les objectifs de cette présentation sont les suivants:</a:t>
            </a:r>
            <a:br>
              <a:rPr lang="fr-CA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Types de données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Structures de données python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Tuples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List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Set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Dictionnaire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Types de données</a:t>
            </a:r>
            <a:endParaRPr/>
          </a:p>
        </p:txBody>
      </p:sp>
      <p:sp>
        <p:nvSpPr>
          <p:cNvPr id="50" name="Google Shape;50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Python dispose d'un ensemble de types de données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Les types python sont fournis par défaut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pas d'import à faire pour utiliser les types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Types de données - Booleene</a:t>
            </a:r>
            <a:endParaRPr/>
          </a:p>
        </p:txBody>
      </p:sp>
      <p:sp>
        <p:nvSpPr>
          <p:cNvPr id="56" name="Google Shape;56;p4"/>
          <p:cNvSpPr txBox="1"/>
          <p:nvPr>
            <p:ph idx="1" type="body"/>
          </p:nvPr>
        </p:nvSpPr>
        <p:spPr>
          <a:xfrm>
            <a:off x="152400" y="1131888"/>
            <a:ext cx="88392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primitive ayant une des 2 valeurs </a:t>
            </a:r>
            <a:r>
              <a:rPr lang="fr-CA" u="sng"/>
              <a:t>True</a:t>
            </a:r>
            <a:r>
              <a:rPr lang="fr-CA"/>
              <a:t> ou</a:t>
            </a:r>
            <a:r>
              <a:rPr lang="fr-CA" u="sng"/>
              <a:t> False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403350" y="2493005"/>
            <a:ext cx="5416868" cy="220060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import random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male = False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male = bool(random.randint(0, 1))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if (male):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print ("Nom est: Alain" ) </a:t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else: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print (" Nom est: Annie "</a:t>
            </a:r>
            <a:r>
              <a:rPr lang="fr-CA" sz="16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4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>
            <p:ph type="title"/>
          </p:nvPr>
        </p:nvSpPr>
        <p:spPr>
          <a:xfrm>
            <a:off x="130629" y="152400"/>
            <a:ext cx="8850000" cy="8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Types de données - None</a:t>
            </a:r>
            <a:endParaRPr/>
          </a:p>
        </p:txBody>
      </p:sp>
      <p:sp>
        <p:nvSpPr>
          <p:cNvPr id="64" name="Google Shape;64;p5"/>
          <p:cNvSpPr txBox="1"/>
          <p:nvPr>
            <p:ph idx="1" type="body"/>
          </p:nvPr>
        </p:nvSpPr>
        <p:spPr>
          <a:xfrm>
            <a:off x="152400" y="1131888"/>
            <a:ext cx="8839200" cy="193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spécial qui signifie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n'existe pas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inconnu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vide (empty)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2843213" y="3284870"/>
            <a:ext cx="2339102" cy="127727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def fun():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	pass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(fun())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Types de données - Numérique</a:t>
            </a:r>
            <a:endParaRPr/>
          </a:p>
        </p:txBody>
      </p:sp>
      <p:sp>
        <p:nvSpPr>
          <p:cNvPr id="71" name="Google Shape;71;p6"/>
          <p:cNvSpPr txBox="1"/>
          <p:nvPr>
            <p:ph idx="1" type="body"/>
          </p:nvPr>
        </p:nvSpPr>
        <p:spPr>
          <a:xfrm>
            <a:off x="152400" y="1131888"/>
            <a:ext cx="8839200" cy="928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Représente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entiers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réels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nombres complexes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116013" y="3068638"/>
            <a:ext cx="6948487" cy="22002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valeurs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val1 = 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val2 = 34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total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total = val1 + val2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# Résultat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("Total:", total)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Types de données - String</a:t>
            </a:r>
            <a:endParaRPr/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152400" y="1131888"/>
            <a:ext cx="8839200" cy="272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pour représenter des données textuelles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Peut être créé en utilisant les symboles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'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"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''' : chaine sur plusieurs lignes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1331913" y="4005263"/>
            <a:ext cx="6804025" cy="189230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a = "Alain flouflou"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b = 'Flouclair'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 = """ Son nom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est Abdel Flouclair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"""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Concaténation et multiplication de chaine</a:t>
            </a:r>
            <a:endParaRPr/>
          </a:p>
        </p:txBody>
      </p:sp>
      <p:sp>
        <p:nvSpPr>
          <p:cNvPr id="86" name="Google Shape;86;p8"/>
          <p:cNvSpPr txBox="1"/>
          <p:nvPr>
            <p:ph idx="1" type="body"/>
          </p:nvPr>
        </p:nvSpPr>
        <p:spPr>
          <a:xfrm>
            <a:off x="304800" y="1412875"/>
            <a:ext cx="8839200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On peut procéder de différentes façons pour la concaténation </a:t>
            </a:r>
            <a:endParaRPr/>
          </a:p>
        </p:txBody>
      </p:sp>
      <p:sp>
        <p:nvSpPr>
          <p:cNvPr id="87" name="Google Shape;87;p8"/>
          <p:cNvSpPr/>
          <p:nvPr/>
        </p:nvSpPr>
        <p:spPr>
          <a:xfrm>
            <a:off x="1692275" y="2684463"/>
            <a:ext cx="6694488" cy="9683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("pomme " * 3)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("Pomme " "MacIntosh")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 "Pomme " + "Mc " + "Intosh")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Tuples</a:t>
            </a:r>
            <a:endParaRPr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152400" y="1131888"/>
            <a:ext cx="8839200" cy="1792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de data qui peut contenir des types mixtes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type tuple est immutable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Les tuples sont créés en utilisant () qui sont aussi optionnels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Quelques fonctions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len(): retourne le nombre d'éléments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max(): retourne la valeur max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min(): retourne la valeur min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in: détermine si les valeurs sont dans le tuple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1331640" y="2492896"/>
            <a:ext cx="7254552" cy="175432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 = (1, 2, 3,10)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tuple_deux = (4, 5, 6)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("len(tuple_un) : ", len(tuple_un))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("max(tuple_un) : ", max(tuple_un))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("min(tuple_un) : ", min(tuple_un))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("combinaison des 2 tuples :", tuple_un + tuple_deux)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("Deux fois tuple_un : ", tuple_un * 2 )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("1 se trouve dans tuple_un : ", 1 in tuple_un)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("5 ne se trouve pas dans tuple_deux : ", 5 not in tuple_deux)</a:t>
            </a:r>
            <a:endParaRPr sz="12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Indexation dans les tuples</a:t>
            </a:r>
            <a:endParaRPr/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152400" y="1131888"/>
            <a:ext cx="8839200" cy="4168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Pour obtenir une valeur d'un tuple, on utilise [ ]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L'indice commence de la valeur 0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Un index négatif commence à partir de la fin du tuple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b="1" lang="fr-CA"/>
              <a:t>exemple: </a:t>
            </a:r>
            <a:r>
              <a:rPr lang="fr-CA"/>
              <a:t>-1 retourne le dernier élément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On peut obtenir des parties du tuple: slices en utilisant le délimiteur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exemple: [0:4]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Le dernier élément n'est pas inclus</a:t>
            </a:r>
            <a:endParaRPr/>
          </a:p>
        </p:txBody>
      </p:sp>
      <p:sp>
        <p:nvSpPr>
          <p:cNvPr id="103" name="Google Shape;103;p10"/>
          <p:cNvSpPr/>
          <p:nvPr/>
        </p:nvSpPr>
        <p:spPr>
          <a:xfrm>
            <a:off x="683568" y="5085184"/>
            <a:ext cx="3816424" cy="954107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 =  1, 2, 3,10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#slice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("slice de tuple_un : ",  tuple_un[1:3])</a:t>
            </a:r>
            <a:endParaRPr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5724128" y="6093296"/>
            <a:ext cx="3084498" cy="307777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slice de tuple_un :  (2, 3)</a:t>
            </a:r>
            <a:endParaRPr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05" name="Google Shape;105;p10"/>
          <p:cNvCxnSpPr/>
          <p:nvPr/>
        </p:nvCxnSpPr>
        <p:spPr>
          <a:xfrm>
            <a:off x="4427984" y="5301208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/>
          <p:nvPr>
            <p:ph type="title"/>
          </p:nvPr>
        </p:nvSpPr>
        <p:spPr>
          <a:xfrm>
            <a:off x="130629" y="152400"/>
            <a:ext cx="9013371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Tuples avec champ de types différents</a:t>
            </a:r>
            <a:endParaRPr/>
          </a:p>
        </p:txBody>
      </p:sp>
      <p:sp>
        <p:nvSpPr>
          <p:cNvPr id="111" name="Google Shape;111;p11"/>
          <p:cNvSpPr txBox="1"/>
          <p:nvPr>
            <p:ph idx="1" type="body"/>
          </p:nvPr>
        </p:nvSpPr>
        <p:spPr>
          <a:xfrm>
            <a:off x="152400" y="1131888"/>
            <a:ext cx="8839200" cy="1360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UnTuple avec mix de types  </a:t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323528" y="1700808"/>
            <a:ext cx="5616624" cy="189282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tuple_un =  (1, 2, "bienvenue", (51, 2, 3,5))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("tuple_un[1] :", tuple_un[1])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("tuple_un[2] :", tuple_un[2])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 :", tuple_un[3])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("tuple_un[3][0] :", tuple_un[3][0])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("tuple_un[3][2] :", tuple_un[3][3])</a:t>
            </a:r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4283968" y="4509120"/>
            <a:ext cx="4572000" cy="1323439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tuple_un[1] :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tuple_un[2] : bienvenue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tuple_un[3] : (51, 2, 3, 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tuple_un[3][0] : 51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tuple_un[3][2] : 5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14" name="Google Shape;114;p11"/>
          <p:cNvCxnSpPr/>
          <p:nvPr/>
        </p:nvCxnSpPr>
        <p:spPr>
          <a:xfrm>
            <a:off x="2987824" y="3789040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Lists</a:t>
            </a:r>
            <a:endParaRPr/>
          </a:p>
        </p:txBody>
      </p:sp>
      <p:sp>
        <p:nvSpPr>
          <p:cNvPr id="121" name="Google Shape;121;p12"/>
          <p:cNvSpPr txBox="1"/>
          <p:nvPr>
            <p:ph idx="1" type="body"/>
          </p:nvPr>
        </p:nvSpPr>
        <p:spPr>
          <a:xfrm>
            <a:off x="152400" y="1131888"/>
            <a:ext cx="8839200" cy="272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 mutable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Peut contenir des types mixtes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Similaire au tuple mais différente dans le sens de la mutation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List est créé par: [ ]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22" name="Google Shape;122;p12"/>
          <p:cNvSpPr/>
          <p:nvPr/>
        </p:nvSpPr>
        <p:spPr>
          <a:xfrm>
            <a:off x="1835150" y="3798857"/>
            <a:ext cx="5688013" cy="40011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actors = ["bonbon", "tv", "cahier"] </a:t>
            </a:r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3" name="Google Shape;123;p12"/>
          <p:cNvSpPr/>
          <p:nvPr/>
        </p:nvSpPr>
        <p:spPr>
          <a:xfrm>
            <a:off x="467545" y="4518629"/>
            <a:ext cx="3312368" cy="127727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2, 4, 6, 8, 10,12]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(suite[0])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(suite[2:]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('Longueur:',len(suite))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 + [8, 9])</a:t>
            </a:r>
            <a:endParaRPr sz="16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644008" y="5229200"/>
            <a:ext cx="3816424" cy="1077218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[4, 6, 8, 10, 12]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Longueur: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[0, 2, 4, 6, 8, 10, 12, 8, 9]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3419872" y="5157192"/>
            <a:ext cx="1152000" cy="100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Opérations sur List</a:t>
            </a:r>
            <a:endParaRPr/>
          </a:p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152400" y="1131888"/>
            <a:ext cx="8839200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sort(): trie les éléments de la liste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reverse(): trie dans l'ordre inverse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count(): compte le nombre d'éléments spécifié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append(): insère dans la liste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899592" y="1628800"/>
            <a:ext cx="3888407" cy="969496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-2, 4, 8, 8, 34,12]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suite.sort()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(suite)</a:t>
            </a:r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1763713" y="3141633"/>
            <a:ext cx="2952303" cy="40011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suite.reverse()</a:t>
            </a:r>
            <a:endParaRPr sz="20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1547664" y="4293096"/>
            <a:ext cx="3096319" cy="353943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(suite.count(8))</a:t>
            </a:r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5652120" y="1916832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[-2, 0, 4, 8, 8, 12, 34]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37" name="Google Shape;137;p13"/>
          <p:cNvCxnSpPr/>
          <p:nvPr/>
        </p:nvCxnSpPr>
        <p:spPr>
          <a:xfrm>
            <a:off x="4644008" y="1916832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38" name="Google Shape;138;p13"/>
          <p:cNvSpPr/>
          <p:nvPr/>
        </p:nvSpPr>
        <p:spPr>
          <a:xfrm>
            <a:off x="5724128" y="3212976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[12, 34, 8, 8, 4, -2, 0]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39" name="Google Shape;139;p13"/>
          <p:cNvCxnSpPr/>
          <p:nvPr/>
        </p:nvCxnSpPr>
        <p:spPr>
          <a:xfrm>
            <a:off x="4716016" y="3212976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40" name="Google Shape;140;p13"/>
          <p:cNvSpPr/>
          <p:nvPr/>
        </p:nvSpPr>
        <p:spPr>
          <a:xfrm>
            <a:off x="5797739" y="4509120"/>
            <a:ext cx="324127" cy="369332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2</a:t>
            </a:r>
            <a:endParaRPr sz="18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41" name="Google Shape;141;p13"/>
          <p:cNvCxnSpPr/>
          <p:nvPr/>
        </p:nvCxnSpPr>
        <p:spPr>
          <a:xfrm>
            <a:off x="4788024" y="450912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  <p:sp>
        <p:nvSpPr>
          <p:cNvPr id="142" name="Google Shape;142;p13"/>
          <p:cNvSpPr/>
          <p:nvPr/>
        </p:nvSpPr>
        <p:spPr>
          <a:xfrm>
            <a:off x="179512" y="5373216"/>
            <a:ext cx="4572000" cy="58477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suite = [0, -2, 4, 8, 8, 34,12]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suite.append(56)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5503259" y="5949280"/>
            <a:ext cx="3640741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[0, -2, 4, 8, 8, 34, 12, 56]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44" name="Google Shape;144;p13"/>
          <p:cNvCxnSpPr/>
          <p:nvPr/>
        </p:nvCxnSpPr>
        <p:spPr>
          <a:xfrm>
            <a:off x="4716016" y="5589240"/>
            <a:ext cx="864000" cy="64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Ajout dans une liste</a:t>
            </a:r>
            <a:endParaRPr/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152400" y="1131888"/>
            <a:ext cx="8839200" cy="186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insert(): insère les éléments à une position spécifique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remove(): enleve un élément spécifique de la liste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del: supprime basé sur l'index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extend(): append une liste à une autre liste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pop(): prend un élément de la liste et le retourne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index(): recherche un index dans la liste</a:t>
            </a:r>
            <a:endParaRPr/>
          </a:p>
        </p:txBody>
      </p:sp>
      <p:sp>
        <p:nvSpPr>
          <p:cNvPr id="152" name="Google Shape;152;p14"/>
          <p:cNvSpPr/>
          <p:nvPr/>
        </p:nvSpPr>
        <p:spPr>
          <a:xfrm>
            <a:off x="1835150" y="2791316"/>
            <a:ext cx="3168898" cy="78483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 = [0, -2, 4, 8, 8, 34,12]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suite.insert(4,56)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suite.remove(-2)</a:t>
            </a:r>
            <a:endParaRPr sz="16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5796136" y="3212976"/>
            <a:ext cx="3147015" cy="338554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6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[0, 4, 8, 56, 8, 34, 12]</a:t>
            </a:r>
            <a:endParaRPr sz="16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54" name="Google Shape;154;p14"/>
          <p:cNvCxnSpPr/>
          <p:nvPr/>
        </p:nvCxnSpPr>
        <p:spPr>
          <a:xfrm>
            <a:off x="4932040" y="306896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Sets</a:t>
            </a:r>
            <a:endParaRPr/>
          </a:p>
        </p:txBody>
      </p: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3200"/>
              <a:buFont typeface="Quattrocento Sans"/>
              <a:buChar char="•"/>
            </a:pPr>
            <a:r>
              <a:rPr lang="fr-CA" sz="3200"/>
              <a:t>C'est une collection non ordonnée de données sans éléments doublons</a:t>
            </a:r>
            <a:endParaRPr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Char char="•"/>
            </a:pPr>
            <a:r>
              <a:rPr lang="fr-CA" sz="1600"/>
              <a:t>Opérations: union, intersection, différence</a:t>
            </a:r>
            <a:endParaRPr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2857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 u="sng"/>
          </a:p>
          <a:p>
            <a:pPr indent="-184150" lvl="1" marL="74295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Quattrocento Sans"/>
              <a:buNone/>
            </a:pPr>
            <a:r>
              <a:t/>
            </a:r>
            <a:endParaRPr sz="1600" u="sng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2000"/>
              <a:buFont typeface="Quattrocento Sans"/>
              <a:buNone/>
            </a:pPr>
            <a:r>
              <a:t/>
            </a:r>
            <a:endParaRPr sz="2000"/>
          </a:p>
        </p:txBody>
      </p:sp>
      <p:sp>
        <p:nvSpPr>
          <p:cNvPr id="162" name="Google Shape;162;p15"/>
          <p:cNvSpPr/>
          <p:nvPr/>
        </p:nvSpPr>
        <p:spPr>
          <a:xfrm>
            <a:off x="5076056" y="3429000"/>
            <a:ext cx="3816424" cy="1015663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set1 contient:  {'c', 'b', 'C', 'A'}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set2 contient:  {'n', 'm', 'b', 'A'}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intersection:  {'b', 'A'}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union:  {'C', 'n', 'm', 'b', 'c', 'A'}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difference:  {'c', 'C'}</a:t>
            </a:r>
            <a:endParaRPr sz="12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323528" y="3356992"/>
            <a:ext cx="3888432" cy="1384995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set1 = set(['A', 'b', 'C', 'c', 'b'])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set2 = set(['A', 'b', 'm', 'n', 'm'])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('set1 contient: ' , set1)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('set2 contient: ' , set2)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('intersection: ', set1 &amp; set2)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('union: ', set1 | set2)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2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print ('difference: ', set1 - set2) </a:t>
            </a:r>
            <a:endParaRPr sz="12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64" name="Google Shape;164;p15"/>
          <p:cNvCxnSpPr/>
          <p:nvPr/>
        </p:nvCxnSpPr>
        <p:spPr>
          <a:xfrm>
            <a:off x="3995936" y="3861048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Dictionnaires</a:t>
            </a:r>
            <a:endParaRPr/>
          </a:p>
        </p:txBody>
      </p:sp>
      <p:sp>
        <p:nvSpPr>
          <p:cNvPr id="171" name="Google Shape;171;p16"/>
          <p:cNvSpPr txBox="1"/>
          <p:nvPr>
            <p:ph idx="1" type="body"/>
          </p:nvPr>
        </p:nvSpPr>
        <p:spPr>
          <a:xfrm>
            <a:off x="152400" y="1131888"/>
            <a:ext cx="8839200" cy="143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Collection de type key-value.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Indexation se fait par key: celle-ci est unique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Méthodes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Quattrocento Sans"/>
              <a:buChar char="•"/>
            </a:pPr>
            <a:r>
              <a:rPr lang="fr-CA"/>
              <a:t>items(): retourne la liste des paires key-value comme tuples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179512" y="3510880"/>
            <a:ext cx="4176464" cy="2200602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humain = { 'homme': 'Man', 'femme': 'Woman', 'enfant': 'kid' 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(humain['homme']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(humain.keys()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(humain.values())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(humain.items() 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(humain.pop('enfant'))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humain.clear()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print (humain )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4644008" y="3717032"/>
            <a:ext cx="4248472" cy="2031325"/>
          </a:xfrm>
          <a:prstGeom prst="rect">
            <a:avLst/>
          </a:pr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dict_keys(['enfant', 'homme', 'femme'])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dict_values(['kid', 'Man', 'Woman'])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dict_items([('enfant', 'kid'), ('homme', 'Man'), ('femme', 'Woman')])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kid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{'homme': 'Man', 'femme': 'Woman'}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4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{}</a:t>
            </a:r>
            <a:endParaRPr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cxnSp>
        <p:nvCxnSpPr>
          <p:cNvPr id="174" name="Google Shape;174;p16"/>
          <p:cNvCxnSpPr/>
          <p:nvPr/>
        </p:nvCxnSpPr>
        <p:spPr>
          <a:xfrm>
            <a:off x="3707904" y="4509120"/>
            <a:ext cx="864000" cy="288000"/>
          </a:xfrm>
          <a:prstGeom prst="curvedConnector3">
            <a:avLst>
              <a:gd fmla="val 50006" name="adj1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Formattage en sortie</a:t>
            </a:r>
            <a:endParaRPr/>
          </a:p>
        </p:txBody>
      </p:sp>
      <p:sp>
        <p:nvSpPr>
          <p:cNvPr id="180" name="Google Shape;180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On peut soit utiliser l'opérateur % pour une String: format utilisé pour python 2.X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Meilleur d'utiliser la fonction format() de String: format utilisé pour python 3.X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fr-CA"/>
              <a:t>Référence avec tous les détails: </a:t>
            </a:r>
            <a:r>
              <a:rPr lang="fr-CA" u="sng">
                <a:solidFill>
                  <a:schemeClr val="hlink"/>
                </a:solidFill>
                <a:hlinkClick r:id="rId3"/>
              </a:rPr>
              <a:t>http://www.python-course.eu/python3_formatted_output.php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Conclusion</a:t>
            </a:r>
            <a:endParaRPr/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Dans cette présentation, on a vu les points suivants:</a:t>
            </a:r>
            <a:br>
              <a:rPr lang="fr-CA"/>
            </a:b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Types de données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Char char="•"/>
            </a:pPr>
            <a:r>
              <a:rPr lang="fr-CA"/>
              <a:t>Structures de données python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Tuples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List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Set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fr-CA"/>
              <a:t>Dictionnaire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2009-03-25T15:44:22Z</dcterms:created>
  <dc:creator>HafedB</dc:creator>
</cp:coreProperties>
</file>