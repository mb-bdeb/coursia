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9144000"/>
  <p:notesSz cx="7315200" cy="9601200"/>
  <p:embeddedFontLst>
    <p:embeddedFont>
      <p:font typeface="Quattrocento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024">
          <p15:clr>
            <a:srgbClr val="000000"/>
          </p15:clr>
        </p15:guide>
        <p15:guide id="2" pos="2304">
          <p15:clr>
            <a:srgbClr val="000000"/>
          </p15:clr>
        </p15:guide>
      </p15:notesGuideLst>
    </p:ext>
    <p:ext uri="GoogleSlidesCustomDataVersion2">
      <go:slidesCustomData xmlns:go="http://customooxmlschemas.google.com/" r:id="rId29" roundtripDataSignature="AMtx7mj2yDXaw82+XTtlIX5mLWTcuq8D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30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QuattrocentoSans-bold.fntdata"/><Relationship Id="rId25" Type="http://schemas.openxmlformats.org/officeDocument/2006/relationships/font" Target="fonts/QuattrocentoSans-regular.fntdata"/><Relationship Id="rId28" Type="http://schemas.openxmlformats.org/officeDocument/2006/relationships/font" Target="fonts/QuattrocentoSans-boldItalic.fntdata"/><Relationship Id="rId27" Type="http://schemas.openxmlformats.org/officeDocument/2006/relationships/font" Target="fonts/Quattrocento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7315200" cy="96012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4;n"/>
          <p:cNvSpPr txBox="1"/>
          <p:nvPr>
            <p:ph idx="2" type="hdr"/>
          </p:nvPr>
        </p:nvSpPr>
        <p:spPr>
          <a:xfrm>
            <a:off x="1" y="0"/>
            <a:ext cx="3168227" cy="478394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5125" spcFirstLastPara="1" rIns="95125" wrap="square" tIns="494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10" type="dt"/>
          </p:nvPr>
        </p:nvSpPr>
        <p:spPr>
          <a:xfrm>
            <a:off x="4143587" y="0"/>
            <a:ext cx="3168226" cy="478394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5125" spcFirstLastPara="1" rIns="95125" wrap="square" tIns="4945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/>
          <p:nvPr>
            <p:ph idx="3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" name="Google Shape;7;n"/>
          <p:cNvSpPr txBox="1"/>
          <p:nvPr>
            <p:ph idx="1" type="body"/>
          </p:nvPr>
        </p:nvSpPr>
        <p:spPr>
          <a:xfrm>
            <a:off x="731521" y="4560570"/>
            <a:ext cx="5850467" cy="4318874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5125" spcFirstLastPara="1" rIns="95125" wrap="square" tIns="494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1" type="ftr"/>
          </p:nvPr>
        </p:nvSpPr>
        <p:spPr>
          <a:xfrm>
            <a:off x="1" y="9119473"/>
            <a:ext cx="3168227" cy="478393"/>
          </a:xfrm>
          <a:prstGeom prst="rect">
            <a:avLst/>
          </a:prstGeom>
          <a:noFill/>
          <a:ln>
            <a:noFill/>
          </a:ln>
        </p:spPr>
        <p:txBody>
          <a:bodyPr anchorCtr="0" anchor="b" bIns="49450" lIns="95125" spcFirstLastPara="1" rIns="95125" wrap="square" tIns="494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n"/>
          <p:cNvSpPr txBox="1"/>
          <p:nvPr>
            <p:ph idx="12" type="sldNum"/>
          </p:nvPr>
        </p:nvSpPr>
        <p:spPr>
          <a:xfrm>
            <a:off x="4143587" y="9119473"/>
            <a:ext cx="3168226" cy="478393"/>
          </a:xfrm>
          <a:prstGeom prst="rect">
            <a:avLst/>
          </a:prstGeom>
          <a:noFill/>
          <a:ln>
            <a:noFill/>
          </a:ln>
        </p:spPr>
        <p:txBody>
          <a:bodyPr anchorCtr="0" anchor="b" bIns="49450" lIns="95125" spcFirstLastPara="1" rIns="95125" wrap="square" tIns="494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fr-F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4143587" y="9119473"/>
            <a:ext cx="3168226" cy="478393"/>
          </a:xfrm>
          <a:prstGeom prst="rect">
            <a:avLst/>
          </a:prstGeom>
          <a:noFill/>
          <a:ln>
            <a:noFill/>
          </a:ln>
        </p:spPr>
        <p:txBody>
          <a:bodyPr anchorCtr="0" anchor="b" bIns="49450" lIns="95125" spcFirstLastPara="1" rIns="95125" wrap="square" tIns="494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fld id="{00000000-1234-1234-1234-123412341234}" type="slidenum">
              <a:rPr lang="fr-FR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:notes"/>
          <p:cNvSpPr txBox="1"/>
          <p:nvPr/>
        </p:nvSpPr>
        <p:spPr>
          <a:xfrm>
            <a:off x="1219200" y="720090"/>
            <a:ext cx="4876800" cy="3600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" name="Google Shape;35;p1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 txBox="1"/>
          <p:nvPr>
            <p:ph idx="12" type="sldNum"/>
          </p:nvPr>
        </p:nvSpPr>
        <p:spPr>
          <a:xfrm>
            <a:off x="4143587" y="9119473"/>
            <a:ext cx="3168226" cy="478393"/>
          </a:xfrm>
          <a:prstGeom prst="rect">
            <a:avLst/>
          </a:prstGeom>
          <a:noFill/>
          <a:ln>
            <a:noFill/>
          </a:ln>
        </p:spPr>
        <p:txBody>
          <a:bodyPr anchorCtr="0" anchor="b" bIns="49450" lIns="95125" spcFirstLastPara="1" rIns="95125" wrap="square" tIns="494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fld id="{00000000-1234-1234-1234-123412341234}" type="slidenum">
              <a:rPr lang="fr-FR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:notes"/>
          <p:cNvSpPr txBox="1"/>
          <p:nvPr/>
        </p:nvSpPr>
        <p:spPr>
          <a:xfrm>
            <a:off x="1219200" y="720090"/>
            <a:ext cx="4876800" cy="3600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4143587" y="9119473"/>
            <a:ext cx="3168226" cy="478393"/>
          </a:xfrm>
          <a:prstGeom prst="rect">
            <a:avLst/>
          </a:prstGeom>
          <a:noFill/>
          <a:ln>
            <a:noFill/>
          </a:ln>
        </p:spPr>
        <p:txBody>
          <a:bodyPr anchorCtr="0" anchor="b" bIns="49450" lIns="95125" spcFirstLastPara="1" rIns="95125" wrap="square" tIns="494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fld id="{00000000-1234-1234-1234-123412341234}" type="slidenum">
              <a:rPr lang="fr-FR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:notes"/>
          <p:cNvSpPr txBox="1"/>
          <p:nvPr/>
        </p:nvSpPr>
        <p:spPr>
          <a:xfrm>
            <a:off x="1219200" y="720090"/>
            <a:ext cx="4876800" cy="3600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 txBox="1"/>
          <p:nvPr>
            <p:ph idx="12" type="sldNum"/>
          </p:nvPr>
        </p:nvSpPr>
        <p:spPr>
          <a:xfrm>
            <a:off x="4143587" y="9119473"/>
            <a:ext cx="3168226" cy="478393"/>
          </a:xfrm>
          <a:prstGeom prst="rect">
            <a:avLst/>
          </a:prstGeom>
          <a:noFill/>
          <a:ln>
            <a:noFill/>
          </a:ln>
        </p:spPr>
        <p:txBody>
          <a:bodyPr anchorCtr="0" anchor="b" bIns="49450" lIns="95125" spcFirstLastPara="1" rIns="95125" wrap="square" tIns="494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fld id="{00000000-1234-1234-1234-123412341234}" type="slidenum">
              <a:rPr lang="fr-FR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:notes"/>
          <p:cNvSpPr txBox="1"/>
          <p:nvPr/>
        </p:nvSpPr>
        <p:spPr>
          <a:xfrm>
            <a:off x="1219200" y="720090"/>
            <a:ext cx="4876800" cy="3600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 txBox="1"/>
          <p:nvPr>
            <p:ph idx="12" type="sldNum"/>
          </p:nvPr>
        </p:nvSpPr>
        <p:spPr>
          <a:xfrm>
            <a:off x="4143587" y="9119473"/>
            <a:ext cx="3168226" cy="478393"/>
          </a:xfrm>
          <a:prstGeom prst="rect">
            <a:avLst/>
          </a:prstGeom>
          <a:noFill/>
          <a:ln>
            <a:noFill/>
          </a:ln>
        </p:spPr>
        <p:txBody>
          <a:bodyPr anchorCtr="0" anchor="b" bIns="49450" lIns="95125" spcFirstLastPara="1" rIns="95125" wrap="square" tIns="494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fld id="{00000000-1234-1234-1234-123412341234}" type="slidenum">
              <a:rPr lang="fr-FR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:notes"/>
          <p:cNvSpPr txBox="1"/>
          <p:nvPr/>
        </p:nvSpPr>
        <p:spPr>
          <a:xfrm>
            <a:off x="1219200" y="720090"/>
            <a:ext cx="4876800" cy="3600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:notes"/>
          <p:cNvSpPr txBox="1"/>
          <p:nvPr>
            <p:ph idx="12" type="sldNum"/>
          </p:nvPr>
        </p:nvSpPr>
        <p:spPr>
          <a:xfrm>
            <a:off x="4143587" y="9119473"/>
            <a:ext cx="3168226" cy="478393"/>
          </a:xfrm>
          <a:prstGeom prst="rect">
            <a:avLst/>
          </a:prstGeom>
          <a:noFill/>
          <a:ln>
            <a:noFill/>
          </a:ln>
        </p:spPr>
        <p:txBody>
          <a:bodyPr anchorCtr="0" anchor="b" bIns="49450" lIns="95125" spcFirstLastPara="1" rIns="95125" wrap="square" tIns="494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fld id="{00000000-1234-1234-1234-123412341234}" type="slidenum">
              <a:rPr lang="fr-FR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6:notes"/>
          <p:cNvSpPr txBox="1"/>
          <p:nvPr/>
        </p:nvSpPr>
        <p:spPr>
          <a:xfrm>
            <a:off x="1219200" y="720090"/>
            <a:ext cx="4876800" cy="3600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6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 txBox="1"/>
          <p:nvPr>
            <p:ph idx="12" type="sldNum"/>
          </p:nvPr>
        </p:nvSpPr>
        <p:spPr>
          <a:xfrm>
            <a:off x="4143587" y="9119473"/>
            <a:ext cx="3168226" cy="478393"/>
          </a:xfrm>
          <a:prstGeom prst="rect">
            <a:avLst/>
          </a:prstGeom>
          <a:noFill/>
          <a:ln>
            <a:noFill/>
          </a:ln>
        </p:spPr>
        <p:txBody>
          <a:bodyPr anchorCtr="0" anchor="b" bIns="49450" lIns="95125" spcFirstLastPara="1" rIns="95125" wrap="square" tIns="494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fld id="{00000000-1234-1234-1234-123412341234}" type="slidenum">
              <a:rPr lang="fr-FR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7:notes"/>
          <p:cNvSpPr txBox="1"/>
          <p:nvPr/>
        </p:nvSpPr>
        <p:spPr>
          <a:xfrm>
            <a:off x="1219200" y="720090"/>
            <a:ext cx="4876800" cy="3600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7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:notes"/>
          <p:cNvSpPr txBox="1"/>
          <p:nvPr>
            <p:ph idx="12" type="sldNum"/>
          </p:nvPr>
        </p:nvSpPr>
        <p:spPr>
          <a:xfrm>
            <a:off x="4143587" y="9119473"/>
            <a:ext cx="3168226" cy="478393"/>
          </a:xfrm>
          <a:prstGeom prst="rect">
            <a:avLst/>
          </a:prstGeom>
          <a:noFill/>
          <a:ln>
            <a:noFill/>
          </a:ln>
        </p:spPr>
        <p:txBody>
          <a:bodyPr anchorCtr="0" anchor="b" bIns="49450" lIns="95125" spcFirstLastPara="1" rIns="95125" wrap="square" tIns="494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fld id="{00000000-1234-1234-1234-123412341234}" type="slidenum">
              <a:rPr lang="fr-FR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8:notes"/>
          <p:cNvSpPr txBox="1"/>
          <p:nvPr/>
        </p:nvSpPr>
        <p:spPr>
          <a:xfrm>
            <a:off x="1219200" y="720090"/>
            <a:ext cx="4876800" cy="3600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8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 txBox="1"/>
          <p:nvPr>
            <p:ph idx="12" type="sldNum"/>
          </p:nvPr>
        </p:nvSpPr>
        <p:spPr>
          <a:xfrm>
            <a:off x="4143587" y="9119473"/>
            <a:ext cx="3168226" cy="478393"/>
          </a:xfrm>
          <a:prstGeom prst="rect">
            <a:avLst/>
          </a:prstGeom>
          <a:noFill/>
          <a:ln>
            <a:noFill/>
          </a:ln>
        </p:spPr>
        <p:txBody>
          <a:bodyPr anchorCtr="0" anchor="b" bIns="49450" lIns="95125" spcFirstLastPara="1" rIns="95125" wrap="square" tIns="494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fld id="{00000000-1234-1234-1234-123412341234}" type="slidenum">
              <a:rPr lang="fr-FR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9:notes"/>
          <p:cNvSpPr txBox="1"/>
          <p:nvPr/>
        </p:nvSpPr>
        <p:spPr>
          <a:xfrm>
            <a:off x="1219200" y="720090"/>
            <a:ext cx="4876800" cy="3600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9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:notes"/>
          <p:cNvSpPr txBox="1"/>
          <p:nvPr>
            <p:ph idx="12" type="sldNum"/>
          </p:nvPr>
        </p:nvSpPr>
        <p:spPr>
          <a:xfrm>
            <a:off x="4143587" y="9119473"/>
            <a:ext cx="3168226" cy="478393"/>
          </a:xfrm>
          <a:prstGeom prst="rect">
            <a:avLst/>
          </a:prstGeom>
          <a:noFill/>
          <a:ln>
            <a:noFill/>
          </a:ln>
        </p:spPr>
        <p:txBody>
          <a:bodyPr anchorCtr="0" anchor="b" bIns="49450" lIns="95125" spcFirstLastPara="1" rIns="95125" wrap="square" tIns="494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fld id="{00000000-1234-1234-1234-123412341234}" type="slidenum">
              <a:rPr lang="fr-FR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0:notes"/>
          <p:cNvSpPr txBox="1"/>
          <p:nvPr/>
        </p:nvSpPr>
        <p:spPr>
          <a:xfrm>
            <a:off x="1219200" y="720090"/>
            <a:ext cx="4876800" cy="3600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10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:notes"/>
          <p:cNvSpPr txBox="1"/>
          <p:nvPr>
            <p:ph idx="1" type="body"/>
          </p:nvPr>
        </p:nvSpPr>
        <p:spPr>
          <a:xfrm>
            <a:off x="731521" y="4560570"/>
            <a:ext cx="5850467" cy="4318874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11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:notes"/>
          <p:cNvSpPr txBox="1"/>
          <p:nvPr>
            <p:ph idx="12" type="sldNum"/>
          </p:nvPr>
        </p:nvSpPr>
        <p:spPr>
          <a:xfrm>
            <a:off x="4143587" y="9119473"/>
            <a:ext cx="3168226" cy="478393"/>
          </a:xfrm>
          <a:prstGeom prst="rect">
            <a:avLst/>
          </a:prstGeom>
          <a:noFill/>
          <a:ln>
            <a:noFill/>
          </a:ln>
        </p:spPr>
        <p:txBody>
          <a:bodyPr anchorCtr="0" anchor="b" bIns="49450" lIns="95125" spcFirstLastPara="1" rIns="95125" wrap="square" tIns="494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fld id="{00000000-1234-1234-1234-123412341234}" type="slidenum">
              <a:rPr lang="fr-FR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2:notes"/>
          <p:cNvSpPr txBox="1"/>
          <p:nvPr/>
        </p:nvSpPr>
        <p:spPr>
          <a:xfrm>
            <a:off x="1219200" y="720090"/>
            <a:ext cx="4876800" cy="3600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12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:notes"/>
          <p:cNvSpPr txBox="1"/>
          <p:nvPr>
            <p:ph idx="1" type="body"/>
          </p:nvPr>
        </p:nvSpPr>
        <p:spPr>
          <a:xfrm>
            <a:off x="731521" y="4560570"/>
            <a:ext cx="5850467" cy="4318874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13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:notes"/>
          <p:cNvSpPr txBox="1"/>
          <p:nvPr>
            <p:ph idx="1" type="body"/>
          </p:nvPr>
        </p:nvSpPr>
        <p:spPr>
          <a:xfrm>
            <a:off x="731521" y="4560570"/>
            <a:ext cx="5850467" cy="4318874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4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:notes"/>
          <p:cNvSpPr txBox="1"/>
          <p:nvPr>
            <p:ph idx="1" type="body"/>
          </p:nvPr>
        </p:nvSpPr>
        <p:spPr>
          <a:xfrm>
            <a:off x="731521" y="4560570"/>
            <a:ext cx="5850467" cy="4318874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15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:notes"/>
          <p:cNvSpPr txBox="1"/>
          <p:nvPr>
            <p:ph idx="1" type="body"/>
          </p:nvPr>
        </p:nvSpPr>
        <p:spPr>
          <a:xfrm>
            <a:off x="731521" y="4560570"/>
            <a:ext cx="5850467" cy="4318874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16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:notes"/>
          <p:cNvSpPr txBox="1"/>
          <p:nvPr>
            <p:ph idx="1" type="body"/>
          </p:nvPr>
        </p:nvSpPr>
        <p:spPr>
          <a:xfrm>
            <a:off x="731521" y="4560570"/>
            <a:ext cx="5850467" cy="4318874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17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:notes"/>
          <p:cNvSpPr txBox="1"/>
          <p:nvPr>
            <p:ph idx="1" type="body"/>
          </p:nvPr>
        </p:nvSpPr>
        <p:spPr>
          <a:xfrm>
            <a:off x="731521" y="4560570"/>
            <a:ext cx="5850467" cy="4318874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18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:notes"/>
          <p:cNvSpPr txBox="1"/>
          <p:nvPr>
            <p:ph idx="12" type="sldNum"/>
          </p:nvPr>
        </p:nvSpPr>
        <p:spPr>
          <a:xfrm>
            <a:off x="4143587" y="9119473"/>
            <a:ext cx="3168226" cy="478393"/>
          </a:xfrm>
          <a:prstGeom prst="rect">
            <a:avLst/>
          </a:prstGeom>
          <a:noFill/>
          <a:ln>
            <a:noFill/>
          </a:ln>
        </p:spPr>
        <p:txBody>
          <a:bodyPr anchorCtr="0" anchor="b" bIns="49450" lIns="95125" spcFirstLastPara="1" rIns="95125" wrap="square" tIns="494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fld id="{00000000-1234-1234-1234-123412341234}" type="slidenum">
              <a:rPr lang="fr-FR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9:notes"/>
          <p:cNvSpPr txBox="1"/>
          <p:nvPr/>
        </p:nvSpPr>
        <p:spPr>
          <a:xfrm>
            <a:off x="1219200" y="720090"/>
            <a:ext cx="4876800" cy="3600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450" lIns="95125" spcFirstLastPara="1" rIns="95125" wrap="square" tIns="49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19:notes"/>
          <p:cNvSpPr/>
          <p:nvPr>
            <p:ph idx="2" type="sldImg"/>
          </p:nvPr>
        </p:nvSpPr>
        <p:spPr>
          <a:xfrm>
            <a:off x="1257300" y="720725"/>
            <a:ext cx="4799013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21"/>
          <p:cNvPicPr preferRelativeResize="0"/>
          <p:nvPr/>
        </p:nvPicPr>
        <p:blipFill rotWithShape="1">
          <a:blip r:embed="rId2">
            <a:alphaModFix/>
          </a:blip>
          <a:srcRect b="15790" l="12448" r="5743" t="10527"/>
          <a:stretch/>
        </p:blipFill>
        <p:spPr>
          <a:xfrm>
            <a:off x="207963" y="228600"/>
            <a:ext cx="4953000" cy="150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b="0" i="0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2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" name="Google Shape;20;p22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–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" name="Google Shape;27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0"/>
          <p:cNvSpPr/>
          <p:nvPr/>
        </p:nvSpPr>
        <p:spPr>
          <a:xfrm>
            <a:off x="0" y="6496050"/>
            <a:ext cx="9144000" cy="363538"/>
          </a:xfrm>
          <a:prstGeom prst="rect">
            <a:avLst/>
          </a:prstGeom>
          <a:solidFill>
            <a:srgbClr val="02298A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0"/>
          <p:cNvSpPr/>
          <p:nvPr/>
        </p:nvSpPr>
        <p:spPr>
          <a:xfrm>
            <a:off x="0" y="6524625"/>
            <a:ext cx="530225" cy="5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0"/>
          <p:cNvSpPr/>
          <p:nvPr/>
        </p:nvSpPr>
        <p:spPr>
          <a:xfrm>
            <a:off x="481013" y="6464300"/>
            <a:ext cx="8662987" cy="58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20/10/2015    </a:t>
            </a:r>
            <a:r>
              <a:rPr b="1" i="0" lang="fr-FR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Initiation POO - Python-  Hafed Benteftifa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Fonctions en python</a:t>
            </a:r>
            <a:endParaRPr/>
          </a:p>
        </p:txBody>
      </p:sp>
      <p:sp>
        <p:nvSpPr>
          <p:cNvPr id="38" name="Google Shape;38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>
                <a:latin typeface="Calibri"/>
                <a:ea typeface="Calibri"/>
                <a:cs typeface="Calibri"/>
                <a:sym typeface="Calibri"/>
              </a:rPr>
              <a:t>Hafed Benteftifa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Agenda</a:t>
            </a:r>
            <a:endParaRPr/>
          </a:p>
        </p:txBody>
      </p:sp>
      <p:sp>
        <p:nvSpPr>
          <p:cNvPr id="46" name="Google Shape;46;p2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Les objectifs de cette présentation sont les suivants:</a:t>
            </a:r>
            <a:br>
              <a:rPr lang="fr-FR"/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Notion de fonction en python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Syntaxe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Scope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Utilisation de mots-clé dans le header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Pourquoi utiliser des fonctions</a:t>
            </a:r>
            <a:br>
              <a:rPr lang="fr-FR"/>
            </a:br>
            <a:endParaRPr/>
          </a:p>
        </p:txBody>
      </p:sp>
      <p:sp>
        <p:nvSpPr>
          <p:cNvPr id="54" name="Google Shape;54;p3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Permettre la réutilisation de code à travers l'application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Minimise la redondance du code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permet la réduction du nombre de bug potentiels puisqu'on réduit la surface de code (moins de redondance)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Décomposition du problème en sous-problèmes plus faciles à gérér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Qualités d'une fonction</a:t>
            </a:r>
            <a:endParaRPr/>
          </a:p>
        </p:txBody>
      </p:sp>
      <p:sp>
        <p:nvSpPr>
          <p:cNvPr id="62" name="Google Shape;62;p4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Cohérente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Une fonction ne devrait faire qu'une seule tâche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Indépendante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Le résultat d'une fonction ne doit dépendre que de ses arguments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Concise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Le code ou suite d'instructions dans une fonction doit être facilement compris ni trop long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Entrée et sortie</a:t>
            </a:r>
            <a:endParaRPr/>
          </a:p>
        </p:txBody>
      </p:sp>
      <p:sp>
        <p:nvSpPr>
          <p:cNvPr id="70" name="Google Shape;70;p5"/>
          <p:cNvSpPr txBox="1"/>
          <p:nvPr>
            <p:ph idx="1" type="body"/>
          </p:nvPr>
        </p:nvSpPr>
        <p:spPr>
          <a:xfrm>
            <a:off x="152400" y="1132115"/>
            <a:ext cx="8839200" cy="20088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Une fonction est un ensemble d'instructions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Elle reçoit des données en entrée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Elle produit des données en sortie</a:t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3203848" y="3284984"/>
            <a:ext cx="2448272" cy="1512168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331640" y="3789040"/>
            <a:ext cx="1368152" cy="57606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Entrée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012160" y="3789040"/>
            <a:ext cx="1008112" cy="57606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Sortie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Syntaxe</a:t>
            </a:r>
            <a:endParaRPr/>
          </a:p>
        </p:txBody>
      </p:sp>
      <p:sp>
        <p:nvSpPr>
          <p:cNvPr id="81" name="Google Shape;81;p6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On utilise le mot clé </a:t>
            </a:r>
            <a:r>
              <a:rPr lang="fr-FR" u="sng"/>
              <a:t>def</a:t>
            </a:r>
            <a:r>
              <a:rPr lang="fr-FR"/>
              <a:t> dans le header de la fonction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La définition de la fonction peut être faite n'importe où dans le module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On peut omettre le mot clé –return-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Fonction retourne None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Une fonction est considérée comme –Objet-</a:t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1475649" y="2138950"/>
            <a:ext cx="6985800" cy="1354200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&lt;nom fonction&gt;(param1, param2, ..., paramn):</a:t>
            </a:r>
            <a:b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1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 &lt;bloc d'instructions légales&gt;</a:t>
            </a:r>
            <a:br>
              <a:rPr b="0" i="1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1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&lt;valeur&gt;  </a:t>
            </a:r>
            <a:r>
              <a:rPr b="0" i="1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 optionnel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Exemple</a:t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1763688" y="1673316"/>
            <a:ext cx="5255568" cy="800219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calcul_exponent(oper1, oper2):</a:t>
            </a:r>
            <a:b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oper1 ** oper2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Fonction polymorphe</a:t>
            </a:r>
            <a:endParaRPr/>
          </a:p>
        </p:txBody>
      </p:sp>
      <p:sp>
        <p:nvSpPr>
          <p:cNvPr id="98" name="Google Shape;98;p8"/>
          <p:cNvSpPr txBox="1"/>
          <p:nvPr>
            <p:ph idx="1" type="body"/>
          </p:nvPr>
        </p:nvSpPr>
        <p:spPr>
          <a:xfrm>
            <a:off x="152400" y="1132115"/>
            <a:ext cx="8839200" cy="3160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Une fonction peut être polymorphe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ressemble au concept de surcharge des autres langages mais faire attention: pas de surcharge dans python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On peut passer différents sortes de paramètres à la fonction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Comportement de la fonction dépendra des paramètres utilisés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Scope ou niveau de variables</a:t>
            </a:r>
            <a:endParaRPr/>
          </a:p>
        </p:txBody>
      </p:sp>
      <p:sp>
        <p:nvSpPr>
          <p:cNvPr id="106" name="Google Shape;106;p9"/>
          <p:cNvSpPr txBox="1"/>
          <p:nvPr>
            <p:ph idx="1" type="body"/>
          </p:nvPr>
        </p:nvSpPr>
        <p:spPr>
          <a:xfrm>
            <a:off x="152400" y="1132115"/>
            <a:ext cx="8839200" cy="3160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Utiliser la règle </a:t>
            </a:r>
            <a:r>
              <a:rPr b="1" lang="fr-FR"/>
              <a:t>LEGB</a:t>
            </a:r>
            <a:r>
              <a:rPr lang="fr-FR"/>
              <a:t>: Local-Enclosed-Global-Built-in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Local: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dans une fonction ou méthode de classe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Enclosed: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dans une fonction qui englobe la fonction courante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Global: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Niveau supérieur du script courant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Built-in: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nom réservé par python</a:t>
            </a:r>
            <a:endParaRPr/>
          </a:p>
        </p:txBody>
      </p:sp>
      <p:pic>
        <p:nvPicPr>
          <p:cNvPr descr="Python LEGB rule" id="107" name="Google Shape;10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6494" y="3573016"/>
            <a:ext cx="3777506" cy="260517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9"/>
          <p:cNvSpPr txBox="1"/>
          <p:nvPr/>
        </p:nvSpPr>
        <p:spPr>
          <a:xfrm>
            <a:off x="5796136" y="6165304"/>
            <a:ext cx="2757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Réf: Mark Lutz, page 411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Variable locale</a:t>
            </a:r>
            <a:endParaRPr/>
          </a:p>
        </p:txBody>
      </p:sp>
      <p:sp>
        <p:nvSpPr>
          <p:cNvPr id="116" name="Google Shape;116;p10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Elles sont définies à l'intérieur d'une fonction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Les paramètres de la fonctions sont inclus comme variables locales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Une variable locale cache les variables de niveau supérieur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Elle existe uniquement pendant l'exécution de la fonction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Faire attention au cas où une fonction englobe une autre fonction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La fonction interne récupère toutes les variables de la fonction qui l'englobe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Exemple</a:t>
            </a:r>
            <a:endParaRPr/>
          </a:p>
        </p:txBody>
      </p:sp>
      <p:sp>
        <p:nvSpPr>
          <p:cNvPr id="122" name="Google Shape;122;p11"/>
          <p:cNvSpPr txBox="1"/>
          <p:nvPr>
            <p:ph idx="1" type="body"/>
          </p:nvPr>
        </p:nvSpPr>
        <p:spPr>
          <a:xfrm>
            <a:off x="152400" y="4797152"/>
            <a:ext cx="8839200" cy="1329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resultat, oper1 et oper2 sont des variables locales</a:t>
            </a:r>
            <a:endParaRPr/>
          </a:p>
        </p:txBody>
      </p:sp>
      <p:sp>
        <p:nvSpPr>
          <p:cNvPr id="123" name="Google Shape;123;p11"/>
          <p:cNvSpPr/>
          <p:nvPr/>
        </p:nvSpPr>
        <p:spPr>
          <a:xfrm>
            <a:off x="1907704" y="1319862"/>
            <a:ext cx="5184576" cy="1077218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calcul_exponent(oper1, oper2):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resultat = oper1 ** oper2 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resultat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Variable globale</a:t>
            </a:r>
            <a:endParaRPr/>
          </a:p>
        </p:txBody>
      </p:sp>
      <p:sp>
        <p:nvSpPr>
          <p:cNvPr id="131" name="Google Shape;131;p12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Variables définies dans le module mais en dehors de fonctions ou de classe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Disponibles à toutes les fonctions disponibles dans le module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A éviter si l'on a le choix !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Exemple</a:t>
            </a:r>
            <a:endParaRPr/>
          </a:p>
        </p:txBody>
      </p:sp>
      <p:sp>
        <p:nvSpPr>
          <p:cNvPr id="137" name="Google Shape;137;p13"/>
          <p:cNvSpPr txBox="1"/>
          <p:nvPr>
            <p:ph idx="1" type="body"/>
          </p:nvPr>
        </p:nvSpPr>
        <p:spPr>
          <a:xfrm>
            <a:off x="152400" y="4797152"/>
            <a:ext cx="8839200" cy="1329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biais et calcul_exponent sont des variables globales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resultat, oper1 et oper2 sont des variables locales</a:t>
            </a:r>
            <a:endParaRPr/>
          </a:p>
        </p:txBody>
      </p:sp>
      <p:sp>
        <p:nvSpPr>
          <p:cNvPr id="138" name="Google Shape;138;p13"/>
          <p:cNvSpPr/>
          <p:nvPr/>
        </p:nvSpPr>
        <p:spPr>
          <a:xfrm>
            <a:off x="1907704" y="1319862"/>
            <a:ext cx="5184576" cy="1077218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biais = 5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calcul_exponent(oper1, oper2):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resultat = oper1 ** oper2 + biais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resultat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Fonction avec mot-clé</a:t>
            </a:r>
            <a:endParaRPr/>
          </a:p>
        </p:txBody>
      </p:sp>
      <p:sp>
        <p:nvSpPr>
          <p:cNvPr id="144" name="Google Shape;144;p14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Le passage de paramètres au niveau de la fonction se fait selon la position dans le header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peut ne pas être intuitif dans certains cas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on peut ne pas avoir à passer de valeur pour certains paramètres car ils ont des valeurs par défaut</a:t>
            </a:r>
            <a:endParaRPr/>
          </a:p>
        </p:txBody>
      </p:sp>
      <p:sp>
        <p:nvSpPr>
          <p:cNvPr id="145" name="Google Shape;145;p14"/>
          <p:cNvSpPr/>
          <p:nvPr/>
        </p:nvSpPr>
        <p:spPr>
          <a:xfrm>
            <a:off x="1835696" y="3356992"/>
            <a:ext cx="5184576" cy="1077218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calcul_exponent(oper1, oper2):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resultat = oper1 ** oper2 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resultat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1835696" y="5157192"/>
            <a:ext cx="4572000" cy="523220"/>
          </a:xfrm>
          <a:prstGeom prst="rect">
            <a:avLst/>
          </a:prstGeom>
          <a:solidFill>
            <a:schemeClr val="accent6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print(calcul_exponent(2,3))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Approche avec mot clé</a:t>
            </a:r>
            <a:endParaRPr/>
          </a:p>
        </p:txBody>
      </p:sp>
      <p:sp>
        <p:nvSpPr>
          <p:cNvPr id="152" name="Google Shape;152;p15"/>
          <p:cNvSpPr txBox="1"/>
          <p:nvPr>
            <p:ph idx="1" type="body"/>
          </p:nvPr>
        </p:nvSpPr>
        <p:spPr>
          <a:xfrm>
            <a:off x="152400" y="5085184"/>
            <a:ext cx="8839200" cy="1040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On peut changer l'ordre de passage des paramètres</a:t>
            </a:r>
            <a:endParaRPr/>
          </a:p>
        </p:txBody>
      </p:sp>
      <p:sp>
        <p:nvSpPr>
          <p:cNvPr id="153" name="Google Shape;153;p15"/>
          <p:cNvSpPr/>
          <p:nvPr/>
        </p:nvSpPr>
        <p:spPr>
          <a:xfrm>
            <a:off x="2051720" y="1196752"/>
            <a:ext cx="5184576" cy="1077218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calcul_exponent(oper1, oper2):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resultat = oper1 ** oper2 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resultat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2051720" y="2996952"/>
            <a:ext cx="5688632" cy="523220"/>
          </a:xfrm>
          <a:prstGeom prst="rect">
            <a:avLst/>
          </a:prstGeom>
          <a:solidFill>
            <a:schemeClr val="accent6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print(calcul_exponent(oper2=55,oper1=2))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Valeurs par défaut</a:t>
            </a:r>
            <a:endParaRPr/>
          </a:p>
        </p:txBody>
      </p:sp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152400" y="3717032"/>
            <a:ext cx="8839200" cy="2409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</a:pPr>
            <a:r>
              <a:rPr lang="fr-FR" sz="2000"/>
              <a:t>On peut passer juste la première valeur.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</a:pPr>
            <a:r>
              <a:rPr lang="fr-FR" sz="2000"/>
              <a:t>oper1 est obligatoire car il n'a pas de valeur par défaut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</a:pPr>
            <a:r>
              <a:rPr lang="fr-FR" sz="2000"/>
              <a:t>Ordre dans une définition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</a:pPr>
            <a:r>
              <a:rPr lang="fr-FR" sz="1800"/>
              <a:t>param normaux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</a:pPr>
            <a:r>
              <a:rPr lang="fr-FR" sz="1800"/>
              <a:t>param avec valeur par défaut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</a:pPr>
            <a:r>
              <a:rPr lang="fr-FR" sz="1800"/>
              <a:t>forme *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</a:pPr>
            <a:r>
              <a:rPr lang="fr-FR" sz="1800"/>
              <a:t>forme **</a:t>
            </a:r>
            <a:endParaRPr sz="1800"/>
          </a:p>
        </p:txBody>
      </p:sp>
      <p:sp>
        <p:nvSpPr>
          <p:cNvPr id="161" name="Google Shape;161;p16"/>
          <p:cNvSpPr/>
          <p:nvPr/>
        </p:nvSpPr>
        <p:spPr>
          <a:xfrm>
            <a:off x="2051720" y="1196752"/>
            <a:ext cx="5184576" cy="1077218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calcul_exponent(oper1, oper2=2):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resultat = oper1 ** oper2 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resultat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2051720" y="2996952"/>
            <a:ext cx="5688632" cy="523220"/>
          </a:xfrm>
          <a:prstGeom prst="rect">
            <a:avLst/>
          </a:prstGeom>
          <a:solidFill>
            <a:schemeClr val="accent6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print(calcul_exponent(3))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Forme * dans le header</a:t>
            </a:r>
            <a:endParaRPr/>
          </a:p>
        </p:txBody>
      </p:sp>
      <p:sp>
        <p:nvSpPr>
          <p:cNvPr id="168" name="Google Shape;168;p17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La forme * permet de collecter dans un tuple un certain nombre de valeurs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2123728" y="2279193"/>
            <a:ext cx="4824536" cy="1323439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calcul_somme_serie(*oper):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resultat = 0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index </a:t>
            </a: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oper: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resultat +=index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resultat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2123728" y="4437112"/>
            <a:ext cx="5112568" cy="523220"/>
          </a:xfrm>
          <a:prstGeom prst="rect">
            <a:avLst/>
          </a:prstGeom>
          <a:solidFill>
            <a:schemeClr val="accent6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print(calcul_somme_serie(1,5,6,9,74,4))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Forme ** dans le header</a:t>
            </a:r>
            <a:endParaRPr/>
          </a:p>
        </p:txBody>
      </p:sp>
      <p:sp>
        <p:nvSpPr>
          <p:cNvPr id="176" name="Google Shape;176;p18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La forme ** permet de collecter dans un dictionnaire un certain nombre de valeurs nommées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2123728" y="2525414"/>
            <a:ext cx="4824536" cy="830997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afficher_detail(**oper):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k,v </a:t>
            </a:r>
            <a:r>
              <a:rPr b="1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oper.items():</a:t>
            </a:r>
            <a:b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print(k,v)</a:t>
            </a:r>
            <a:endParaRPr b="0" i="0" sz="2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2123728" y="4437112"/>
            <a:ext cx="6480720" cy="523220"/>
          </a:xfrm>
          <a:prstGeom prst="rect">
            <a:avLst/>
          </a:prstGeom>
          <a:solidFill>
            <a:schemeClr val="accent6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afficher_detail(nom=</a:t>
            </a:r>
            <a:r>
              <a:rPr b="1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"flouflou"</a:t>
            </a:r>
            <a: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,prenom=</a:t>
            </a:r>
            <a:r>
              <a:rPr b="1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"Alain"</a:t>
            </a:r>
            <a:r>
              <a:rPr b="0" i="0" lang="fr-FR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28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Conclusion</a:t>
            </a:r>
            <a:endParaRPr/>
          </a:p>
        </p:txBody>
      </p:sp>
      <p:sp>
        <p:nvSpPr>
          <p:cNvPr id="186" name="Google Shape;186;p19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/>
              <a:t>Dans cette présentation, on a vu les points suivants:</a:t>
            </a:r>
            <a:br>
              <a:rPr lang="fr-FR"/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Notion de fonction en python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Syntaxe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Scope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Utilisation de mots-clé dans le header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ython_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HafedB</dc:creator>
</cp:coreProperties>
</file>