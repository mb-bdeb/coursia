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Corbel"/>
      <p:regular r:id="rId43"/>
      <p:bold r:id="rId44"/>
      <p:italic r:id="rId45"/>
      <p:boldItalic r:id="rId46"/>
    </p:embeddedFont>
    <p:embeddedFont>
      <p:font typeface="Quattrocen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ih/mT3g/pcwy7Jp/cMMbj0GxMr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Corbel-bold.fntdata"/><Relationship Id="rId43" Type="http://schemas.openxmlformats.org/officeDocument/2006/relationships/font" Target="fonts/Corbel-regular.fntdata"/><Relationship Id="rId46" Type="http://schemas.openxmlformats.org/officeDocument/2006/relationships/font" Target="fonts/Corbel-boldItalic.fntdata"/><Relationship Id="rId45" Type="http://schemas.openxmlformats.org/officeDocument/2006/relationships/font" Target="fonts/Corbel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bold.fntdata"/><Relationship Id="rId47" Type="http://schemas.openxmlformats.org/officeDocument/2006/relationships/font" Target="fonts/QuattrocentoSans-regular.fntdata"/><Relationship Id="rId49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39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39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39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39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9"/>
          <p:cNvPicPr preferRelativeResize="0"/>
          <p:nvPr/>
        </p:nvPicPr>
        <p:blipFill rotWithShape="1">
          <a:blip r:embed="rId2">
            <a:alphaModFix/>
          </a:blip>
          <a:srcRect b="15790" l="12448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/>
          <p:nvPr/>
        </p:nvSpPr>
        <p:spPr>
          <a:xfrm>
            <a:off x="1" y="6496050"/>
            <a:ext cx="12192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8"/>
          <p:cNvSpPr/>
          <p:nvPr/>
        </p:nvSpPr>
        <p:spPr>
          <a:xfrm>
            <a:off x="2" y="6524627"/>
            <a:ext cx="706967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8"/>
          <p:cNvSpPr/>
          <p:nvPr/>
        </p:nvSpPr>
        <p:spPr>
          <a:xfrm>
            <a:off x="641352" y="6464303"/>
            <a:ext cx="11550649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06/03/2019    Fouiilles de données 420-BD8-BB</a:t>
            </a:r>
            <a:r>
              <a:rPr b="1" i="0" lang="fr-FR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 </a:t>
            </a:r>
            <a:r>
              <a:rPr b="1" i="0" lang="fr-FR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Modules python</a:t>
            </a:r>
            <a:br>
              <a:rPr lang="fr-FR"/>
            </a:br>
            <a:r>
              <a:rPr lang="fr-FR" sz="3200"/>
              <a:t>Numpy</a:t>
            </a:r>
            <a:br>
              <a:rPr lang="fr-FR" sz="3200"/>
            </a:br>
            <a:r>
              <a:rPr lang="fr-FR" sz="3200"/>
              <a:t>Scipy</a:t>
            </a:r>
            <a:br>
              <a:rPr lang="fr-FR" sz="3200"/>
            </a:br>
            <a:r>
              <a:rPr lang="fr-FR" sz="3200"/>
              <a:t>scikit-learn</a:t>
            </a:r>
            <a:br>
              <a:rPr lang="fr-FR" sz="3200"/>
            </a:br>
            <a:r>
              <a:rPr lang="fr-FR" sz="3200"/>
              <a:t>Pandas</a:t>
            </a:r>
            <a:br>
              <a:rPr lang="fr-FR" sz="3200"/>
            </a:br>
            <a:r>
              <a:rPr lang="fr-FR" sz="3200"/>
              <a:t>Matplotlib-seaborn</a:t>
            </a:r>
            <a:br>
              <a:rPr lang="fr-FR" sz="3200"/>
            </a:b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914400" y="5589240"/>
            <a:ext cx="19672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 Mai 2018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/>
              <a:t>Agenda</a:t>
            </a:r>
            <a:endParaRPr/>
          </a:p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fr-FR" sz="3000"/>
              <a:t>Dans ce cours, on passe en revue les points suivants: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Numpy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Scipy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Matplotlib-Seaborn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scikit-learn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pandas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Utilisation des modules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None/>
            </a:pPr>
            <a:r>
              <a:t/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3000"/>
          </a:p>
          <a:p>
            <a:pPr indent="-200660" lvl="0" marL="342900" rtl="0" algn="l">
              <a:lnSpc>
                <a:spcPct val="80000"/>
              </a:lnSpc>
              <a:spcBef>
                <a:spcPts val="131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Modules python dans le contexte</a:t>
            </a:r>
            <a:endParaRPr/>
          </a:p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203200" y="5733255"/>
            <a:ext cx="11785600" cy="392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fr-FR" sz="2000"/>
              <a:t>Réf: Steven Siena- CSE519 Stony Brook University 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199456" y="1303543"/>
            <a:ext cx="1939074" cy="1188600"/>
          </a:xfrm>
          <a:prstGeom prst="ellipse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Collecte de données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796310" y="1303543"/>
            <a:ext cx="1566340" cy="1188600"/>
          </a:xfrm>
          <a:prstGeom prst="ellipse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Exploration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971026" y="1340768"/>
            <a:ext cx="1429450" cy="1188600"/>
          </a:xfrm>
          <a:prstGeom prst="ellipse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Pré-traitement</a:t>
            </a: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0024926" y="1284493"/>
            <a:ext cx="1831714" cy="1188600"/>
          </a:xfrm>
          <a:prstGeom prst="ellipse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Évaluation et déploiement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67408" y="2965068"/>
            <a:ext cx="2358259" cy="138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Beautiful Soup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Tweepy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979724" y="2965068"/>
            <a:ext cx="1684227" cy="138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NLTK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Scikit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831138" y="2965068"/>
            <a:ext cx="1890212" cy="138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statsmodels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143715" y="2965068"/>
            <a:ext cx="1427100" cy="138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Bokeh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215680" y="1776743"/>
            <a:ext cx="598500" cy="24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62650" y="1776743"/>
            <a:ext cx="598500" cy="24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43850" y="1776743"/>
            <a:ext cx="598500" cy="24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2140203" y="2492143"/>
            <a:ext cx="0" cy="5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>
            <a:off x="4693275" y="2492143"/>
            <a:ext cx="0" cy="5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3"/>
          <p:cNvCxnSpPr/>
          <p:nvPr/>
        </p:nvCxnSpPr>
        <p:spPr>
          <a:xfrm>
            <a:off x="6674475" y="2492143"/>
            <a:ext cx="0" cy="5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3"/>
          <p:cNvCxnSpPr/>
          <p:nvPr/>
        </p:nvCxnSpPr>
        <p:spPr>
          <a:xfrm>
            <a:off x="10892115" y="2492143"/>
            <a:ext cx="0" cy="5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7936694" y="1268760"/>
            <a:ext cx="1831714" cy="1188600"/>
          </a:xfrm>
          <a:prstGeom prst="ellipse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Deveveloppement modele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055483" y="2949335"/>
            <a:ext cx="1427100" cy="138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8803883" y="2476410"/>
            <a:ext cx="0" cy="5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9673964" y="1772816"/>
            <a:ext cx="598500" cy="24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Numpy</a:t>
            </a:r>
            <a:endParaRPr/>
          </a:p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Numpy est une extension-module de python pour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Offrir un support pour des tableaux large, multi-dimensionnel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Offrir un support pour le calcul matriciel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Offrir une librairie de fonctions mathématiques de haut-niveau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Très puissant lorsqu'il est utilisé avec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Scikit-learn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Matplotlib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SciPy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Numpy avec SciPy | suite</a:t>
            </a:r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Fournir les opérations de base en programmation scientifique, ce qui inclut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Tableaux -arrays,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Matrices,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Intégration,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Équations différentielles,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Statistiques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et autres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Numpy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Création de tableau</a:t>
            </a:r>
            <a:endParaRPr/>
          </a:p>
        </p:txBody>
      </p:sp>
      <p:sp>
        <p:nvSpPr>
          <p:cNvPr id="83" name="Google Shape;83;p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Plusieurs manières de créer un tableau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Liste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Liste de listes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51384" y="2276872"/>
            <a:ext cx="3215680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np.array([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16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#afficher tableau</a:t>
            </a:r>
            <a:br>
              <a:rPr b="0" i="1" lang="fr-FR" sz="16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51384" y="4344959"/>
            <a:ext cx="4248472" cy="13234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mat =[[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],[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np.array(mat)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16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#afficher tableau</a:t>
            </a:r>
            <a:br>
              <a:rPr b="0" i="1" lang="fr-FR" sz="16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Tableau de zéro et un</a:t>
            </a:r>
            <a:endParaRPr/>
          </a:p>
        </p:txBody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On peut créer des tableaux de zéros et uns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51384" y="2551920"/>
            <a:ext cx="3456384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tabUn = np.ones((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(tabUn)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2170670" y="3917171"/>
            <a:ext cx="23820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[[ 1.  1.]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[ 1.  1.]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[ 1.  1.]]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735960" y="2167201"/>
            <a:ext cx="3240360" cy="8297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tabZero = np.zeros((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(tabZero)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8328248" y="3389832"/>
            <a:ext cx="15358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[[ 0.  0.]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[ 0.  0.]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[ 0.  0.]]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911424" y="3469444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98" name="Google Shape;98;p8"/>
          <p:cNvCxnSpPr/>
          <p:nvPr/>
        </p:nvCxnSpPr>
        <p:spPr>
          <a:xfrm>
            <a:off x="7032104" y="3045471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Intervalle de valeurs | Tableau</a:t>
            </a:r>
            <a:endParaRPr/>
          </a:p>
        </p:txBody>
      </p:sp>
      <p:sp>
        <p:nvSpPr>
          <p:cNvPr id="104" name="Google Shape;104;p9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FR"/>
              <a:t>Fonction arange( ): start, stop, step et dtype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407368" y="2135713"/>
            <a:ext cx="3744416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tabRange = np.arange(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(tabRange)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47928" y="3134230"/>
            <a:ext cx="1578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[ 3  5  7  9 11]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9"/>
          <p:cNvCxnSpPr/>
          <p:nvPr/>
        </p:nvCxnSpPr>
        <p:spPr>
          <a:xfrm>
            <a:off x="4151784" y="2562379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Tableau Random</a:t>
            </a:r>
            <a:endParaRPr/>
          </a:p>
        </p:txBody>
      </p:sp>
      <p:sp>
        <p:nvSpPr>
          <p:cNvPr id="114" name="Google Shape;114;p10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FR"/>
              <a:t>On peut utiliser la function </a:t>
            </a:r>
            <a:r>
              <a:rPr b="1" lang="fr-FR"/>
              <a:t>random( )</a:t>
            </a:r>
            <a:r>
              <a:rPr lang="fr-FR"/>
              <a:t> et ses variantes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FR"/>
              <a:t>Intervalle de valeurs: randint(low, high, x,y)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606892" y="2073763"/>
            <a:ext cx="3935760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tabRandom = np.random.random((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(tabRandom)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946343" y="2227651"/>
            <a:ext cx="345391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[[ 0.06139137  0.95022027]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[ 0.80464796  0.73824076]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[ 0.93298714  0.97882626]]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41319" y="4319518"/>
            <a:ext cx="4151784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tabRandom = np.random.randint(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(tabRandom)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5472573" y="5276969"/>
            <a:ext cx="180706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[[2 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[2 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[6 7]]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0"/>
          <p:cNvCxnSpPr/>
          <p:nvPr/>
        </p:nvCxnSpPr>
        <p:spPr>
          <a:xfrm>
            <a:off x="3143672" y="2401189"/>
            <a:ext cx="1728192" cy="288032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20" name="Google Shape;120;p10"/>
          <p:cNvCxnSpPr/>
          <p:nvPr/>
        </p:nvCxnSpPr>
        <p:spPr>
          <a:xfrm>
            <a:off x="4046724" y="5242848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Tableau | reshape</a:t>
            </a:r>
            <a:endParaRPr/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Avec la fonction reshape(), on peut reformatter un tableau selon d'autres dimensions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Exemple: de 2x 5 vers 10x2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A noter que le tableau original n'est pas modifié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nombre d'éléments ne bouge pas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C'est juste la vue sur le tableau qui change</a:t>
            </a:r>
            <a:endParaRPr/>
          </a:p>
        </p:txBody>
      </p:sp>
      <p:sp>
        <p:nvSpPr>
          <p:cNvPr id="128" name="Google Shape;128;p11"/>
          <p:cNvSpPr/>
          <p:nvPr/>
        </p:nvSpPr>
        <p:spPr>
          <a:xfrm>
            <a:off x="407368" y="2976232"/>
            <a:ext cx="2952328" cy="13849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Courier New"/>
              <a:buNone/>
            </a:pP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tabR = tab.reshape(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"Matrice"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(tabR)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548324" y="3356992"/>
            <a:ext cx="211189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 1 2 3 4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[[0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[2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[4 5]]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1"/>
          <p:cNvCxnSpPr/>
          <p:nvPr/>
        </p:nvCxnSpPr>
        <p:spPr>
          <a:xfrm>
            <a:off x="3215680" y="3517443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/>
              <a:t>Tableau | shape</a:t>
            </a:r>
            <a:endParaRPr sz="3200"/>
          </a:p>
        </p:txBody>
      </p:sp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FR"/>
              <a:t>L'attribut </a:t>
            </a:r>
            <a:r>
              <a:rPr b="1" lang="fr-FR"/>
              <a:t>shape</a:t>
            </a:r>
            <a:r>
              <a:rPr lang="fr-FR"/>
              <a:t> pour un tableau retourne les dimensions du tableau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FR"/>
              <a:t>On peut aller chercher le nombre de lignes et colonnes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479376" y="1850341"/>
            <a:ext cx="3143672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(tab.shape)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4330707" y="2738805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6327292" y="1850341"/>
            <a:ext cx="2927648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(tab.shape)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tabS = tab.reshape(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(tabS.shape)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9999161" y="2870295"/>
            <a:ext cx="11037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479376" y="4355232"/>
            <a:ext cx="3623048" cy="1169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Courier New"/>
              <a:buNone/>
            </a:pP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tabS = tab.reshape(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(tabS.shape[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b="0" i="1" lang="fr-FR" sz="14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# m lignes</a:t>
            </a:r>
            <a:br>
              <a:rPr b="0" i="1" lang="fr-FR" sz="14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(tabS.shape[</a:t>
            </a:r>
            <a:r>
              <a:rPr b="0" i="0" lang="fr-FR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b="0" i="1" lang="fr-FR" sz="1400" u="none" cap="none" strike="noStrike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# n colonnes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5547018" y="5571564"/>
            <a:ext cx="1054424" cy="64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>
            <a:off x="8673970" y="2504739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44" name="Google Shape;144;p12"/>
          <p:cNvCxnSpPr/>
          <p:nvPr/>
        </p:nvCxnSpPr>
        <p:spPr>
          <a:xfrm>
            <a:off x="3168767" y="2246290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45" name="Google Shape;145;p12"/>
          <p:cNvCxnSpPr/>
          <p:nvPr/>
        </p:nvCxnSpPr>
        <p:spPr>
          <a:xfrm>
            <a:off x="4280652" y="5086575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/>
              <a:t>Accès aux éléments du tableau | indices ligne et colonne</a:t>
            </a:r>
            <a:endParaRPr/>
          </a:p>
        </p:txBody>
      </p:sp>
      <p:sp>
        <p:nvSpPr>
          <p:cNvPr id="151" name="Google Shape;151;p13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On utilisera les indices selon lignes et colonnes avec le premier indice commençant par 0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406884" y="2372687"/>
            <a:ext cx="3888916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).reshape((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628432" y="3027835"/>
            <a:ext cx="27599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[[ 0  1  2  3  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[ 5  6  7  8  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[10 11 12 13 14]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[15 16 17 18 19]]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406884" y="4416206"/>
            <a:ext cx="3888916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Font typeface="Courier New"/>
              <a:buNone/>
            </a:pP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 = np.arange(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).reshape((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(tab[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440972" y="5756833"/>
            <a:ext cx="441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3"/>
          <p:cNvCxnSpPr/>
          <p:nvPr/>
        </p:nvCxnSpPr>
        <p:spPr>
          <a:xfrm>
            <a:off x="4295800" y="2911296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57" name="Google Shape;157;p13"/>
          <p:cNvCxnSpPr/>
          <p:nvPr/>
        </p:nvCxnSpPr>
        <p:spPr>
          <a:xfrm>
            <a:off x="4295800" y="5149063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Axes de tableau-array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203200" y="1132115"/>
            <a:ext cx="7981032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Les axes sont définis pour les tableaux ayant plus d'une dimension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Un tableau à 2 dimensions dispose de 2 axes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Intérêt: on peut effectuer des opérations en spécifiant un axe</a:t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9264352" y="2204864"/>
            <a:ext cx="2520280" cy="172819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4"/>
          <p:cNvCxnSpPr/>
          <p:nvPr/>
        </p:nvCxnSpPr>
        <p:spPr>
          <a:xfrm>
            <a:off x="8832304" y="2060848"/>
            <a:ext cx="0" cy="13681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14"/>
          <p:cNvCxnSpPr/>
          <p:nvPr/>
        </p:nvCxnSpPr>
        <p:spPr>
          <a:xfrm flipH="1" rot="10800000">
            <a:off x="9084042" y="1916832"/>
            <a:ext cx="1431776" cy="838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4"/>
          <p:cNvSpPr txBox="1"/>
          <p:nvPr/>
        </p:nvSpPr>
        <p:spPr>
          <a:xfrm>
            <a:off x="8362356" y="3584347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axe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10704512" y="1706624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1086048" y="3973592"/>
            <a:ext cx="5297984" cy="2203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474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np.arange(12).reshape((3,4))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x.sum(axis=1)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Manipulation avec fichier texte | type similaire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Lorsqu'on travaille avec des fichiers, il peut être intéressant d'utiliser  ndarray et les fonctions </a:t>
            </a:r>
            <a:r>
              <a:rPr b="1" lang="fr-FR"/>
              <a:t>loadtxt( ) </a:t>
            </a:r>
            <a:r>
              <a:rPr lang="fr-FR"/>
              <a:t>et</a:t>
            </a:r>
            <a:r>
              <a:rPr b="1" lang="fr-FR"/>
              <a:t> savetxt( 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Data structuré en lignes et colonnes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Types similaires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1415480" y="3629139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 = np.loadtxt('produits.txt')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np.savetxt('produits_tra.txt‘, arr)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Manipulation avec fichier texte| type différent</a:t>
            </a:r>
            <a:endParaRPr/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Si les colonnes dans le fichier ne sont pas similaires, on devra définir les types de colonnes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Utiliser </a:t>
            </a:r>
            <a:r>
              <a:rPr b="1" lang="fr-FR"/>
              <a:t>recarray</a:t>
            </a:r>
            <a:r>
              <a:rPr lang="fr-FR"/>
              <a:t> à la place de ndarray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5889788" y="2852936"/>
            <a:ext cx="35520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#Fichier produits.txt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PR1 42.45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PR2 23.254 2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07368" y="2993253"/>
            <a:ext cx="4668664" cy="13849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Courier New"/>
              <a:buNone/>
            </a:pP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numpy </a:t>
            </a:r>
            <a:r>
              <a:rPr b="1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table = np.loadtxt(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'produits.txt'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400" u="none" cap="none" strike="noStrike">
                <a:solidFill>
                  <a:srgbClr val="660099"/>
                </a:solidFill>
                <a:latin typeface="Courier New"/>
                <a:ea typeface="Courier New"/>
                <a:cs typeface="Courier New"/>
                <a:sym typeface="Courier New"/>
              </a:rPr>
              <a:t>dtype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={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'names'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(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'ID'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'Result'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'Type'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'formats'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(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'S4'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'f4'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fr-FR" sz="1400" u="none" cap="none" strike="noStrik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'i2'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)})</a:t>
            </a:r>
            <a:b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(table['Result'])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951984" y="4509120"/>
            <a:ext cx="31983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[ 42.45000076  23.25399971]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6"/>
          <p:cNvCxnSpPr/>
          <p:nvPr/>
        </p:nvCxnSpPr>
        <p:spPr>
          <a:xfrm>
            <a:off x="4727848" y="4005064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Fichier binaire</a:t>
            </a:r>
            <a:endParaRPr/>
          </a:p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Les fichiers binaires peuvent être manipulés en utilisant les fonctions suivante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numpy.save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numpy.load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Note importante: le format binaire est spécifique à numpy et dans ce cas, il faudrait utiliser numpy dans le cas de l'écriture et la lecture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Fichier binaire | exemple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1127448" y="1556792"/>
            <a:ext cx="6096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Creating a large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= np.empty((1000, 1000))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Sauvegarde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np.save('test.npy',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Sauvegarde avec compression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np.savez('test.npz',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Chargement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newdata = np.load('test.npy')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Statistiques</a:t>
            </a:r>
            <a:endParaRPr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Numpy dispose d'un certain nombre de fonctions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moyenne – mean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écart type – standard deviation ou std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variance,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etc…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1703512" y="3356992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#random array avec 1000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np.random.randn(1000)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Calcul de statistiques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 = x.mean()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 = x.std()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 = x.var()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SciPy</a:t>
            </a:r>
            <a:endParaRPr/>
          </a:p>
        </p:txBody>
      </p:sp>
      <p:pic>
        <p:nvPicPr>
          <p:cNvPr descr="scipy_logo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4432" y="692696"/>
            <a:ext cx="1666875" cy="58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SciPy</a:t>
            </a:r>
            <a:endParaRPr/>
          </a:p>
        </p:txBody>
      </p:sp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Librairie pour les mathématiques, science et ingénierie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Dépend de la librairie NumPy et utilise les arrays de NumPy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Dispose d'un grand nombre de fonctions pour l'intégration numérique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 | algèbre linéaire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39416" y="1484784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scipy import linalg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np.array([[1,2],[3,4]])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linalg.inv(A)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A.dot(linalg.inv(A))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519936" y="2132856"/>
            <a:ext cx="47041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[[1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[3 4]]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[[-2.   1.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[ 1.5 -0.5]]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[[  1.00000000e+00   0.00000000e+00]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 8.88178420e-16   1.00000000e+00]]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3719736" y="2571584"/>
            <a:ext cx="1800300" cy="6414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Pandas</a:t>
            </a:r>
            <a:endParaRPr/>
          </a:p>
        </p:txBody>
      </p:sp>
      <p:pic>
        <p:nvPicPr>
          <p:cNvPr descr="https://dataaspirant.files.wordpress.com/2014/10/pandas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0216" y="332656"/>
            <a:ext cx="3800475" cy="197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Pandas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Module qui fournit un certain nombre de structures permettant de travailler avec des données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relationnelle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ou labelisée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Positionné comme étant une librairie permettant de faire l'analyse et la manipulation de données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table dans pandas est appelée </a:t>
            </a:r>
            <a:r>
              <a:rPr b="1" lang="fr-FR"/>
              <a:t>DataFrame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colonne ou 1-D array est appelée </a:t>
            </a:r>
            <a:r>
              <a:rPr b="1" lang="fr-FR"/>
              <a:t>Series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1271464" y="2060848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pandas as pd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= np.array([2.0, 1.0, 5.0, 0.97, 3.0, 10.0, 0.0599, 8.0])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serie = pd.Series(values)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serie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8112224" y="1844824"/>
            <a:ext cx="297599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0     2.0000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1     1.0000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2     5.0000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3     0.9700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4     3.0000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5    10.0000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6     0.0599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7     8.0000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dtype: float64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25"/>
          <p:cNvCxnSpPr/>
          <p:nvPr/>
        </p:nvCxnSpPr>
        <p:spPr>
          <a:xfrm>
            <a:off x="6786494" y="3146613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Fonctionnalités lecture de données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203200" y="5661247"/>
            <a:ext cx="11785600" cy="464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lang="fr-FR" sz="1800"/>
              <a:t>Ref: http://pandas.pydata.org/pandas-docs/stable/io.html</a:t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479" y="980728"/>
            <a:ext cx="9744857" cy="410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Matplotlib</a:t>
            </a:r>
            <a:endParaRPr/>
          </a:p>
        </p:txBody>
      </p:sp>
      <p:pic>
        <p:nvPicPr>
          <p:cNvPr descr="540px-Matplotlib_logo.svg"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064" y="836712"/>
            <a:ext cx="5143500" cy="94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Matplotlib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Module qui fournit un certain nombre de fonctions permettant le tracé de graphes pour python et numpy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Permet aussi d'intégrer des graphes dans des applications en utilisant wxpython, Qt ou GTK+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Positionné comme étant une librairie pour le graphisme de données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FR"/>
              <a:t>Scatter plots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Charts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Bar Charts, Pie Charts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FR"/>
              <a:t>Box</a:t>
            </a:r>
            <a:r>
              <a:rPr lang="fr-FR"/>
              <a:t> and Whisker Plots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FR"/>
              <a:t>Lines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Exemple</a:t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911424" y="1916832"/>
            <a:ext cx="37444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matplotlib.pyplot as plt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t1=np.arange(0.0, 5.0, 0.1)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y=np.cos(2*np.pi*t1)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plt.plot(t1,y)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plt.show()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936" y="1484784"/>
            <a:ext cx="4827587" cy="325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9"/>
          <p:cNvCxnSpPr/>
          <p:nvPr/>
        </p:nvCxnSpPr>
        <p:spPr>
          <a:xfrm>
            <a:off x="4074870" y="2982436"/>
            <a:ext cx="1161900" cy="6888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Seaborn</a:t>
            </a:r>
            <a:endParaRPr/>
          </a:p>
        </p:txBody>
      </p:sp>
      <p:pic>
        <p:nvPicPr>
          <p:cNvPr descr="540px-Matplotlib_logo.svg"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064" y="836712"/>
            <a:ext cx="5143500" cy="94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Seaborn</a:t>
            </a:r>
            <a:endParaRPr/>
          </a:p>
        </p:txBody>
      </p:sp>
      <p:sp>
        <p:nvSpPr>
          <p:cNvPr id="284" name="Google Shape;284;p31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Module interface de haut niveau par rapport à Matplotlib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Utilise des themes par defaut plaisant.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Permet d'utiliser des palettes de couleurs spéciales.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Permet de faire des graphes statistiques avancés.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Mise en forme des graphes très faciles.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Visualisation de données matrices et DataFrames.</a:t>
            </a:r>
            <a:endParaRPr/>
          </a:p>
          <a:p>
            <a:pPr indent="-20066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Module scikit-learn</a:t>
            </a:r>
            <a:endParaRPr/>
          </a:p>
        </p:txBody>
      </p:sp>
      <p:pic>
        <p:nvPicPr>
          <p:cNvPr descr="scikit-learn-logo" id="290" name="Google Shape;2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024" y="0"/>
            <a:ext cx="5391150" cy="192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Ce qu'est scikit-learn</a:t>
            </a:r>
            <a:endParaRPr/>
          </a:p>
        </p:txBody>
      </p:sp>
      <p:sp>
        <p:nvSpPr>
          <p:cNvPr id="296" name="Google Shape;296;p33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Module qui fournit un certain nombre de fonctions utiles en machine learning et data mining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Développé à l'origine comme une extension de SciPy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Ce module sera utilisé dans la plupart de nos manipulations ML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Avantages de scikit-learn</a:t>
            </a:r>
            <a:endParaRPr/>
          </a:p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Interface stable et uniforme sur tous les modèles de machines learning: la convention de nommage est totalement respectée pour les fonctions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Un grand nombre de paramètres de tuning sont disponibles pour les modèles: les valeurs par défaut sont généralement adéquates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Documentation très fournies et un grand  nombre d'exemples sont fournies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Un grand nombre de fonctionnalités sont fournies pour des taches connexes telles que la sélection des modèles.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/>
          <p:nvPr>
            <p:ph type="ctrTitle"/>
          </p:nvPr>
        </p:nvSpPr>
        <p:spPr>
          <a:xfrm>
            <a:off x="701300" y="2130428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Utilisation des modules</a:t>
            </a:r>
            <a:br>
              <a:rPr lang="fr-FR"/>
            </a:br>
            <a:r>
              <a:rPr lang="fr-FR"/>
              <a:t>ipython jupyter notebooks</a:t>
            </a:r>
            <a:endParaRPr/>
          </a:p>
        </p:txBody>
      </p:sp>
      <p:pic>
        <p:nvPicPr>
          <p:cNvPr descr="scikit-learn-logo" id="308" name="Google Shape;30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024" y="0"/>
            <a:ext cx="5391150" cy="192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 avec les notebooks</a:t>
            </a:r>
            <a:endParaRPr/>
          </a:p>
        </p:txBody>
      </p:sp>
      <p:sp>
        <p:nvSpPr>
          <p:cNvPr id="314" name="Google Shape;314;p36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FR"/>
              <a:t>Exemple complet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Chargement du dataset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Exploration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Sélection des features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Analyse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Visualisation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type="title"/>
          </p:nvPr>
        </p:nvSpPr>
        <p:spPr>
          <a:xfrm>
            <a:off x="174174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3200"/>
              <a:t>Agenda</a:t>
            </a:r>
            <a:endParaRPr/>
          </a:p>
        </p:txBody>
      </p:sp>
      <p:sp>
        <p:nvSpPr>
          <p:cNvPr id="320" name="Google Shape;320;p3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fr-FR" sz="3000"/>
              <a:t>Dans ce cours, on a passé en revue les points suivants: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Numpy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Scipy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Matplotlib-Seaborn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scikit-learn</a:t>
            </a:r>
            <a:endParaRPr sz="3000"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Module pandas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35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fr-FR" sz="3000"/>
              <a:t>Utilisation des modules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31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2010-01-18T03:31:48Z</dcterms:created>
  <dc:creator>HafedB</dc:creator>
</cp:coreProperties>
</file>