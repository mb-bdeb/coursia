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Corbel"/>
      <p:regular r:id="rId16"/>
      <p:bold r:id="rId17"/>
      <p:italic r:id="rId18"/>
      <p:boldItalic r:id="rId19"/>
    </p:embeddedFont>
    <p:embeddedFont>
      <p:font typeface="Quattrocen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4" roundtripDataSignature="AMtx7mjX0nzpNjnS6xHOc7ObJUz2GIDC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11" Type="http://schemas.openxmlformats.org/officeDocument/2006/relationships/slide" Target="slides/slide6.xml"/><Relationship Id="rId22" Type="http://schemas.openxmlformats.org/officeDocument/2006/relationships/font" Target="fonts/QuattrocentoSans-italic.fntdata"/><Relationship Id="rId10" Type="http://schemas.openxmlformats.org/officeDocument/2006/relationships/slide" Target="slides/slide5.xml"/><Relationship Id="rId21" Type="http://schemas.openxmlformats.org/officeDocument/2006/relationships/font" Target="fonts/Quattrocento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orbel-bold.fntdata"/><Relationship Id="rId16" Type="http://schemas.openxmlformats.org/officeDocument/2006/relationships/font" Target="fonts/Corbel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orbel-boldItalic.fntdata"/><Relationship Id="rId6" Type="http://schemas.openxmlformats.org/officeDocument/2006/relationships/slide" Target="slides/slide1.xml"/><Relationship Id="rId18" Type="http://schemas.openxmlformats.org/officeDocument/2006/relationships/font" Target="fonts/Corbel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70C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descr="Résultats de recherche d'images pour « java logo »" id="16" name="Google Shape;16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7" name="Google Shape;17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8" name="Google Shape;18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9" name="Google Shape;19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7937"/>
            <a:ext cx="91440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0070C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–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1" y="6496050"/>
            <a:ext cx="9144000" cy="363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"/>
          <p:cNvSpPr/>
          <p:nvPr/>
        </p:nvSpPr>
        <p:spPr>
          <a:xfrm>
            <a:off x="1" y="6524626"/>
            <a:ext cx="530225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CA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481013" y="6464302"/>
            <a:ext cx="8662987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ckwel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07/04/2021         Ecosysteme ML 420-A57-BB</a:t>
            </a:r>
            <a:r>
              <a:rPr b="1" i="0" lang="fr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–   Hafed Benteftifa </a:t>
            </a:r>
            <a:r>
              <a:rPr b="1" i="0" lang="fr-CA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©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docker.com/engine/reference/builder/#from" TargetMode="External"/><Relationship Id="rId4" Type="http://schemas.openxmlformats.org/officeDocument/2006/relationships/hyperlink" Target="https://docs.docker.com/engine/reference/builder/#copy" TargetMode="External"/><Relationship Id="rId5" Type="http://schemas.openxmlformats.org/officeDocument/2006/relationships/hyperlink" Target="https://docs.docker.com/engine/reference/builder/#workdir" TargetMode="External"/><Relationship Id="rId6" Type="http://schemas.openxmlformats.org/officeDocument/2006/relationships/hyperlink" Target="https://docs.docker.com/engine/reference/builder/#run" TargetMode="External"/><Relationship Id="rId7" Type="http://schemas.openxmlformats.org/officeDocument/2006/relationships/hyperlink" Target="https://docs.docker.com/engine/reference/builder/#expose" TargetMode="External"/><Relationship Id="rId8" Type="http://schemas.openxmlformats.org/officeDocument/2006/relationships/hyperlink" Target="https://docs.docker.com/engine/reference/builder/#entrypoin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taniarascia.com/continuous-integration-pipeline-docker/" TargetMode="External"/><Relationship Id="rId4" Type="http://schemas.openxmlformats.org/officeDocument/2006/relationships/hyperlink" Target="https://www.bmc.com/blogs/machine-learning-containers/" TargetMode="External"/><Relationship Id="rId5" Type="http://schemas.openxmlformats.org/officeDocument/2006/relationships/hyperlink" Target="https://winderresearch.com/a-simple-docker-based-workflow-for-deploying-a-machine-learning-model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 </a:t>
            </a:r>
            <a:br>
              <a:rPr lang="fr-CA"/>
            </a:br>
            <a:r>
              <a:rPr lang="fr-CA"/>
              <a:t>Conteneurs</a:t>
            </a:r>
            <a:br>
              <a:rPr lang="fr-CA"/>
            </a:br>
            <a:r>
              <a:rPr lang="fr-CA"/>
              <a:t>Docker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rgbClr val="666666"/>
                </a:solidFill>
              </a:rPr>
              <a:t>Agenda</a:t>
            </a:r>
            <a:endParaRPr/>
          </a:p>
        </p:txBody>
      </p:sp>
      <p:sp>
        <p:nvSpPr>
          <p:cNvPr id="34" name="Google Shape;34;p2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/>
              <a:t>Dans cette présentation, on passe en revue les points suivants: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Terminologie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Commandes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Terminologie</a:t>
            </a:r>
            <a:endParaRPr/>
          </a:p>
        </p:txBody>
      </p:sp>
      <p:sp>
        <p:nvSpPr>
          <p:cNvPr id="40" name="Google Shape;40;p3"/>
          <p:cNvSpPr txBox="1"/>
          <p:nvPr>
            <p:ph idx="1" type="body"/>
          </p:nvPr>
        </p:nvSpPr>
        <p:spPr>
          <a:xfrm>
            <a:off x="152400" y="893711"/>
            <a:ext cx="8524056" cy="4839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Char char="•"/>
            </a:pPr>
            <a:r>
              <a:rPr lang="fr-CA" sz="2400"/>
              <a:t> Images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 sz="2000"/>
              <a:t>Une image est un plan qui contient les instructions pour créer un conteneur.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 sz="2000"/>
              <a:t>C'est un instantané immuable du système de fichiers et de la configuration d'une application.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 sz="2000"/>
              <a:t>Les images peuvent être facilement partagées entre les développeurs.</a:t>
            </a:r>
            <a:endParaRPr sz="1600"/>
          </a:p>
          <a:p>
            <a:pPr indent="-2413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Terminologie | suite</a:t>
            </a:r>
            <a:endParaRPr/>
          </a:p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Conteneurs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Un conteneur est un package exécutable qui contient tout le nécessaire pour exécuter une application.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Il fonctionnera toujours de la même manière, quelle que soit l'infrastructure, dans un environnement sandbox.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C'est une instance en cours d'exécution d'une image.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Terminologie | suite</a:t>
            </a:r>
            <a:endParaRPr/>
          </a:p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tags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Un tag est une référence à une version d'image spécifique.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Terminologie | suite</a:t>
            </a:r>
            <a:endParaRPr/>
          </a:p>
        </p:txBody>
      </p:sp>
      <p:sp>
        <p:nvSpPr>
          <p:cNvPr id="58" name="Google Shape;58;p6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/>
              <a:t>Dockerfile</a:t>
            </a:r>
            <a:endParaRPr b="1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Pour utiliser un conteneur, on doit donner des instructions à Docker via un fichier appelé Dockerfile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Celui-ci se trouve à la racine du projet.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On utilise des commandes spécifiques à Dockerfile.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Dockerfile | commandes</a:t>
            </a:r>
            <a:endParaRPr/>
          </a:p>
        </p:txBody>
      </p:sp>
      <p:sp>
        <p:nvSpPr>
          <p:cNvPr id="64" name="Google Shape;64;p7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 u="sng">
                <a:solidFill>
                  <a:schemeClr val="hlink"/>
                </a:solidFill>
                <a:hlinkClick r:id="rId3"/>
              </a:rPr>
              <a:t>FROM</a:t>
            </a:r>
            <a:r>
              <a:rPr lang="fr-CA"/>
              <a:t> - Start the Dockerfile and pull from a base image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 u="sng">
                <a:solidFill>
                  <a:schemeClr val="hlink"/>
                </a:solidFill>
                <a:hlinkClick r:id="rId4"/>
              </a:rPr>
              <a:t>COPY</a:t>
            </a:r>
            <a:r>
              <a:rPr lang="fr-CA"/>
              <a:t> - Copy files from local source to container target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 u="sng">
                <a:solidFill>
                  <a:schemeClr val="hlink"/>
                </a:solidFill>
                <a:hlinkClick r:id="rId5"/>
              </a:rPr>
              <a:t>WORKDIR</a:t>
            </a:r>
            <a:r>
              <a:rPr lang="fr-CA"/>
              <a:t> - Set working directory for subsequent commands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 u="sng">
                <a:solidFill>
                  <a:schemeClr val="hlink"/>
                </a:solidFill>
                <a:hlinkClick r:id="rId6"/>
              </a:rPr>
              <a:t>RUN</a:t>
            </a:r>
            <a:r>
              <a:rPr lang="fr-CA"/>
              <a:t> - Run commands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 u="sng">
                <a:solidFill>
                  <a:schemeClr val="hlink"/>
                </a:solidFill>
                <a:hlinkClick r:id="rId7"/>
              </a:rPr>
              <a:t>EXPOSE</a:t>
            </a:r>
            <a:r>
              <a:rPr lang="fr-CA"/>
              <a:t> - Set a port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 u="sng">
                <a:solidFill>
                  <a:schemeClr val="hlink"/>
                </a:solidFill>
                <a:hlinkClick r:id="rId8"/>
              </a:rPr>
              <a:t>ENTRYPOINT</a:t>
            </a:r>
            <a:r>
              <a:rPr lang="fr-CA"/>
              <a:t> - Set executable command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Commandes Docker</a:t>
            </a:r>
            <a:endParaRPr/>
          </a:p>
        </p:txBody>
      </p:sp>
      <p:sp>
        <p:nvSpPr>
          <p:cNvPr id="70" name="Google Shape;70;p8"/>
          <p:cNvSpPr txBox="1"/>
          <p:nvPr>
            <p:ph idx="1" type="body"/>
          </p:nvPr>
        </p:nvSpPr>
        <p:spPr>
          <a:xfrm>
            <a:off x="457200" y="1187450"/>
            <a:ext cx="8147248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En ligne de commande, on peut utiliser les commandes suivantes:</a:t>
            </a:r>
            <a:endParaRPr/>
          </a:p>
        </p:txBody>
      </p:sp>
      <p:pic>
        <p:nvPicPr>
          <p:cNvPr id="71" name="Google Shape;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2101677"/>
            <a:ext cx="6192688" cy="4024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Références</a:t>
            </a:r>
            <a:endParaRPr/>
          </a:p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 u="sng">
                <a:solidFill>
                  <a:schemeClr val="hlink"/>
                </a:solidFill>
                <a:hlinkClick r:id="rId3"/>
              </a:rPr>
              <a:t>https://www.taniarascia.com/continuous-integration-pipeline-docker/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 u="sng">
                <a:solidFill>
                  <a:schemeClr val="hlink"/>
                </a:solidFill>
                <a:hlinkClick r:id="rId4"/>
              </a:rPr>
              <a:t>https://www.bmc.com/blogs/machine-learning-containers/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 u="sng">
                <a:solidFill>
                  <a:schemeClr val="hlink"/>
                </a:solidFill>
                <a:hlinkClick r:id="rId5"/>
              </a:rPr>
              <a:t>https://winderresearch.com/a-simple-docker-based-workflow-for-deploying-a-machine-learning-model/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rgbClr val="666666"/>
                </a:solidFill>
              </a:rPr>
              <a:t>Conclusion</a:t>
            </a:r>
            <a:endParaRPr/>
          </a:p>
        </p:txBody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/>
              <a:t>On a passé en revue dans ce cours les points suivants: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Terminologie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Commandes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d8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2009-08-09T23:13:18Z</dcterms:created>
  <dc:creator>HafedB</dc:creator>
</cp:coreProperties>
</file>