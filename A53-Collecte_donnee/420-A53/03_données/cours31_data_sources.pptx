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6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6858000" cx="9144000"/>
  <p:notesSz cx="6858000" cy="9144000"/>
  <p:embeddedFontLst>
    <p:embeddedFont>
      <p:font typeface="Quattrocento Sans"/>
      <p:regular r:id="rId15"/>
      <p:bold r:id="rId16"/>
      <p:italic r:id="rId17"/>
      <p:boldItalic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  <p:ext uri="GoogleSlidesCustomDataVersion2">
      <go:slidesCustomData xmlns:go="http://customooxmlschemas.google.com/" r:id="rId19" roundtripDataSignature="AMtx7mhcBUOjuKSiGfAnAW/bsXNS+KdqW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notes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QuattrocentoSans-regular.fntdata"/><Relationship Id="rId14" Type="http://schemas.openxmlformats.org/officeDocument/2006/relationships/slide" Target="slides/slide9.xml"/><Relationship Id="rId17" Type="http://schemas.openxmlformats.org/officeDocument/2006/relationships/font" Target="fonts/QuattrocentoSans-italic.fntdata"/><Relationship Id="rId16" Type="http://schemas.openxmlformats.org/officeDocument/2006/relationships/font" Target="fonts/QuattrocentoSans-bold.fntdata"/><Relationship Id="rId5" Type="http://schemas.openxmlformats.org/officeDocument/2006/relationships/notesMaster" Target="notesMasters/notesMaster1.xml"/><Relationship Id="rId19" Type="http://customschemas.google.com/relationships/presentationmetadata" Target="metadata"/><Relationship Id="rId6" Type="http://schemas.openxmlformats.org/officeDocument/2006/relationships/slide" Target="slides/slide1.xml"/><Relationship Id="rId18" Type="http://schemas.openxmlformats.org/officeDocument/2006/relationships/font" Target="fonts/QuattrocentoSans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/>
        </p:nvSpPr>
        <p:spPr>
          <a:xfrm>
            <a:off x="0" y="0"/>
            <a:ext cx="6858000" cy="9144000"/>
          </a:xfrm>
          <a:prstGeom prst="roundRect">
            <a:avLst>
              <a:gd fmla="val 23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Google Shape;4;n"/>
          <p:cNvSpPr/>
          <p:nvPr/>
        </p:nvSpPr>
        <p:spPr>
          <a:xfrm>
            <a:off x="0" y="0"/>
            <a:ext cx="6858000" cy="9144000"/>
          </a:xfrm>
          <a:prstGeom prst="roundRect">
            <a:avLst>
              <a:gd fmla="val 23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Google Shape;5;n"/>
          <p:cNvSpPr txBox="1"/>
          <p:nvPr>
            <p:ph idx="2" type="hdr"/>
          </p:nvPr>
        </p:nvSpPr>
        <p:spPr>
          <a:xfrm>
            <a:off x="0" y="0"/>
            <a:ext cx="2968625" cy="454025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" name="Google Shape;6;n"/>
          <p:cNvSpPr txBox="1"/>
          <p:nvPr>
            <p:ph idx="10" type="dt"/>
          </p:nvPr>
        </p:nvSpPr>
        <p:spPr>
          <a:xfrm>
            <a:off x="3884613" y="0"/>
            <a:ext cx="2968625" cy="454025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/>
          <p:nvPr>
            <p:ph idx="3" type="sldImg"/>
          </p:nvPr>
        </p:nvSpPr>
        <p:spPr>
          <a:xfrm>
            <a:off x="1143000" y="685800"/>
            <a:ext cx="4568825" cy="34258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8" name="Google Shape;8;n"/>
          <p:cNvSpPr txBox="1"/>
          <p:nvPr>
            <p:ph idx="1" type="body"/>
          </p:nvPr>
        </p:nvSpPr>
        <p:spPr>
          <a:xfrm>
            <a:off x="685800" y="4343400"/>
            <a:ext cx="5483225" cy="4111625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indent="-228600" lvl="0" marL="4572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228600" lvl="1" marL="9144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228600" lvl="2" marL="13716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228600" lvl="3" marL="18288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228600" lvl="4" marL="22860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n"/>
          <p:cNvSpPr txBox="1"/>
          <p:nvPr>
            <p:ph idx="11" type="ftr"/>
          </p:nvPr>
        </p:nvSpPr>
        <p:spPr>
          <a:xfrm>
            <a:off x="0" y="8685213"/>
            <a:ext cx="2968625" cy="454025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n"/>
          <p:cNvSpPr txBox="1"/>
          <p:nvPr>
            <p:ph idx="12" type="sldNum"/>
          </p:nvPr>
        </p:nvSpPr>
        <p:spPr>
          <a:xfrm>
            <a:off x="3884613" y="8685213"/>
            <a:ext cx="2968625" cy="454025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:notes"/>
          <p:cNvSpPr txBox="1"/>
          <p:nvPr>
            <p:ph idx="12" type="sldNum"/>
          </p:nvPr>
        </p:nvSpPr>
        <p:spPr>
          <a:xfrm>
            <a:off x="3884613" y="8685213"/>
            <a:ext cx="2968625" cy="454025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" name="Google Shape;33;p1:notes"/>
          <p:cNvSpPr txBox="1"/>
          <p:nvPr/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34;p1:notes"/>
          <p:cNvSpPr txBox="1"/>
          <p:nvPr>
            <p:ph idx="1" type="body"/>
          </p:nvPr>
        </p:nvSpPr>
        <p:spPr>
          <a:xfrm>
            <a:off x="685800" y="4343400"/>
            <a:ext cx="5484813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1:notes"/>
          <p:cNvSpPr/>
          <p:nvPr>
            <p:ph idx="2" type="sldImg"/>
          </p:nvPr>
        </p:nvSpPr>
        <p:spPr>
          <a:xfrm>
            <a:off x="1143000" y="685800"/>
            <a:ext cx="4568825" cy="34258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2:notes"/>
          <p:cNvSpPr txBox="1"/>
          <p:nvPr>
            <p:ph idx="12" type="sldNum"/>
          </p:nvPr>
        </p:nvSpPr>
        <p:spPr>
          <a:xfrm>
            <a:off x="3884613" y="8685213"/>
            <a:ext cx="2968625" cy="454025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2:notes"/>
          <p:cNvSpPr txBox="1"/>
          <p:nvPr/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p2:notes"/>
          <p:cNvSpPr txBox="1"/>
          <p:nvPr>
            <p:ph idx="1" type="body"/>
          </p:nvPr>
        </p:nvSpPr>
        <p:spPr>
          <a:xfrm>
            <a:off x="685800" y="4343400"/>
            <a:ext cx="5484813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2:notes"/>
          <p:cNvSpPr/>
          <p:nvPr>
            <p:ph idx="2" type="sldImg"/>
          </p:nvPr>
        </p:nvSpPr>
        <p:spPr>
          <a:xfrm>
            <a:off x="1143000" y="685800"/>
            <a:ext cx="4568825" cy="34258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3:notes"/>
          <p:cNvSpPr txBox="1"/>
          <p:nvPr>
            <p:ph idx="1" type="body"/>
          </p:nvPr>
        </p:nvSpPr>
        <p:spPr>
          <a:xfrm>
            <a:off x="685800" y="4343400"/>
            <a:ext cx="5483225" cy="4111625"/>
          </a:xfrm>
          <a:prstGeom prst="rect">
            <a:avLst/>
          </a:prstGeom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3:notes"/>
          <p:cNvSpPr/>
          <p:nvPr>
            <p:ph idx="2" type="sldImg"/>
          </p:nvPr>
        </p:nvSpPr>
        <p:spPr>
          <a:xfrm>
            <a:off x="1143000" y="685800"/>
            <a:ext cx="4568825" cy="34258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4:notes"/>
          <p:cNvSpPr txBox="1"/>
          <p:nvPr>
            <p:ph idx="12" type="sldNum"/>
          </p:nvPr>
        </p:nvSpPr>
        <p:spPr>
          <a:xfrm>
            <a:off x="3884613" y="8685213"/>
            <a:ext cx="2968625" cy="454025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4:notes"/>
          <p:cNvSpPr txBox="1"/>
          <p:nvPr/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4:notes"/>
          <p:cNvSpPr txBox="1"/>
          <p:nvPr>
            <p:ph idx="1" type="body"/>
          </p:nvPr>
        </p:nvSpPr>
        <p:spPr>
          <a:xfrm>
            <a:off x="685800" y="4343400"/>
            <a:ext cx="5484813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4:notes"/>
          <p:cNvSpPr/>
          <p:nvPr>
            <p:ph idx="2" type="sldImg"/>
          </p:nvPr>
        </p:nvSpPr>
        <p:spPr>
          <a:xfrm>
            <a:off x="1143000" y="685800"/>
            <a:ext cx="4568825" cy="34258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5:notes"/>
          <p:cNvSpPr txBox="1"/>
          <p:nvPr>
            <p:ph idx="12" type="sldNum"/>
          </p:nvPr>
        </p:nvSpPr>
        <p:spPr>
          <a:xfrm>
            <a:off x="3884613" y="8685213"/>
            <a:ext cx="2968625" cy="454025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5:notes"/>
          <p:cNvSpPr txBox="1"/>
          <p:nvPr/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5:notes"/>
          <p:cNvSpPr txBox="1"/>
          <p:nvPr>
            <p:ph idx="1" type="body"/>
          </p:nvPr>
        </p:nvSpPr>
        <p:spPr>
          <a:xfrm>
            <a:off x="685800" y="4343400"/>
            <a:ext cx="5484813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5:notes"/>
          <p:cNvSpPr/>
          <p:nvPr>
            <p:ph idx="2" type="sldImg"/>
          </p:nvPr>
        </p:nvSpPr>
        <p:spPr>
          <a:xfrm>
            <a:off x="1143000" y="685800"/>
            <a:ext cx="4568825" cy="34258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6:notes"/>
          <p:cNvSpPr txBox="1"/>
          <p:nvPr>
            <p:ph idx="12" type="sldNum"/>
          </p:nvPr>
        </p:nvSpPr>
        <p:spPr>
          <a:xfrm>
            <a:off x="3884613" y="8685213"/>
            <a:ext cx="2968625" cy="454025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6:notes"/>
          <p:cNvSpPr txBox="1"/>
          <p:nvPr/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6:notes"/>
          <p:cNvSpPr txBox="1"/>
          <p:nvPr>
            <p:ph idx="1" type="body"/>
          </p:nvPr>
        </p:nvSpPr>
        <p:spPr>
          <a:xfrm>
            <a:off x="685800" y="4343400"/>
            <a:ext cx="5484813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6:notes"/>
          <p:cNvSpPr/>
          <p:nvPr>
            <p:ph idx="2" type="sldImg"/>
          </p:nvPr>
        </p:nvSpPr>
        <p:spPr>
          <a:xfrm>
            <a:off x="1143000" y="685800"/>
            <a:ext cx="4568825" cy="34258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7:notes"/>
          <p:cNvSpPr txBox="1"/>
          <p:nvPr>
            <p:ph idx="12" type="sldNum"/>
          </p:nvPr>
        </p:nvSpPr>
        <p:spPr>
          <a:xfrm>
            <a:off x="3884613" y="8685213"/>
            <a:ext cx="2968625" cy="454025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7:notes"/>
          <p:cNvSpPr txBox="1"/>
          <p:nvPr/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7:notes"/>
          <p:cNvSpPr txBox="1"/>
          <p:nvPr>
            <p:ph idx="1" type="body"/>
          </p:nvPr>
        </p:nvSpPr>
        <p:spPr>
          <a:xfrm>
            <a:off x="685800" y="4343400"/>
            <a:ext cx="5484813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7:notes"/>
          <p:cNvSpPr/>
          <p:nvPr>
            <p:ph idx="2" type="sldImg"/>
          </p:nvPr>
        </p:nvSpPr>
        <p:spPr>
          <a:xfrm>
            <a:off x="1143000" y="685800"/>
            <a:ext cx="4568825" cy="34258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8:notes"/>
          <p:cNvSpPr txBox="1"/>
          <p:nvPr>
            <p:ph idx="1" type="body"/>
          </p:nvPr>
        </p:nvSpPr>
        <p:spPr>
          <a:xfrm>
            <a:off x="685800" y="4343400"/>
            <a:ext cx="5483225" cy="4111625"/>
          </a:xfrm>
          <a:prstGeom prst="rect">
            <a:avLst/>
          </a:prstGeom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8:notes"/>
          <p:cNvSpPr/>
          <p:nvPr>
            <p:ph idx="2" type="sldImg"/>
          </p:nvPr>
        </p:nvSpPr>
        <p:spPr>
          <a:xfrm>
            <a:off x="1143000" y="685800"/>
            <a:ext cx="4568825" cy="34258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9:notes"/>
          <p:cNvSpPr txBox="1"/>
          <p:nvPr>
            <p:ph idx="12" type="sldNum"/>
          </p:nvPr>
        </p:nvSpPr>
        <p:spPr>
          <a:xfrm>
            <a:off x="3884613" y="8685213"/>
            <a:ext cx="2968625" cy="454025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9:notes"/>
          <p:cNvSpPr txBox="1"/>
          <p:nvPr/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9:notes"/>
          <p:cNvSpPr txBox="1"/>
          <p:nvPr>
            <p:ph idx="1" type="body"/>
          </p:nvPr>
        </p:nvSpPr>
        <p:spPr>
          <a:xfrm>
            <a:off x="685800" y="4343400"/>
            <a:ext cx="5484813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9:notes"/>
          <p:cNvSpPr/>
          <p:nvPr>
            <p:ph idx="2" type="sldImg"/>
          </p:nvPr>
        </p:nvSpPr>
        <p:spPr>
          <a:xfrm>
            <a:off x="1143000" y="685800"/>
            <a:ext cx="4568825" cy="34258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e de titr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1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FF0000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17" name="Google Shape;17;p11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Quattrocento Sans"/>
              <a:buNone/>
              <a:defRPr b="0" i="0" sz="32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lvl="1" marR="0" rtl="0" algn="ctr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  <a:defRPr b="0" i="0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ctr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et contenu" type="obj">
  <p:cSld name="OBJECT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12"/>
          <p:cNvSpPr txBox="1"/>
          <p:nvPr>
            <p:ph type="title"/>
          </p:nvPr>
        </p:nvSpPr>
        <p:spPr>
          <a:xfrm>
            <a:off x="130629" y="152400"/>
            <a:ext cx="8850085" cy="8490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000" u="none" cap="none" strike="noStrike">
                <a:solidFill>
                  <a:srgbClr val="FF0000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20" name="Google Shape;20;p12"/>
          <p:cNvSpPr txBox="1"/>
          <p:nvPr>
            <p:ph idx="1" type="body"/>
          </p:nvPr>
        </p:nvSpPr>
        <p:spPr>
          <a:xfrm>
            <a:off x="152400" y="1132114"/>
            <a:ext cx="8839200" cy="49940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Quattrocento Sans"/>
              <a:buChar char="•"/>
              <a:defRPr b="0" i="0" sz="2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-381000" lvl="1" marL="9144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⮚"/>
              <a:defRPr b="0" i="0" sz="24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-355600" lvl="2" marL="1371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Quattrocento Sans"/>
              <a:buChar char="•"/>
              <a:defRPr b="0" i="0" sz="20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Quattrocento Sans"/>
              <a:buChar char="–"/>
              <a:defRPr b="0" i="0" sz="20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Quattrocento Sans"/>
              <a:buChar char="•"/>
              <a:defRPr b="0" i="0" sz="20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de section" type="secHead">
  <p:cSld name="SECTION_HEADER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3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0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23" name="Google Shape;23;p13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228600" lvl="1" marL="9144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228600" lvl="2" marL="13716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b="0" i="0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228600" lvl="3" marL="1828800" marR="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228600" lvl="4" marL="2286000" marR="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228600" lvl="5" marL="2743200" marR="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228600" lvl="6" marL="3200400" marR="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228600" lvl="7" marL="3657600" marR="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228600" lvl="8" marL="4114800" marR="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ux contenus" type="twoObj">
  <p:cSld name="TWO_OBJECT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26" name="Google Shape;26;p14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•"/>
              <a:defRPr b="0" i="0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381000" lvl="1" marL="9144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–"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355600" lvl="2" marL="1371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342900" lvl="3" marL="18288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–"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342900" lvl="4" marL="22860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•"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342900" lvl="5" marL="27432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•"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342900" lvl="6" marL="32004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•"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342900" lvl="7" marL="36576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•"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342900" lvl="8" marL="41148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•"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27" name="Google Shape;27;p14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•"/>
              <a:defRPr b="0" i="0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381000" lvl="1" marL="9144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–"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355600" lvl="2" marL="1371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342900" lvl="3" marL="18288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–"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342900" lvl="4" marL="22860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•"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342900" lvl="5" marL="27432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•"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342900" lvl="6" marL="32004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•"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342900" lvl="7" marL="36576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•"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342900" lvl="8" marL="41148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•"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seul" type="titleOnly">
  <p:cSld name="TITLE_ONL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ide" type="blank">
  <p:cSld name="BLANK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0"/>
          <p:cNvSpPr/>
          <p:nvPr/>
        </p:nvSpPr>
        <p:spPr>
          <a:xfrm>
            <a:off x="0" y="6496050"/>
            <a:ext cx="9144000" cy="363538"/>
          </a:xfrm>
          <a:prstGeom prst="rect">
            <a:avLst/>
          </a:prstGeom>
          <a:solidFill>
            <a:srgbClr val="02298A"/>
          </a:solidFill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Google Shape;13;p10"/>
          <p:cNvSpPr/>
          <p:nvPr/>
        </p:nvSpPr>
        <p:spPr>
          <a:xfrm>
            <a:off x="0" y="6524625"/>
            <a:ext cx="1093589" cy="335989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14;p10"/>
          <p:cNvSpPr/>
          <p:nvPr/>
        </p:nvSpPr>
        <p:spPr>
          <a:xfrm>
            <a:off x="1093589" y="6464300"/>
            <a:ext cx="8662987" cy="582613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04/06/2020    </a:t>
            </a:r>
            <a:r>
              <a:rPr b="1" i="0" lang="en-US" sz="16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Collecte de données Hafed Benteftifa</a:t>
            </a:r>
            <a:endParaRPr/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600" u="none" cap="none" strike="noStrik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Collecte de données</a:t>
            </a:r>
            <a:endParaRPr/>
          </a:p>
        </p:txBody>
      </p:sp>
      <p:sp>
        <p:nvSpPr>
          <p:cNvPr id="38" name="Google Shape;38;p1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en-US"/>
              <a:t>Hafed Benteftifa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"/>
          <p:cNvSpPr txBox="1"/>
          <p:nvPr>
            <p:ph type="title"/>
          </p:nvPr>
        </p:nvSpPr>
        <p:spPr>
          <a:xfrm>
            <a:off x="130175" y="152400"/>
            <a:ext cx="8850313" cy="8493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Agenda</a:t>
            </a:r>
            <a:endParaRPr/>
          </a:p>
        </p:txBody>
      </p:sp>
      <p:sp>
        <p:nvSpPr>
          <p:cNvPr id="46" name="Google Shape;46;p2"/>
          <p:cNvSpPr txBox="1"/>
          <p:nvPr>
            <p:ph idx="1" type="body"/>
          </p:nvPr>
        </p:nvSpPr>
        <p:spPr>
          <a:xfrm>
            <a:off x="152400" y="1131888"/>
            <a:ext cx="8839200" cy="49942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800"/>
              <a:buFont typeface="Quattrocento Sans"/>
              <a:buChar char="•"/>
            </a:pPr>
            <a:r>
              <a:rPr lang="en-US"/>
              <a:t>Les objectifs de cette présentation sont les suivants:</a:t>
            </a:r>
            <a:br>
              <a:rPr lang="en-US"/>
            </a:b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⮚"/>
            </a:pPr>
            <a:r>
              <a:rPr lang="en-US"/>
              <a:t>Collecte de données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⮚"/>
            </a:pPr>
            <a:r>
              <a:rPr lang="en-US"/>
              <a:t>Source de données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3"/>
          <p:cNvSpPr txBox="1"/>
          <p:nvPr>
            <p:ph type="title"/>
          </p:nvPr>
        </p:nvSpPr>
        <p:spPr>
          <a:xfrm>
            <a:off x="130175" y="152400"/>
            <a:ext cx="8850313" cy="8493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Données idéales</a:t>
            </a:r>
            <a:endParaRPr/>
          </a:p>
        </p:txBody>
      </p:sp>
      <p:sp>
        <p:nvSpPr>
          <p:cNvPr id="52" name="Google Shape;52;p3"/>
          <p:cNvSpPr txBox="1"/>
          <p:nvPr>
            <p:ph idx="1" type="body"/>
          </p:nvPr>
        </p:nvSpPr>
        <p:spPr>
          <a:xfrm>
            <a:off x="152400" y="1131888"/>
            <a:ext cx="8839200" cy="2009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800"/>
              <a:buFont typeface="Quattrocento Sans"/>
              <a:buChar char="•"/>
            </a:pPr>
            <a:r>
              <a:rPr lang="en-US"/>
              <a:t>Format tabulaire comme sur excel</a:t>
            </a:r>
            <a:endParaRPr/>
          </a:p>
        </p:txBody>
      </p:sp>
      <p:pic>
        <p:nvPicPr>
          <p:cNvPr id="53" name="Google Shape;53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707904" y="4509120"/>
            <a:ext cx="3920530" cy="2042516"/>
          </a:xfrm>
          <a:prstGeom prst="rect">
            <a:avLst/>
          </a:prstGeom>
          <a:noFill/>
          <a:ln>
            <a:noFill/>
          </a:ln>
        </p:spPr>
      </p:pic>
      <p:pic>
        <p:nvPicPr>
          <p:cNvPr id="54" name="Google Shape;54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7544" y="1700808"/>
            <a:ext cx="7867650" cy="2543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4"/>
          <p:cNvSpPr txBox="1"/>
          <p:nvPr>
            <p:ph type="title"/>
          </p:nvPr>
        </p:nvSpPr>
        <p:spPr>
          <a:xfrm>
            <a:off x="130175" y="152400"/>
            <a:ext cx="8850313" cy="8493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Format de données réelles</a:t>
            </a:r>
            <a:br>
              <a:rPr lang="en-US"/>
            </a:br>
            <a:br>
              <a:rPr lang="en-US"/>
            </a:br>
            <a:endParaRPr/>
          </a:p>
        </p:txBody>
      </p:sp>
      <p:sp>
        <p:nvSpPr>
          <p:cNvPr id="62" name="Google Shape;62;p4"/>
          <p:cNvSpPr txBox="1"/>
          <p:nvPr>
            <p:ph idx="1" type="body"/>
          </p:nvPr>
        </p:nvSpPr>
        <p:spPr>
          <a:xfrm>
            <a:off x="152400" y="1131888"/>
            <a:ext cx="8839200" cy="20812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Quattrocento Sans"/>
              <a:buChar char="•"/>
            </a:pPr>
            <a:r>
              <a:rPr b="1" lang="en-US"/>
              <a:t>Étapes</a:t>
            </a:r>
            <a:endParaRPr b="1"/>
          </a:p>
          <a:p>
            <a:pPr indent="-28575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⮚"/>
            </a:pPr>
            <a:r>
              <a:rPr lang="en-US"/>
              <a:t>Collecter les données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⮚"/>
            </a:pPr>
            <a:r>
              <a:rPr lang="en-US"/>
              <a:t>Parsing ou extraction de données</a:t>
            </a:r>
            <a:endParaRPr/>
          </a:p>
          <a:p>
            <a:pPr indent="-16510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SzPts val="2800"/>
              <a:buFont typeface="Quattrocento Sans"/>
              <a:buNone/>
            </a:pPr>
            <a:r>
              <a:t/>
            </a:r>
            <a:endParaRPr b="1"/>
          </a:p>
          <a:p>
            <a:pPr indent="-34290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SzPts val="2800"/>
              <a:buFont typeface="Quattrocento Sans"/>
              <a:buNone/>
            </a:pPr>
            <a:r>
              <a:t/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SzPts val="2800"/>
              <a:buFont typeface="Quattrocento Sans"/>
              <a:buChar char="•"/>
            </a:pPr>
            <a:r>
              <a:rPr lang="en-US"/>
              <a:t>Fichiers qui contiennent des données intéressantes</a:t>
            </a:r>
            <a:endParaRPr sz="2200"/>
          </a:p>
          <a:p>
            <a:pPr indent="-28575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⮚"/>
            </a:pPr>
            <a:r>
              <a:rPr lang="en-US"/>
              <a:t>Fichiers  Texte 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⮚"/>
            </a:pPr>
            <a:r>
              <a:rPr lang="en-US"/>
              <a:t>Fichiers binaires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⮚"/>
            </a:pPr>
            <a:r>
              <a:rPr lang="en-US"/>
              <a:t>Fichier XML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⮚"/>
            </a:pPr>
            <a:r>
              <a:rPr lang="en-US"/>
              <a:t>Fichier JSON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⮚"/>
            </a:pPr>
            <a:r>
              <a:rPr lang="en-US"/>
              <a:t>Etc.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5"/>
          <p:cNvSpPr txBox="1"/>
          <p:nvPr>
            <p:ph type="title"/>
          </p:nvPr>
        </p:nvSpPr>
        <p:spPr>
          <a:xfrm>
            <a:off x="130175" y="152400"/>
            <a:ext cx="8850313" cy="8493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Fichier logs</a:t>
            </a:r>
            <a:endParaRPr/>
          </a:p>
        </p:txBody>
      </p:sp>
      <p:sp>
        <p:nvSpPr>
          <p:cNvPr id="70" name="Google Shape;70;p5"/>
          <p:cNvSpPr txBox="1"/>
          <p:nvPr>
            <p:ph idx="1" type="body"/>
          </p:nvPr>
        </p:nvSpPr>
        <p:spPr>
          <a:xfrm>
            <a:off x="152400" y="1131889"/>
            <a:ext cx="8839200" cy="8569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800"/>
              <a:buFont typeface="Quattrocento Sans"/>
              <a:buChar char="•"/>
            </a:pPr>
            <a:r>
              <a:rPr lang="en-US"/>
              <a:t>Lecture d'une ligne du fichier comme une chaine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800"/>
              <a:buFont typeface="Courier New"/>
              <a:buNone/>
            </a:pP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	 </a:t>
            </a:r>
            <a:endParaRPr sz="2200"/>
          </a:p>
          <a:p>
            <a:pPr indent="0" lvl="1" marL="457200" rtl="0" algn="l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</a:pPr>
            <a:r>
              <a:t/>
            </a:r>
            <a:endParaRPr sz="2600"/>
          </a:p>
          <a:p>
            <a:pPr indent="-165100" lvl="0" marL="342900" rtl="0" algn="l">
              <a:spcBef>
                <a:spcPts val="560"/>
              </a:spcBef>
              <a:spcAft>
                <a:spcPts val="0"/>
              </a:spcAft>
              <a:buSzPts val="2800"/>
              <a:buFont typeface="Quattrocento Sans"/>
              <a:buNone/>
            </a:pPr>
            <a:r>
              <a:t/>
            </a:r>
            <a:endParaRPr/>
          </a:p>
        </p:txBody>
      </p:sp>
      <p:pic>
        <p:nvPicPr>
          <p:cNvPr id="71" name="Google Shape;71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6281" y="2115678"/>
            <a:ext cx="7658100" cy="3819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6"/>
          <p:cNvSpPr txBox="1"/>
          <p:nvPr>
            <p:ph type="title"/>
          </p:nvPr>
        </p:nvSpPr>
        <p:spPr>
          <a:xfrm>
            <a:off x="130175" y="152400"/>
            <a:ext cx="8850313" cy="8493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Fichier JSON</a:t>
            </a:r>
            <a:endParaRPr/>
          </a:p>
        </p:txBody>
      </p:sp>
      <p:sp>
        <p:nvSpPr>
          <p:cNvPr id="79" name="Google Shape;79;p6"/>
          <p:cNvSpPr txBox="1"/>
          <p:nvPr>
            <p:ph idx="1" type="body"/>
          </p:nvPr>
        </p:nvSpPr>
        <p:spPr>
          <a:xfrm>
            <a:off x="152400" y="1132114"/>
            <a:ext cx="8839200" cy="49940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Quattrocento Sans"/>
              <a:buChar char="•"/>
            </a:pPr>
            <a:r>
              <a:rPr lang="en-US"/>
              <a:t>Structure</a:t>
            </a:r>
            <a:endParaRPr/>
          </a:p>
        </p:txBody>
      </p:sp>
      <p:pic>
        <p:nvPicPr>
          <p:cNvPr id="80" name="Google Shape;80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19312" y="1786050"/>
            <a:ext cx="5775603" cy="43401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7"/>
          <p:cNvSpPr txBox="1"/>
          <p:nvPr>
            <p:ph type="title"/>
          </p:nvPr>
        </p:nvSpPr>
        <p:spPr>
          <a:xfrm>
            <a:off x="130175" y="152400"/>
            <a:ext cx="8850313" cy="8493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Fichier XML </a:t>
            </a:r>
            <a:br>
              <a:rPr lang="en-US"/>
            </a:br>
            <a:endParaRPr/>
          </a:p>
        </p:txBody>
      </p:sp>
      <p:sp>
        <p:nvSpPr>
          <p:cNvPr id="88" name="Google Shape;88;p7"/>
          <p:cNvSpPr txBox="1"/>
          <p:nvPr>
            <p:ph idx="1" type="body"/>
          </p:nvPr>
        </p:nvSpPr>
        <p:spPr>
          <a:xfrm>
            <a:off x="152400" y="1131888"/>
            <a:ext cx="8839200" cy="37369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34950" lvl="1" marL="7429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</a:pPr>
            <a:r>
              <a:t/>
            </a:r>
            <a:endParaRPr sz="800"/>
          </a:p>
          <a:p>
            <a:pPr indent="-34290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SzPts val="2800"/>
              <a:buFont typeface="Quattrocento Sans"/>
              <a:buChar char="•"/>
            </a:pPr>
            <a:r>
              <a:rPr lang="en-US"/>
              <a:t>Balises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SzPts val="2800"/>
              <a:buFont typeface="Quattrocento Sans"/>
              <a:buChar char="•"/>
            </a:pPr>
            <a:r>
              <a:rPr lang="en-US"/>
              <a:t>DOM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SzPts val="2800"/>
              <a:buFont typeface="Quattrocento Sans"/>
              <a:buChar char="•"/>
            </a:pPr>
            <a:r>
              <a:rPr lang="en-US"/>
              <a:t>Parcours </a:t>
            </a:r>
            <a:endParaRPr sz="2200"/>
          </a:p>
          <a:p>
            <a:pPr indent="-342900" lvl="0" marL="342900" rtl="0" algn="l">
              <a:spcBef>
                <a:spcPts val="440"/>
              </a:spcBef>
              <a:spcAft>
                <a:spcPts val="0"/>
              </a:spcAft>
              <a:buSzPts val="2200"/>
              <a:buFont typeface="Quattrocento Sans"/>
              <a:buNone/>
            </a:pPr>
            <a:r>
              <a:t/>
            </a:r>
            <a:endParaRPr sz="2200"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SzPts val="2400"/>
              <a:buFont typeface="Quattrocento Sans"/>
              <a:buNone/>
            </a:pPr>
            <a:r>
              <a:t/>
            </a:r>
            <a:endParaRPr sz="2400"/>
          </a:p>
        </p:txBody>
      </p:sp>
      <p:pic>
        <p:nvPicPr>
          <p:cNvPr id="89" name="Google Shape;89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83768" y="1001713"/>
            <a:ext cx="6286500" cy="4724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8"/>
          <p:cNvSpPr txBox="1"/>
          <p:nvPr>
            <p:ph type="title"/>
          </p:nvPr>
        </p:nvSpPr>
        <p:spPr>
          <a:xfrm>
            <a:off x="130175" y="152400"/>
            <a:ext cx="8850313" cy="8493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Où se trouve le data?</a:t>
            </a:r>
            <a:endParaRPr/>
          </a:p>
        </p:txBody>
      </p:sp>
      <p:sp>
        <p:nvSpPr>
          <p:cNvPr id="95" name="Google Shape;95;p8"/>
          <p:cNvSpPr txBox="1"/>
          <p:nvPr>
            <p:ph idx="1" type="body"/>
          </p:nvPr>
        </p:nvSpPr>
        <p:spPr>
          <a:xfrm>
            <a:off x="152400" y="1131888"/>
            <a:ext cx="8839200" cy="49942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800"/>
              <a:buFont typeface="Quattrocento Sans"/>
              <a:buChar char="•"/>
            </a:pPr>
            <a:r>
              <a:rPr lang="en-US"/>
              <a:t>Base de données relationnelles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800"/>
              <a:buFont typeface="Quattrocento Sans"/>
              <a:buChar char="•"/>
            </a:pPr>
            <a:r>
              <a:rPr lang="en-US"/>
              <a:t>Base de données non relationnelles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800"/>
              <a:buFont typeface="Quattrocento Sans"/>
              <a:buChar char="•"/>
            </a:pPr>
            <a:r>
              <a:rPr lang="en-US"/>
              <a:t>Fichiers locaux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800"/>
              <a:buFont typeface="Quattrocento Sans"/>
              <a:buChar char="•"/>
            </a:pPr>
            <a:r>
              <a:rPr lang="en-US"/>
              <a:t>Fichiers sur serveurs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800"/>
              <a:buFont typeface="Quattrocento Sans"/>
              <a:buChar char="•"/>
            </a:pPr>
            <a:r>
              <a:rPr lang="en-US"/>
              <a:t>Streams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800"/>
              <a:buFont typeface="Quattrocento Sans"/>
              <a:buChar char="•"/>
            </a:pPr>
            <a:r>
              <a:rPr lang="en-US"/>
              <a:t>Scraping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800"/>
              <a:buFont typeface="Quattrocento Sans"/>
              <a:buChar char="•"/>
            </a:pPr>
            <a:r>
              <a:rPr lang="en-US"/>
              <a:t>Etc…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9"/>
          <p:cNvSpPr txBox="1"/>
          <p:nvPr>
            <p:ph type="title"/>
          </p:nvPr>
        </p:nvSpPr>
        <p:spPr>
          <a:xfrm>
            <a:off x="130175" y="152400"/>
            <a:ext cx="8850313" cy="8493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Conclusion</a:t>
            </a:r>
            <a:endParaRPr/>
          </a:p>
        </p:txBody>
      </p:sp>
      <p:sp>
        <p:nvSpPr>
          <p:cNvPr id="103" name="Google Shape;103;p9"/>
          <p:cNvSpPr txBox="1"/>
          <p:nvPr>
            <p:ph idx="1" type="body"/>
          </p:nvPr>
        </p:nvSpPr>
        <p:spPr>
          <a:xfrm>
            <a:off x="152400" y="1131888"/>
            <a:ext cx="8839200" cy="49942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800"/>
              <a:buFont typeface="Quattrocento Sans"/>
              <a:buChar char="•"/>
            </a:pPr>
            <a:r>
              <a:rPr lang="en-US"/>
              <a:t>Dans cette présentation, on a vu les points suivants:</a:t>
            </a:r>
            <a:br>
              <a:rPr lang="en-US"/>
            </a:b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⮚"/>
            </a:pPr>
            <a:r>
              <a:rPr lang="en-US"/>
              <a:t>Collecte de données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⮚"/>
            </a:pPr>
            <a:r>
              <a:rPr lang="en-US"/>
              <a:t>Source de données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python_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HafedB</dc:creator>
</cp:coreProperties>
</file>